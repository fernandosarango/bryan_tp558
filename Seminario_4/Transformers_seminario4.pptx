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07" r:id="rId20"/>
    <p:sldId id="274" r:id="rId21"/>
    <p:sldId id="275" r:id="rId22"/>
    <p:sldId id="276" r:id="rId23"/>
    <p:sldId id="279" r:id="rId24"/>
    <p:sldId id="306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26E3552-0729-44C1-B64F-114364EE6A08}">
          <p14:sldIdLst>
            <p14:sldId id="256"/>
            <p14:sldId id="257"/>
            <p14:sldId id="258"/>
          </p14:sldIdLst>
        </p14:section>
        <p14:section name="Introdução do artigo" id="{6964C8C2-FD5F-422A-AB75-5F8CA4976790}">
          <p14:sldIdLst>
            <p14:sldId id="259"/>
          </p14:sldIdLst>
        </p14:section>
        <p14:section name="Fundamentação" id="{17FB3270-07EE-4D45-B624-8C3C0FBB6849}">
          <p14:sldIdLst>
            <p14:sldId id="260"/>
          </p14:sldIdLst>
        </p14:section>
        <p14:section name="Metodologia" id="{A7AA6F7D-EB97-429D-B763-6F8A783DF833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sultados" id="{E7A43C5F-9AE8-4BC9-90C8-AA6A6C1C444C}">
          <p14:sldIdLst>
            <p14:sldId id="272"/>
            <p14:sldId id="273"/>
            <p14:sldId id="307"/>
          </p14:sldIdLst>
        </p14:section>
        <p14:section name="Análise crítica" id="{A9C64519-EE6E-4695-BA39-70780BB3C1D0}">
          <p14:sldIdLst>
            <p14:sldId id="274"/>
          </p14:sldIdLst>
        </p14:section>
        <p14:section name="Conclusão" id="{EEF73739-4077-4DB0-A93B-A2976F07B7EB}">
          <p14:sldIdLst>
            <p14:sldId id="275"/>
            <p14:sldId id="276"/>
            <p14:sldId id="279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09" autoAdjust="0"/>
  </p:normalViewPr>
  <p:slideViewPr>
    <p:cSldViewPr snapToGrid="0">
      <p:cViewPr>
        <p:scale>
          <a:sx n="75" d="100"/>
          <a:sy n="75" d="100"/>
        </p:scale>
        <p:origin x="516" y="-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Fernando Sarango Rodriguez" userId="b88c460d-539d-4987-a9c8-d95e779f98d2" providerId="ADAL" clId="{6280675F-CEE6-488A-8C65-3BCCF36C896F}"/>
    <pc:docChg chg="custSel addSld delSld modSld modSection">
      <pc:chgData name="Bryan Fernando Sarango Rodriguez" userId="b88c460d-539d-4987-a9c8-d95e779f98d2" providerId="ADAL" clId="{6280675F-CEE6-488A-8C65-3BCCF36C896F}" dt="2026-10-08T20:46:33.187" v="1681" actId="2696"/>
      <pc:docMkLst>
        <pc:docMk/>
      </pc:docMkLst>
      <pc:sldChg chg="addSp delSp modSp add mod">
        <pc:chgData name="Bryan Fernando Sarango Rodriguez" userId="b88c460d-539d-4987-a9c8-d95e779f98d2" providerId="ADAL" clId="{6280675F-CEE6-488A-8C65-3BCCF36C896F}" dt="2026-10-08T20:46:26.941" v="1680" actId="1076"/>
        <pc:sldMkLst>
          <pc:docMk/>
          <pc:sldMk cId="3675900234" sldId="256"/>
        </pc:sldMkLst>
        <pc:spChg chg="mod">
          <ac:chgData name="Bryan Fernando Sarango Rodriguez" userId="b88c460d-539d-4987-a9c8-d95e779f98d2" providerId="ADAL" clId="{6280675F-CEE6-488A-8C65-3BCCF36C896F}" dt="2026-10-08T20:45:49.894" v="1672" actId="1076"/>
          <ac:spMkLst>
            <pc:docMk/>
            <pc:sldMk cId="3675900234" sldId="256"/>
            <ac:spMk id="2" creationId="{32666AC8-2E17-4DB4-B0F5-60C640CCFD2E}"/>
          </ac:spMkLst>
        </pc:spChg>
        <pc:spChg chg="del">
          <ac:chgData name="Bryan Fernando Sarango Rodriguez" userId="b88c460d-539d-4987-a9c8-d95e779f98d2" providerId="ADAL" clId="{6280675F-CEE6-488A-8C65-3BCCF36C896F}" dt="2026-10-08T20:46:09.746" v="1675" actId="478"/>
          <ac:spMkLst>
            <pc:docMk/>
            <pc:sldMk cId="3675900234" sldId="256"/>
            <ac:spMk id="4" creationId="{430EB894-B7D4-434C-9D1A-A14094D9BEEC}"/>
          </ac:spMkLst>
        </pc:spChg>
        <pc:spChg chg="add mod">
          <ac:chgData name="Bryan Fernando Sarango Rodriguez" userId="b88c460d-539d-4987-a9c8-d95e779f98d2" providerId="ADAL" clId="{6280675F-CEE6-488A-8C65-3BCCF36C896F}" dt="2026-10-08T20:45:47.696" v="1671" actId="1076"/>
          <ac:spMkLst>
            <pc:docMk/>
            <pc:sldMk cId="3675900234" sldId="256"/>
            <ac:spMk id="6" creationId="{29209150-E8AF-4C2F-8AE7-E76BF53B225D}"/>
          </ac:spMkLst>
        </pc:spChg>
        <pc:spChg chg="add mod">
          <ac:chgData name="Bryan Fernando Sarango Rodriguez" userId="b88c460d-539d-4987-a9c8-d95e779f98d2" providerId="ADAL" clId="{6280675F-CEE6-488A-8C65-3BCCF36C896F}" dt="2026-10-08T20:46:26.941" v="1680" actId="1076"/>
          <ac:spMkLst>
            <pc:docMk/>
            <pc:sldMk cId="3675900234" sldId="256"/>
            <ac:spMk id="7" creationId="{DF919424-386B-4EF5-A61E-C552B3BA05FF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3.775" v="1"/>
        <pc:sldMkLst>
          <pc:docMk/>
          <pc:sldMk cId="824968601" sldId="257"/>
        </pc:sldMkLst>
        <pc:spChg chg="del">
          <ac:chgData name="Bryan Fernando Sarango Rodriguez" userId="b88c460d-539d-4987-a9c8-d95e779f98d2" providerId="ADAL" clId="{6280675F-CEE6-488A-8C65-3BCCF36C896F}" dt="2026-10-08T20:14:43.775" v="1"/>
          <ac:spMkLst>
            <pc:docMk/>
            <pc:sldMk cId="824968601" sldId="257"/>
            <ac:spMk id="23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3.824" v="3"/>
        <pc:sldMkLst>
          <pc:docMk/>
          <pc:sldMk cId="3275065657" sldId="258"/>
        </pc:sldMkLst>
        <pc:spChg chg="del">
          <ac:chgData name="Bryan Fernando Sarango Rodriguez" userId="b88c460d-539d-4987-a9c8-d95e779f98d2" providerId="ADAL" clId="{6280675F-CEE6-488A-8C65-3BCCF36C896F}" dt="2026-10-08T20:14:43.824" v="3"/>
          <ac:spMkLst>
            <pc:docMk/>
            <pc:sldMk cId="3275065657" sldId="258"/>
            <ac:spMk id="21" creationId="{00000000-0000-0000-0000-000000000000}"/>
          </ac:spMkLst>
        </pc:spChg>
      </pc:sldChg>
      <pc:sldChg chg="delSp modSp mod">
        <pc:chgData name="Bryan Fernando Sarango Rodriguez" userId="b88c460d-539d-4987-a9c8-d95e779f98d2" providerId="ADAL" clId="{6280675F-CEE6-488A-8C65-3BCCF36C896F}" dt="2026-10-08T20:29:05.351" v="270" actId="6549"/>
        <pc:sldMkLst>
          <pc:docMk/>
          <pc:sldMk cId="3455572199" sldId="259"/>
        </pc:sldMkLst>
        <pc:spChg chg="mod">
          <ac:chgData name="Bryan Fernando Sarango Rodriguez" userId="b88c460d-539d-4987-a9c8-d95e779f98d2" providerId="ADAL" clId="{6280675F-CEE6-488A-8C65-3BCCF36C896F}" dt="2026-10-08T20:29:05.351" v="270" actId="6549"/>
          <ac:spMkLst>
            <pc:docMk/>
            <pc:sldMk cId="3455572199" sldId="259"/>
            <ac:spMk id="20" creationId="{635708C3-BBCA-453B-8E42-E2C9F6F28EB9}"/>
          </ac:spMkLst>
        </pc:spChg>
        <pc:spChg chg="del">
          <ac:chgData name="Bryan Fernando Sarango Rodriguez" userId="b88c460d-539d-4987-a9c8-d95e779f98d2" providerId="ADAL" clId="{6280675F-CEE6-488A-8C65-3BCCF36C896F}" dt="2026-10-08T20:14:43.864" v="5"/>
          <ac:spMkLst>
            <pc:docMk/>
            <pc:sldMk cId="3455572199" sldId="259"/>
            <ac:spMk id="23" creationId="{00000000-0000-0000-0000-000000000000}"/>
          </ac:spMkLst>
        </pc:spChg>
      </pc:sldChg>
      <pc:sldChg chg="delSp mod modNotesTx">
        <pc:chgData name="Bryan Fernando Sarango Rodriguez" userId="b88c460d-539d-4987-a9c8-d95e779f98d2" providerId="ADAL" clId="{6280675F-CEE6-488A-8C65-3BCCF36C896F}" dt="2026-10-08T20:23:37.281" v="233" actId="20577"/>
        <pc:sldMkLst>
          <pc:docMk/>
          <pc:sldMk cId="4279132415" sldId="260"/>
        </pc:sldMkLst>
        <pc:spChg chg="del">
          <ac:chgData name="Bryan Fernando Sarango Rodriguez" userId="b88c460d-539d-4987-a9c8-d95e779f98d2" providerId="ADAL" clId="{6280675F-CEE6-488A-8C65-3BCCF36C896F}" dt="2026-10-08T20:14:43.908" v="7"/>
          <ac:spMkLst>
            <pc:docMk/>
            <pc:sldMk cId="4279132415" sldId="260"/>
            <ac:spMk id="31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3.964" v="9"/>
        <pc:sldMkLst>
          <pc:docMk/>
          <pc:sldMk cId="797693316" sldId="261"/>
        </pc:sldMkLst>
        <pc:spChg chg="del">
          <ac:chgData name="Bryan Fernando Sarango Rodriguez" userId="b88c460d-539d-4987-a9c8-d95e779f98d2" providerId="ADAL" clId="{6280675F-CEE6-488A-8C65-3BCCF36C896F}" dt="2026-10-08T20:14:43.964" v="9"/>
          <ac:spMkLst>
            <pc:docMk/>
            <pc:sldMk cId="797693316" sldId="261"/>
            <ac:spMk id="91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138" v="11"/>
        <pc:sldMkLst>
          <pc:docMk/>
          <pc:sldMk cId="2165204778" sldId="262"/>
        </pc:sldMkLst>
        <pc:spChg chg="del">
          <ac:chgData name="Bryan Fernando Sarango Rodriguez" userId="b88c460d-539d-4987-a9c8-d95e779f98d2" providerId="ADAL" clId="{6280675F-CEE6-488A-8C65-3BCCF36C896F}" dt="2026-10-08T20:14:44.138" v="11"/>
          <ac:spMkLst>
            <pc:docMk/>
            <pc:sldMk cId="2165204778" sldId="262"/>
            <ac:spMk id="43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208" v="13"/>
        <pc:sldMkLst>
          <pc:docMk/>
          <pc:sldMk cId="1945337612" sldId="263"/>
        </pc:sldMkLst>
        <pc:spChg chg="del">
          <ac:chgData name="Bryan Fernando Sarango Rodriguez" userId="b88c460d-539d-4987-a9c8-d95e779f98d2" providerId="ADAL" clId="{6280675F-CEE6-488A-8C65-3BCCF36C896F}" dt="2026-10-08T20:14:44.208" v="13"/>
          <ac:spMkLst>
            <pc:docMk/>
            <pc:sldMk cId="1945337612" sldId="263"/>
            <ac:spMk id="18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239" v="15"/>
        <pc:sldMkLst>
          <pc:docMk/>
          <pc:sldMk cId="198246356" sldId="264"/>
        </pc:sldMkLst>
        <pc:spChg chg="del">
          <ac:chgData name="Bryan Fernando Sarango Rodriguez" userId="b88c460d-539d-4987-a9c8-d95e779f98d2" providerId="ADAL" clId="{6280675F-CEE6-488A-8C65-3BCCF36C896F}" dt="2026-10-08T20:14:44.239" v="15"/>
          <ac:spMkLst>
            <pc:docMk/>
            <pc:sldMk cId="198246356" sldId="264"/>
            <ac:spMk id="25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280" v="17"/>
        <pc:sldMkLst>
          <pc:docMk/>
          <pc:sldMk cId="1144935808" sldId="265"/>
        </pc:sldMkLst>
        <pc:spChg chg="del">
          <ac:chgData name="Bryan Fernando Sarango Rodriguez" userId="b88c460d-539d-4987-a9c8-d95e779f98d2" providerId="ADAL" clId="{6280675F-CEE6-488A-8C65-3BCCF36C896F}" dt="2026-10-08T20:14:44.280" v="17"/>
          <ac:spMkLst>
            <pc:docMk/>
            <pc:sldMk cId="1144935808" sldId="265"/>
            <ac:spMk id="33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319" v="19"/>
        <pc:sldMkLst>
          <pc:docMk/>
          <pc:sldMk cId="1241382989" sldId="266"/>
        </pc:sldMkLst>
        <pc:spChg chg="del">
          <ac:chgData name="Bryan Fernando Sarango Rodriguez" userId="b88c460d-539d-4987-a9c8-d95e779f98d2" providerId="ADAL" clId="{6280675F-CEE6-488A-8C65-3BCCF36C896F}" dt="2026-10-08T20:14:44.319" v="19"/>
          <ac:spMkLst>
            <pc:docMk/>
            <pc:sldMk cId="1241382989" sldId="266"/>
            <ac:spMk id="20" creationId="{00000000-0000-0000-0000-000000000000}"/>
          </ac:spMkLst>
        </pc:spChg>
      </pc:sldChg>
      <pc:sldChg chg="addSp delSp modSp mod modNotes">
        <pc:chgData name="Bryan Fernando Sarango Rodriguez" userId="b88c460d-539d-4987-a9c8-d95e779f98d2" providerId="ADAL" clId="{6280675F-CEE6-488A-8C65-3BCCF36C896F}" dt="2026-10-08T20:14:45.920" v="208" actId="20577"/>
        <pc:sldMkLst>
          <pc:docMk/>
          <pc:sldMk cId="1510455798" sldId="267"/>
        </pc:sldMkLst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" creationId="{1DF9C96E-C16E-4869-B4E5-7259E4B347B3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5" creationId="{1CF93FAB-BCD6-4D5D-91FF-2D5141E148AD}"/>
          </ac:spMkLst>
        </pc:spChg>
        <pc:spChg chg="del">
          <ac:chgData name="Bryan Fernando Sarango Rodriguez" userId="b88c460d-539d-4987-a9c8-d95e779f98d2" providerId="ADAL" clId="{6280675F-CEE6-488A-8C65-3BCCF36C896F}" dt="2026-10-08T20:14:44.907" v="42"/>
          <ac:spMkLst>
            <pc:docMk/>
            <pc:sldMk cId="1510455798" sldId="267"/>
            <ac:spMk id="10" creationId="{F04F9F22-F60D-4994-854F-8C98B910C842}"/>
          </ac:spMkLst>
        </pc:spChg>
        <pc:spChg chg="del">
          <ac:chgData name="Bryan Fernando Sarango Rodriguez" userId="b88c460d-539d-4987-a9c8-d95e779f98d2" providerId="ADAL" clId="{6280675F-CEE6-488A-8C65-3BCCF36C896F}" dt="2026-10-08T20:14:44.912" v="43"/>
          <ac:spMkLst>
            <pc:docMk/>
            <pc:sldMk cId="1510455798" sldId="267"/>
            <ac:spMk id="11" creationId="{11C69D20-729E-4E1A-96DD-B28DD5F0F6C9}"/>
          </ac:spMkLst>
        </pc:spChg>
        <pc:spChg chg="del">
          <ac:chgData name="Bryan Fernando Sarango Rodriguez" userId="b88c460d-539d-4987-a9c8-d95e779f98d2" providerId="ADAL" clId="{6280675F-CEE6-488A-8C65-3BCCF36C896F}" dt="2026-10-08T20:14:44.917" v="44"/>
          <ac:spMkLst>
            <pc:docMk/>
            <pc:sldMk cId="1510455798" sldId="267"/>
            <ac:spMk id="12" creationId="{AB21437C-2318-4EB1-A475-0D15629C6DBD}"/>
          </ac:spMkLst>
        </pc:spChg>
        <pc:spChg chg="del">
          <ac:chgData name="Bryan Fernando Sarango Rodriguez" userId="b88c460d-539d-4987-a9c8-d95e779f98d2" providerId="ADAL" clId="{6280675F-CEE6-488A-8C65-3BCCF36C896F}" dt="2026-10-08T20:14:44.346" v="21"/>
          <ac:spMkLst>
            <pc:docMk/>
            <pc:sldMk cId="1510455798" sldId="267"/>
            <ac:spMk id="19" creationId="{00000000-0000-0000-0000-000000000000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0" creationId="{955B8413-6FB7-4389-8BDD-0D567881A640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2" creationId="{D1446F19-47AE-41B1-9E98-B056D23F61CA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3" creationId="{A21F11FD-0965-406B-A724-605811C1B881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5" creationId="{070C722B-59B0-4B27-8F90-67B670234539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27" creationId="{B41EDAA5-B5A5-4FD4-A80C-6BA227E4291E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31" creationId="{B8DDC15D-C30A-4F10-AE90-99E4BB04FBA4}"/>
          </ac:spMkLst>
        </pc:spChg>
        <pc:spChg chg="add mod">
          <ac:chgData name="Bryan Fernando Sarango Rodriguez" userId="b88c460d-539d-4987-a9c8-d95e779f98d2" providerId="ADAL" clId="{6280675F-CEE6-488A-8C65-3BCCF36C896F}" dt="2026-10-08T20:14:45.831" v="206"/>
          <ac:spMkLst>
            <pc:docMk/>
            <pc:sldMk cId="1510455798" sldId="267"/>
            <ac:spMk id="32" creationId="{A9ECB086-8E59-433B-B28E-0B5C184AD7C5}"/>
          </ac:spMkLst>
        </pc:spChg>
        <pc:grpChg chg="add mod">
          <ac:chgData name="Bryan Fernando Sarango Rodriguez" userId="b88c460d-539d-4987-a9c8-d95e779f98d2" providerId="ADAL" clId="{6280675F-CEE6-488A-8C65-3BCCF36C896F}" dt="2026-10-08T20:14:45.839" v="207"/>
          <ac:grpSpMkLst>
            <pc:docMk/>
            <pc:sldMk cId="1510455798" sldId="267"/>
            <ac:grpSpMk id="33" creationId="{7AE7CCD4-17C1-46C0-B545-E6C15D4AA245}"/>
          </ac:grpSpMkLst>
        </pc:grpChg>
        <pc:picChg chg="del">
          <ac:chgData name="Bryan Fernando Sarango Rodriguez" userId="b88c460d-539d-4987-a9c8-d95e779f98d2" providerId="ADAL" clId="{6280675F-CEE6-488A-8C65-3BCCF36C896F}" dt="2026-10-08T20:14:44.897" v="41"/>
          <ac:picMkLst>
            <pc:docMk/>
            <pc:sldMk cId="1510455798" sldId="267"/>
            <ac:picMk id="9" creationId="{BEDD56C7-DA97-4572-BEC4-B222E9689D1A}"/>
          </ac:picMkLst>
        </pc:pic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8" creationId="{314FAFC4-FC79-4D7A-8E49-C95FFA7C67D3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21" creationId="{23EA7FC7-0928-4A54-83AE-18F0A760FCCB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24" creationId="{CA6AF510-0F68-4C22-9423-E96092FEF7B9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26" creationId="{A8FB05A0-02BF-4504-932E-C3BCFF1D37BA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28" creationId="{91714A5E-4D28-44B2-A1C3-DF4BA35B6A2D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29" creationId="{B2D1AE4C-2040-4F59-8A92-475579DF2B09}"/>
          </ac:cxnSpMkLst>
        </pc:cxnChg>
        <pc:cxnChg chg="add mod">
          <ac:chgData name="Bryan Fernando Sarango Rodriguez" userId="b88c460d-539d-4987-a9c8-d95e779f98d2" providerId="ADAL" clId="{6280675F-CEE6-488A-8C65-3BCCF36C896F}" dt="2026-10-08T20:14:45.831" v="206"/>
          <ac:cxnSpMkLst>
            <pc:docMk/>
            <pc:sldMk cId="1510455798" sldId="267"/>
            <ac:cxnSpMk id="30" creationId="{F57665F6-044F-41EA-8EAB-CEA6A5843E80}"/>
          </ac:cxnSpMkLst>
        </pc:cxnChg>
      </pc:sldChg>
      <pc:sldChg chg="delSp mod modNotesTx">
        <pc:chgData name="Bryan Fernando Sarango Rodriguez" userId="b88c460d-539d-4987-a9c8-d95e779f98d2" providerId="ADAL" clId="{6280675F-CEE6-488A-8C65-3BCCF36C896F}" dt="2026-10-08T20:35:47.253" v="279" actId="20577"/>
        <pc:sldMkLst>
          <pc:docMk/>
          <pc:sldMk cId="594439938" sldId="268"/>
        </pc:sldMkLst>
        <pc:spChg chg="del">
          <ac:chgData name="Bryan Fernando Sarango Rodriguez" userId="b88c460d-539d-4987-a9c8-d95e779f98d2" providerId="ADAL" clId="{6280675F-CEE6-488A-8C65-3BCCF36C896F}" dt="2026-10-08T20:14:44.373" v="23"/>
          <ac:spMkLst>
            <pc:docMk/>
            <pc:sldMk cId="594439938" sldId="268"/>
            <ac:spMk id="38" creationId="{00000000-0000-0000-0000-000000000000}"/>
          </ac:spMkLst>
        </pc:spChg>
      </pc:sldChg>
      <pc:sldChg chg="delSp modSp mod modNotesTx">
        <pc:chgData name="Bryan Fernando Sarango Rodriguez" userId="b88c460d-539d-4987-a9c8-d95e779f98d2" providerId="ADAL" clId="{6280675F-CEE6-488A-8C65-3BCCF36C896F}" dt="2026-10-08T20:35:23.631" v="277" actId="20577"/>
        <pc:sldMkLst>
          <pc:docMk/>
          <pc:sldMk cId="235612190" sldId="269"/>
        </pc:sldMkLst>
        <pc:spChg chg="mod">
          <ac:chgData name="Bryan Fernando Sarango Rodriguez" userId="b88c460d-539d-4987-a9c8-d95e779f98d2" providerId="ADAL" clId="{6280675F-CEE6-488A-8C65-3BCCF36C896F}" dt="2026-10-08T20:34:52.063" v="276" actId="20577"/>
          <ac:spMkLst>
            <pc:docMk/>
            <pc:sldMk cId="235612190" sldId="269"/>
            <ac:spMk id="4" creationId="{D72A8119-655F-4BED-A2B0-987AA1EAC6B0}"/>
          </ac:spMkLst>
        </pc:spChg>
        <pc:spChg chg="del">
          <ac:chgData name="Bryan Fernando Sarango Rodriguez" userId="b88c460d-539d-4987-a9c8-d95e779f98d2" providerId="ADAL" clId="{6280675F-CEE6-488A-8C65-3BCCF36C896F}" dt="2026-10-08T20:14:44.437" v="25"/>
          <ac:spMkLst>
            <pc:docMk/>
            <pc:sldMk cId="235612190" sldId="269"/>
            <ac:spMk id="16" creationId="{00000000-0000-0000-0000-000000000000}"/>
          </ac:spMkLst>
        </pc:spChg>
      </pc:sldChg>
      <pc:sldChg chg="addSp delSp modSp mod modNotes">
        <pc:chgData name="Bryan Fernando Sarango Rodriguez" userId="b88c460d-539d-4987-a9c8-d95e779f98d2" providerId="ADAL" clId="{6280675F-CEE6-488A-8C65-3BCCF36C896F}" dt="2026-10-08T20:39:34.036" v="1665"/>
        <pc:sldMkLst>
          <pc:docMk/>
          <pc:sldMk cId="3904794128" sldId="270"/>
        </pc:sldMkLst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2" creationId="{F0A1C678-4974-4BD5-858F-3F1AE04E8FDC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" creationId="{6B643454-5CB2-4FB0-964A-5609016DCD9C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9" creationId="{AAADFF1E-6830-40B3-A8D3-2CFF22726073}"/>
          </ac:spMkLst>
        </pc:spChg>
        <pc:spChg chg="del">
          <ac:chgData name="Bryan Fernando Sarango Rodriguez" userId="b88c460d-539d-4987-a9c8-d95e779f98d2" providerId="ADAL" clId="{6280675F-CEE6-488A-8C65-3BCCF36C896F}" dt="2026-10-08T20:38:47.203" v="282"/>
          <ac:spMkLst>
            <pc:docMk/>
            <pc:sldMk cId="3904794128" sldId="270"/>
            <ac:spMk id="11" creationId="{6547EB92-FD1A-4CC8-AA2C-016478045E27}"/>
          </ac:spMkLst>
        </pc:spChg>
        <pc:spChg chg="del">
          <ac:chgData name="Bryan Fernando Sarango Rodriguez" userId="b88c460d-539d-4987-a9c8-d95e779f98d2" providerId="ADAL" clId="{6280675F-CEE6-488A-8C65-3BCCF36C896F}" dt="2026-10-08T20:38:47.217" v="283"/>
          <ac:spMkLst>
            <pc:docMk/>
            <pc:sldMk cId="3904794128" sldId="270"/>
            <ac:spMk id="12" creationId="{C8FB5FFD-CD52-406C-BF2F-07C2EF703C1C}"/>
          </ac:spMkLst>
        </pc:spChg>
        <pc:spChg chg="del">
          <ac:chgData name="Bryan Fernando Sarango Rodriguez" userId="b88c460d-539d-4987-a9c8-d95e779f98d2" providerId="ADAL" clId="{6280675F-CEE6-488A-8C65-3BCCF36C896F}" dt="2026-10-08T20:38:47.228" v="284"/>
          <ac:spMkLst>
            <pc:docMk/>
            <pc:sldMk cId="3904794128" sldId="270"/>
            <ac:spMk id="13" creationId="{11E1DA30-F6B7-4D27-8C88-113DBE99ADC7}"/>
          </ac:spMkLst>
        </pc:spChg>
        <pc:spChg chg="del">
          <ac:chgData name="Bryan Fernando Sarango Rodriguez" userId="b88c460d-539d-4987-a9c8-d95e779f98d2" providerId="ADAL" clId="{6280675F-CEE6-488A-8C65-3BCCF36C896F}" dt="2026-10-08T20:38:47.241" v="285"/>
          <ac:spMkLst>
            <pc:docMk/>
            <pc:sldMk cId="3904794128" sldId="270"/>
            <ac:spMk id="14" creationId="{92726C51-C814-492F-9FA8-A5F93218DAA0}"/>
          </ac:spMkLst>
        </pc:spChg>
        <pc:spChg chg="del">
          <ac:chgData name="Bryan Fernando Sarango Rodriguez" userId="b88c460d-539d-4987-a9c8-d95e779f98d2" providerId="ADAL" clId="{6280675F-CEE6-488A-8C65-3BCCF36C896F}" dt="2026-10-08T20:38:47.248" v="286"/>
          <ac:spMkLst>
            <pc:docMk/>
            <pc:sldMk cId="3904794128" sldId="270"/>
            <ac:spMk id="15" creationId="{20611430-3213-4A84-BC26-F374BCCA423F}"/>
          </ac:spMkLst>
        </pc:spChg>
        <pc:spChg chg="del">
          <ac:chgData name="Bryan Fernando Sarango Rodriguez" userId="b88c460d-539d-4987-a9c8-d95e779f98d2" providerId="ADAL" clId="{6280675F-CEE6-488A-8C65-3BCCF36C896F}" dt="2026-10-08T20:38:47.254" v="287"/>
          <ac:spMkLst>
            <pc:docMk/>
            <pc:sldMk cId="3904794128" sldId="270"/>
            <ac:spMk id="16" creationId="{92E9F3A1-6886-4472-83DC-15DC245ED7DE}"/>
          </ac:spMkLst>
        </pc:spChg>
        <pc:spChg chg="del">
          <ac:chgData name="Bryan Fernando Sarango Rodriguez" userId="b88c460d-539d-4987-a9c8-d95e779f98d2" providerId="ADAL" clId="{6280675F-CEE6-488A-8C65-3BCCF36C896F}" dt="2026-10-08T20:38:47.264" v="288"/>
          <ac:spMkLst>
            <pc:docMk/>
            <pc:sldMk cId="3904794128" sldId="270"/>
            <ac:spMk id="17" creationId="{B8719FBC-71E5-42CD-8EAD-A0DF3C32A742}"/>
          </ac:spMkLst>
        </pc:spChg>
        <pc:spChg chg="del">
          <ac:chgData name="Bryan Fernando Sarango Rodriguez" userId="b88c460d-539d-4987-a9c8-d95e779f98d2" providerId="ADAL" clId="{6280675F-CEE6-488A-8C65-3BCCF36C896F}" dt="2026-10-08T20:38:47.273" v="289"/>
          <ac:spMkLst>
            <pc:docMk/>
            <pc:sldMk cId="3904794128" sldId="270"/>
            <ac:spMk id="18" creationId="{2CEAECC4-FD32-4CF4-AEE6-EB959EB2FCCE}"/>
          </ac:spMkLst>
        </pc:spChg>
        <pc:spChg chg="mod">
          <ac:chgData name="Bryan Fernando Sarango Rodriguez" userId="b88c460d-539d-4987-a9c8-d95e779f98d2" providerId="ADAL" clId="{6280675F-CEE6-488A-8C65-3BCCF36C896F}" dt="2026-10-08T20:31:07.096" v="273" actId="20577"/>
          <ac:spMkLst>
            <pc:docMk/>
            <pc:sldMk cId="3904794128" sldId="270"/>
            <ac:spMk id="19" creationId="{F582391E-4AD7-4551-A3BC-2D0A67F8F814}"/>
          </ac:spMkLst>
        </pc:spChg>
        <pc:spChg chg="del">
          <ac:chgData name="Bryan Fernando Sarango Rodriguez" userId="b88c460d-539d-4987-a9c8-d95e779f98d2" providerId="ADAL" clId="{6280675F-CEE6-488A-8C65-3BCCF36C896F}" dt="2026-10-08T20:14:44.461" v="27"/>
          <ac:spMkLst>
            <pc:docMk/>
            <pc:sldMk cId="3904794128" sldId="270"/>
            <ac:spMk id="29" creationId="{00000000-0000-0000-0000-000000000000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29" creationId="{80AD28B2-E720-44AE-A67C-45387E1CF396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0" creationId="{CEAD9EC4-8DD3-4BF8-99AF-3263AA933A26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1" creationId="{C4E52BF3-1565-4055-9D4D-2CB58A94668E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2" creationId="{4FA91C6C-E70B-408E-B52C-7DB32D816929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3" creationId="{BA9DC053-7119-4A0B-B9B3-C093F6C3F59A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4" creationId="{B3EA77DB-103E-4329-834B-602B1EB6B752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6" creationId="{801C5492-F4BE-4F7D-96AD-41D74ECEF80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7" creationId="{4BB3B9F6-8759-4C17-B9D9-E0C29655AC2C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8" creationId="{CB931DB2-87F9-4419-A195-85421D228499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39" creationId="{05DE4ABF-1170-4CF8-A142-BFC403899A6A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0" creationId="{B1D2C87A-11D7-43F4-900A-343726B0C8F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1" creationId="{3C1CBCFC-55EC-4DF2-9A69-CAB6CD06AEF4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2" creationId="{85305F8A-BFC3-4D86-88D7-CF774E7C5BA0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3" creationId="{E02C7EF2-9811-4B97-A832-E6B0C5CC58A5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4" creationId="{58AAF244-5207-4901-AC21-F33648FDF365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5" creationId="{3AAE9962-2015-4998-9220-0519D2E4D6D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6" creationId="{DBC4BF0E-A634-4537-BF93-3C5A92A787E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7" creationId="{5208FABF-6007-4175-8F30-5A99AD5BB2C1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8" creationId="{F3BD8DC3-B57F-4850-B85A-870594F76137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49" creationId="{21EF47B7-62D0-4942-8DEE-96FFA777ADD0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0" creationId="{6295F73D-5751-494C-97AD-021DA78CABD4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1" creationId="{C4FC6A78-F6E3-4D8B-BF4B-31F3873EE83E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2" creationId="{DE90A10D-3EDC-4808-8F41-A2A965E73B32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3" creationId="{FF6BBF2E-5033-41ED-A7E3-AD9DCA0ECC91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4" creationId="{9B250301-67E3-4283-9CB0-5D9D113EB523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5" creationId="{C1F459B1-DC6F-4146-80AA-6662135A9F6B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6" creationId="{FCCED37E-F73E-493A-86E3-F3C11414A2A2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7" creationId="{305A5979-D1C4-4437-8BC1-B0445107C17A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8" creationId="{11B1AF34-558F-4CB8-81C2-BE181FCCF601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59" creationId="{EA83B05F-2D2E-460B-91AE-C61A4C287FC6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0" creationId="{5C0BBD5A-695C-4F7E-BE6D-B3283BFF26F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1" creationId="{C0657E27-C2AB-406C-8FDC-BD971920F72C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2" creationId="{6FA3295D-3F11-4E3A-9490-94E4B8B7EA18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3" creationId="{DBED254E-5C0C-41AA-A5DE-DDE8BCF6106D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4" creationId="{89FFF505-94CC-4E5F-8429-ECA7755F7CB7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5" creationId="{9C4D740B-04DE-46DB-B4D1-01B176746DB9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6" creationId="{35A09C3D-8724-4E2F-92E6-8BF7EF0F510C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7" creationId="{D7ADC5B0-CC0A-4235-91DC-712BFDF1411B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8" creationId="{23FC202A-103F-4B26-8257-37C4A07C9BCE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69" creationId="{18D33D8A-6D43-44F4-BA46-BF595C2B98F6}"/>
          </ac:spMkLst>
        </pc:spChg>
        <pc:spChg chg="add mod">
          <ac:chgData name="Bryan Fernando Sarango Rodriguez" userId="b88c460d-539d-4987-a9c8-d95e779f98d2" providerId="ADAL" clId="{6280675F-CEE6-488A-8C65-3BCCF36C896F}" dt="2026-10-08T20:38:52.851" v="925"/>
          <ac:spMkLst>
            <pc:docMk/>
            <pc:sldMk cId="3904794128" sldId="270"/>
            <ac:spMk id="70" creationId="{EC9B8564-D683-47BF-9701-7D0792D19C23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2" creationId="{F2577F3F-443E-4B8D-8A6D-7F9CB197C7A6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3" creationId="{CAEE7C61-98A8-487D-821A-4BB41712BA7E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4" creationId="{8F46871A-C12E-4692-AB39-09B143849E4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5" creationId="{7200095A-1720-4E02-AF8C-2AD936CF7B6B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6" creationId="{BD7B6C77-1101-46BE-9005-095CEE804B50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7" creationId="{D5D7CC83-473D-437E-97EB-C690D1CAA80E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8" creationId="{5C295694-7D46-4428-8B35-60EB92DE8855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79" creationId="{AF85ABEC-4914-4B6E-95AB-7665FE0DFCCB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0" creationId="{9E6C53CF-CFE6-4EC6-86EB-335EE9B92E06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2" creationId="{30CB8AB3-9BA4-4E14-8AE6-4A2D85C79E5C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3" creationId="{CA99C7E1-C09B-4F46-A1D8-521E1138049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4" creationId="{1B5F3B26-1649-4D32-8283-9222B3D898FB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5" creationId="{891933DD-2975-4307-BAFB-E32725903475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6" creationId="{BF9F4A24-54F0-4AF9-8B93-A9D3E79CA087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7" creationId="{3A94CCDA-1887-453B-A2FA-38596524BCB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8" creationId="{86061B99-F75B-4BD7-9493-4667E99CFDA5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89" creationId="{918E63E8-CAA4-4330-A9D5-620E23DCFED4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0" creationId="{67BCC112-0278-4210-81B9-1E24A02A1BB0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1" creationId="{271E237A-35F1-46C9-97EE-9A27B2B5CC83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2" creationId="{2BECC27F-D21E-4627-98CB-CC43B6096AAC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3" creationId="{2FBF72C4-8BF0-4B58-A774-EC2333855031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4" creationId="{8BE0A9FD-E6B1-4017-A9A4-6B6A8F8B4AA1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5" creationId="{F146BDAB-397D-4808-95A9-018024C59D48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6" creationId="{0261A347-666E-46BD-B5BC-2A787E79276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7" creationId="{C71CACD1-B181-4FC9-A142-8295D443DF3E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8" creationId="{CAE81E0F-B406-473A-9413-89DBA3302185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99" creationId="{04CCD9AE-70A1-4CB7-ACFE-D2E1A6314805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0" creationId="{A6D107F8-B1F5-4FC2-900A-1E07D39FE03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1" creationId="{91471E0D-D0CE-4981-BA3F-AE5657407D56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2" creationId="{CD55E8DB-F5F1-4443-8C88-6006E819472A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3" creationId="{8080C038-168C-43BE-BDB9-6AAFBFF21CC4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4" creationId="{B2D5DC30-6609-4BAA-9DA2-EEF8CDAAB1E9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5" creationId="{A216BA06-58F2-4D8C-9C20-365D0F914FB4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6" creationId="{49758F07-90A9-404C-82E7-E62CF271582F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7" creationId="{0683D62E-2617-4FB1-B728-907A53A576D3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8" creationId="{32F9988B-D9A8-4ED8-8216-8ECB96B4A837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09" creationId="{AA9EBD15-3774-4C97-BBB2-927A23CF6418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0" creationId="{1901C29A-D7F2-483C-8C7A-F7C997D46B0C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1" creationId="{61942E7A-5772-4F33-BD82-875EF5FAD463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2" creationId="{FC9CFA01-46E2-4385-959A-7DB4E867D3C3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3" creationId="{92E480B4-39DE-40BA-951B-A75A7D65519C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4" creationId="{C500BD7C-29DC-4463-B5B7-5A458A9DA39E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5" creationId="{237801F8-447D-4E8C-88E8-FC5B0DCBD929}"/>
          </ac:spMkLst>
        </pc:spChg>
        <pc:spChg chg="add mod">
          <ac:chgData name="Bryan Fernando Sarango Rodriguez" userId="b88c460d-539d-4987-a9c8-d95e779f98d2" providerId="ADAL" clId="{6280675F-CEE6-488A-8C65-3BCCF36C896F}" dt="2026-10-08T20:39:33.941" v="1664"/>
          <ac:spMkLst>
            <pc:docMk/>
            <pc:sldMk cId="3904794128" sldId="270"/>
            <ac:spMk id="116" creationId="{D077B5B4-DA6D-4629-B9B7-4C3FDB943CA3}"/>
          </ac:spMkLst>
        </pc:spChg>
        <pc:grpChg chg="add del mod">
          <ac:chgData name="Bryan Fernando Sarango Rodriguez" userId="b88c460d-539d-4987-a9c8-d95e779f98d2" providerId="ADAL" clId="{6280675F-CEE6-488A-8C65-3BCCF36C896F}" dt="2026-10-08T20:39:24.793" v="928"/>
          <ac:grpSpMkLst>
            <pc:docMk/>
            <pc:sldMk cId="3904794128" sldId="270"/>
            <ac:grpSpMk id="71" creationId="{3BB2D462-42CC-474E-9DB8-869B5B967AA0}"/>
          </ac:grpSpMkLst>
        </pc:grpChg>
        <pc:grpChg chg="add mod">
          <ac:chgData name="Bryan Fernando Sarango Rodriguez" userId="b88c460d-539d-4987-a9c8-d95e779f98d2" providerId="ADAL" clId="{6280675F-CEE6-488A-8C65-3BCCF36C896F}" dt="2026-10-08T20:39:34.036" v="1665"/>
          <ac:grpSpMkLst>
            <pc:docMk/>
            <pc:sldMk cId="3904794128" sldId="270"/>
            <ac:grpSpMk id="117" creationId="{A800D782-7B68-4B4A-A89B-F7A17D7B0C5A}"/>
          </ac:grpSpMkLst>
        </pc:grpChg>
        <pc:picChg chg="del">
          <ac:chgData name="Bryan Fernando Sarango Rodriguez" userId="b88c460d-539d-4987-a9c8-d95e779f98d2" providerId="ADAL" clId="{6280675F-CEE6-488A-8C65-3BCCF36C896F}" dt="2026-10-08T20:38:47.163" v="281"/>
          <ac:picMkLst>
            <pc:docMk/>
            <pc:sldMk cId="3904794128" sldId="270"/>
            <ac:picMk id="10" creationId="{9DF3EF66-F272-4E18-8977-5A7F1E0A78E4}"/>
          </ac:picMkLst>
        </pc:picChg>
        <pc:cxnChg chg="add mod">
          <ac:chgData name="Bryan Fernando Sarango Rodriguez" userId="b88c460d-539d-4987-a9c8-d95e779f98d2" providerId="ADAL" clId="{6280675F-CEE6-488A-8C65-3BCCF36C896F}" dt="2026-10-08T20:38:52.851" v="925"/>
          <ac:cxnSpMkLst>
            <pc:docMk/>
            <pc:sldMk cId="3904794128" sldId="270"/>
            <ac:cxnSpMk id="35" creationId="{60258801-C709-49CC-A1AF-09681E2BB0D0}"/>
          </ac:cxnSpMkLst>
        </pc:cxnChg>
        <pc:cxnChg chg="add mod">
          <ac:chgData name="Bryan Fernando Sarango Rodriguez" userId="b88c460d-539d-4987-a9c8-d95e779f98d2" providerId="ADAL" clId="{6280675F-CEE6-488A-8C65-3BCCF36C896F}" dt="2026-10-08T20:39:33.941" v="1664"/>
          <ac:cxnSpMkLst>
            <pc:docMk/>
            <pc:sldMk cId="3904794128" sldId="270"/>
            <ac:cxnSpMk id="81" creationId="{DF85A8DD-6CE6-4ED6-B2A9-F9AFB677F325}"/>
          </ac:cxnSpMkLst>
        </pc:cxnChg>
      </pc:sldChg>
      <pc:sldChg chg="delSp mod">
        <pc:chgData name="Bryan Fernando Sarango Rodriguez" userId="b88c460d-539d-4987-a9c8-d95e779f98d2" providerId="ADAL" clId="{6280675F-CEE6-488A-8C65-3BCCF36C896F}" dt="2026-10-08T20:14:44.607" v="29"/>
        <pc:sldMkLst>
          <pc:docMk/>
          <pc:sldMk cId="29934599" sldId="271"/>
        </pc:sldMkLst>
        <pc:spChg chg="del">
          <ac:chgData name="Bryan Fernando Sarango Rodriguez" userId="b88c460d-539d-4987-a9c8-d95e779f98d2" providerId="ADAL" clId="{6280675F-CEE6-488A-8C65-3BCCF36C896F}" dt="2026-10-08T20:14:44.607" v="29"/>
          <ac:spMkLst>
            <pc:docMk/>
            <pc:sldMk cId="29934599" sldId="271"/>
            <ac:spMk id="21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620" v="31"/>
        <pc:sldMkLst>
          <pc:docMk/>
          <pc:sldMk cId="4197111180" sldId="272"/>
        </pc:sldMkLst>
        <pc:spChg chg="del">
          <ac:chgData name="Bryan Fernando Sarango Rodriguez" userId="b88c460d-539d-4987-a9c8-d95e779f98d2" providerId="ADAL" clId="{6280675F-CEE6-488A-8C65-3BCCF36C896F}" dt="2026-10-08T20:14:44.620" v="31"/>
          <ac:spMkLst>
            <pc:docMk/>
            <pc:sldMk cId="4197111180" sldId="272"/>
            <ac:spMk id="17" creationId="{00000000-0000-0000-0000-000000000000}"/>
          </ac:spMkLst>
        </pc:spChg>
      </pc:sldChg>
      <pc:sldChg chg="modSp mod">
        <pc:chgData name="Bryan Fernando Sarango Rodriguez" userId="b88c460d-539d-4987-a9c8-d95e779f98d2" providerId="ADAL" clId="{6280675F-CEE6-488A-8C65-3BCCF36C896F}" dt="2026-10-08T20:34:08.042" v="275" actId="20577"/>
        <pc:sldMkLst>
          <pc:docMk/>
          <pc:sldMk cId="3740514937" sldId="273"/>
        </pc:sldMkLst>
        <pc:spChg chg="mod">
          <ac:chgData name="Bryan Fernando Sarango Rodriguez" userId="b88c460d-539d-4987-a9c8-d95e779f98d2" providerId="ADAL" clId="{6280675F-CEE6-488A-8C65-3BCCF36C896F}" dt="2026-10-08T20:25:41.960" v="262" actId="20577"/>
          <ac:spMkLst>
            <pc:docMk/>
            <pc:sldMk cId="3740514937" sldId="273"/>
            <ac:spMk id="3" creationId="{3569B03F-0F9A-4CCA-B10B-CBA97E614C46}"/>
          </ac:spMkLst>
        </pc:spChg>
        <pc:spChg chg="mod">
          <ac:chgData name="Bryan Fernando Sarango Rodriguez" userId="b88c460d-539d-4987-a9c8-d95e779f98d2" providerId="ADAL" clId="{6280675F-CEE6-488A-8C65-3BCCF36C896F}" dt="2026-10-08T20:34:08.042" v="275" actId="20577"/>
          <ac:spMkLst>
            <pc:docMk/>
            <pc:sldMk cId="3740514937" sldId="273"/>
            <ac:spMk id="18" creationId="{685E2A47-275A-415B-99B5-A357F926A88B}"/>
          </ac:spMkLst>
        </pc:spChg>
        <pc:graphicFrameChg chg="modGraphic">
          <ac:chgData name="Bryan Fernando Sarango Rodriguez" userId="b88c460d-539d-4987-a9c8-d95e779f98d2" providerId="ADAL" clId="{6280675F-CEE6-488A-8C65-3BCCF36C896F}" dt="2026-10-08T20:24:03.997" v="251" actId="20577"/>
          <ac:graphicFrameMkLst>
            <pc:docMk/>
            <pc:sldMk cId="3740514937" sldId="273"/>
            <ac:graphicFrameMk id="14" creationId="{E3575FD2-04B9-4F09-87BB-DFD7F960AD12}"/>
          </ac:graphicFrameMkLst>
        </pc:graphicFrameChg>
      </pc:sldChg>
      <pc:sldChg chg="delSp modSp mod">
        <pc:chgData name="Bryan Fernando Sarango Rodriguez" userId="b88c460d-539d-4987-a9c8-d95e779f98d2" providerId="ADAL" clId="{6280675F-CEE6-488A-8C65-3BCCF36C896F}" dt="2026-10-08T20:43:38.971" v="1667" actId="1076"/>
        <pc:sldMkLst>
          <pc:docMk/>
          <pc:sldMk cId="3795901454" sldId="274"/>
        </pc:sldMkLst>
        <pc:spChg chg="mod">
          <ac:chgData name="Bryan Fernando Sarango Rodriguez" userId="b88c460d-539d-4987-a9c8-d95e779f98d2" providerId="ADAL" clId="{6280675F-CEE6-488A-8C65-3BCCF36C896F}" dt="2026-10-08T20:43:38.971" v="1667" actId="1076"/>
          <ac:spMkLst>
            <pc:docMk/>
            <pc:sldMk cId="3795901454" sldId="274"/>
            <ac:spMk id="17" creationId="{B6C23CC1-BE5F-42CB-A323-84F62301C4E4}"/>
          </ac:spMkLst>
        </pc:spChg>
        <pc:spChg chg="mod">
          <ac:chgData name="Bryan Fernando Sarango Rodriguez" userId="b88c460d-539d-4987-a9c8-d95e779f98d2" providerId="ADAL" clId="{6280675F-CEE6-488A-8C65-3BCCF36C896F}" dt="2026-10-08T20:43:31.424" v="1666" actId="1076"/>
          <ac:spMkLst>
            <pc:docMk/>
            <pc:sldMk cId="3795901454" sldId="274"/>
            <ac:spMk id="18" creationId="{00A44026-DD5A-4003-9B2E-B50C2F93E933}"/>
          </ac:spMkLst>
        </pc:spChg>
        <pc:spChg chg="del">
          <ac:chgData name="Bryan Fernando Sarango Rodriguez" userId="b88c460d-539d-4987-a9c8-d95e779f98d2" providerId="ADAL" clId="{6280675F-CEE6-488A-8C65-3BCCF36C896F}" dt="2026-10-08T20:14:44.708" v="33"/>
          <ac:spMkLst>
            <pc:docMk/>
            <pc:sldMk cId="3795901454" sldId="274"/>
            <ac:spMk id="30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768" v="35"/>
        <pc:sldMkLst>
          <pc:docMk/>
          <pc:sldMk cId="2177343351" sldId="275"/>
        </pc:sldMkLst>
        <pc:spChg chg="del">
          <ac:chgData name="Bryan Fernando Sarango Rodriguez" userId="b88c460d-539d-4987-a9c8-d95e779f98d2" providerId="ADAL" clId="{6280675F-CEE6-488A-8C65-3BCCF36C896F}" dt="2026-10-08T20:14:44.768" v="35"/>
          <ac:spMkLst>
            <pc:docMk/>
            <pc:sldMk cId="2177343351" sldId="275"/>
            <ac:spMk id="30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827" v="37"/>
        <pc:sldMkLst>
          <pc:docMk/>
          <pc:sldMk cId="1545467578" sldId="276"/>
        </pc:sldMkLst>
        <pc:spChg chg="del">
          <ac:chgData name="Bryan Fernando Sarango Rodriguez" userId="b88c460d-539d-4987-a9c8-d95e779f98d2" providerId="ADAL" clId="{6280675F-CEE6-488A-8C65-3BCCF36C896F}" dt="2026-10-08T20:14:44.827" v="37"/>
          <ac:spMkLst>
            <pc:docMk/>
            <pc:sldMk cId="1545467578" sldId="276"/>
            <ac:spMk id="12" creationId="{00000000-0000-0000-0000-000000000000}"/>
          </ac:spMkLst>
        </pc:spChg>
      </pc:sldChg>
      <pc:sldChg chg="modSp del mod">
        <pc:chgData name="Bryan Fernando Sarango Rodriguez" userId="b88c460d-539d-4987-a9c8-d95e779f98d2" providerId="ADAL" clId="{6280675F-CEE6-488A-8C65-3BCCF36C896F}" dt="2026-10-08T20:46:33.187" v="1681" actId="2696"/>
        <pc:sldMkLst>
          <pc:docMk/>
          <pc:sldMk cId="686652667" sldId="277"/>
        </pc:sldMkLst>
        <pc:spChg chg="mod">
          <ac:chgData name="Bryan Fernando Sarango Rodriguez" userId="b88c460d-539d-4987-a9c8-d95e779f98d2" providerId="ADAL" clId="{6280675F-CEE6-488A-8C65-3BCCF36C896F}" dt="2026-10-08T20:46:03.109" v="1674"/>
          <ac:spMkLst>
            <pc:docMk/>
            <pc:sldMk cId="686652667" sldId="277"/>
            <ac:spMk id="5" creationId="{00000000-0000-0000-0000-000000000000}"/>
          </ac:spMkLst>
        </pc:spChg>
      </pc:sldChg>
      <pc:sldChg chg="delSp mod">
        <pc:chgData name="Bryan Fernando Sarango Rodriguez" userId="b88c460d-539d-4987-a9c8-d95e779f98d2" providerId="ADAL" clId="{6280675F-CEE6-488A-8C65-3BCCF36C896F}" dt="2026-10-08T20:14:44.854" v="39"/>
        <pc:sldMkLst>
          <pc:docMk/>
          <pc:sldMk cId="1118539507" sldId="279"/>
        </pc:sldMkLst>
        <pc:spChg chg="del">
          <ac:chgData name="Bryan Fernando Sarango Rodriguez" userId="b88c460d-539d-4987-a9c8-d95e779f98d2" providerId="ADAL" clId="{6280675F-CEE6-488A-8C65-3BCCF36C896F}" dt="2026-10-08T20:14:44.854" v="39"/>
          <ac:spMkLst>
            <pc:docMk/>
            <pc:sldMk cId="1118539507" sldId="279"/>
            <ac:spMk id="8" creationId="{00000000-0000-0000-0000-000000000000}"/>
          </ac:spMkLst>
        </pc:spChg>
      </pc:sldChg>
      <pc:sldChg chg="modSp mod">
        <pc:chgData name="Bryan Fernando Sarango Rodriguez" userId="b88c460d-539d-4987-a9c8-d95e779f98d2" providerId="ADAL" clId="{6280675F-CEE6-488A-8C65-3BCCF36C896F}" dt="2026-10-08T20:28:37.288" v="269"/>
        <pc:sldMkLst>
          <pc:docMk/>
          <pc:sldMk cId="3647377808" sldId="307"/>
        </pc:sldMkLst>
        <pc:spChg chg="mod">
          <ac:chgData name="Bryan Fernando Sarango Rodriguez" userId="b88c460d-539d-4987-a9c8-d95e779f98d2" providerId="ADAL" clId="{6280675F-CEE6-488A-8C65-3BCCF36C896F}" dt="2026-10-08T20:28:37.288" v="269"/>
          <ac:spMkLst>
            <pc:docMk/>
            <pc:sldMk cId="3647377808" sldId="307"/>
            <ac:spMk id="19" creationId="{0BFBCEF7-AAB7-494F-84BE-62CB1A421EF2}"/>
          </ac:spMkLst>
        </pc:spChg>
        <pc:spChg chg="mod">
          <ac:chgData name="Bryan Fernando Sarango Rodriguez" userId="b88c460d-539d-4987-a9c8-d95e779f98d2" providerId="ADAL" clId="{6280675F-CEE6-488A-8C65-3BCCF36C896F}" dt="2026-10-08T20:27:53.976" v="268" actId="6549"/>
          <ac:spMkLst>
            <pc:docMk/>
            <pc:sldMk cId="3647377808" sldId="307"/>
            <ac:spMk id="24" creationId="{EF451568-B7D7-4815-BABC-6A48EC088501}"/>
          </ac:spMkLst>
        </pc:spChg>
      </pc:sldChg>
    </pc:docChg>
  </pc:docChgLst>
  <pc:docChgLst>
    <pc:chgData name="Bryan Fernando Sarango Rodriguez" userId="b88c460d-539d-4987-a9c8-d95e779f98d2" providerId="ADAL" clId="{C551F070-859F-41AB-8B4B-56B90A97B9A7}"/>
    <pc:docChg chg="undo custSel modSld">
      <pc:chgData name="Bryan Fernando Sarango Rodriguez" userId="b88c460d-539d-4987-a9c8-d95e779f98d2" providerId="ADAL" clId="{C551F070-859F-41AB-8B4B-56B90A97B9A7}" dt="2026-10-08T20:07:32.234" v="141"/>
      <pc:docMkLst>
        <pc:docMk/>
      </pc:docMkLst>
      <pc:sldChg chg="delSp modSp mod">
        <pc:chgData name="Bryan Fernando Sarango Rodriguez" userId="b88c460d-539d-4987-a9c8-d95e779f98d2" providerId="ADAL" clId="{C551F070-859F-41AB-8B4B-56B90A97B9A7}" dt="2026-10-08T19:08:19.100" v="1"/>
        <pc:sldMkLst>
          <pc:docMk/>
          <pc:sldMk cId="2165204778" sldId="262"/>
        </pc:sldMkLst>
        <pc:spChg chg="del">
          <ac:chgData name="Bryan Fernando Sarango Rodriguez" userId="b88c460d-539d-4987-a9c8-d95e779f98d2" providerId="ADAL" clId="{C551F070-859F-41AB-8B4B-56B90A97B9A7}" dt="2026-10-08T19:06:50.453" v="0" actId="478"/>
          <ac:spMkLst>
            <pc:docMk/>
            <pc:sldMk cId="2165204778" sldId="262"/>
            <ac:spMk id="2" creationId="{1277EA12-9F27-4B56-AAAA-C2BACD239EAA}"/>
          </ac:spMkLst>
        </pc:spChg>
        <pc:spChg chg="mod">
          <ac:chgData name="Bryan Fernando Sarango Rodriguez" userId="b88c460d-539d-4987-a9c8-d95e779f98d2" providerId="ADAL" clId="{C551F070-859F-41AB-8B4B-56B90A97B9A7}" dt="2026-10-08T19:08:19.100" v="1"/>
          <ac:spMkLst>
            <pc:docMk/>
            <pc:sldMk cId="2165204778" sldId="262"/>
            <ac:spMk id="8" creationId="{4B1BB07B-572E-454D-8AB3-2A31A10749EA}"/>
          </ac:spMkLst>
        </pc:spChg>
      </pc:sldChg>
      <pc:sldChg chg="modSp mod">
        <pc:chgData name="Bryan Fernando Sarango Rodriguez" userId="b88c460d-539d-4987-a9c8-d95e779f98d2" providerId="ADAL" clId="{C551F070-859F-41AB-8B4B-56B90A97B9A7}" dt="2026-10-08T19:14:59.353" v="20" actId="6549"/>
        <pc:sldMkLst>
          <pc:docMk/>
          <pc:sldMk cId="1945337612" sldId="263"/>
        </pc:sldMkLst>
        <pc:spChg chg="mod">
          <ac:chgData name="Bryan Fernando Sarango Rodriguez" userId="b88c460d-539d-4987-a9c8-d95e779f98d2" providerId="ADAL" clId="{C551F070-859F-41AB-8B4B-56B90A97B9A7}" dt="2026-10-08T19:14:59.353" v="20" actId="6549"/>
          <ac:spMkLst>
            <pc:docMk/>
            <pc:sldMk cId="1945337612" sldId="263"/>
            <ac:spMk id="16" creationId="{53217445-4714-42B1-9730-7BCB27B38B14}"/>
          </ac:spMkLst>
        </pc:spChg>
        <pc:spChg chg="mod">
          <ac:chgData name="Bryan Fernando Sarango Rodriguez" userId="b88c460d-539d-4987-a9c8-d95e779f98d2" providerId="ADAL" clId="{C551F070-859F-41AB-8B4B-56B90A97B9A7}" dt="2026-10-08T19:13:11.811" v="4" actId="1076"/>
          <ac:spMkLst>
            <pc:docMk/>
            <pc:sldMk cId="1945337612" sldId="263"/>
            <ac:spMk id="17" creationId="{C08C8734-C3B9-4913-9600-9047BDA592FD}"/>
          </ac:spMkLst>
        </pc:spChg>
      </pc:sldChg>
      <pc:sldChg chg="modSp mod">
        <pc:chgData name="Bryan Fernando Sarango Rodriguez" userId="b88c460d-539d-4987-a9c8-d95e779f98d2" providerId="ADAL" clId="{C551F070-859F-41AB-8B4B-56B90A97B9A7}" dt="2026-10-08T19:18:33.593" v="33" actId="20577"/>
        <pc:sldMkLst>
          <pc:docMk/>
          <pc:sldMk cId="198246356" sldId="264"/>
        </pc:sldMkLst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7" creationId="{C28A5197-4C52-46B8-ADB5-D8FCC9B8DF24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8" creationId="{AAC322AA-1712-4441-9770-0625C463E96D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9" creationId="{AB54E796-9148-4D50-8E39-29F5D7319CF0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0" creationId="{B9111969-41F2-43FB-B78C-37C32E6A0854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1" creationId="{761C5377-B3BC-4D02-BE3D-AE77A6ABF791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2" creationId="{FBCBE78B-776A-4622-BE33-3CE9AB92E80D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3" creationId="{3BC3E320-EFDB-48DD-84F5-5556B50B67A2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4" creationId="{A3441FC0-0171-4F13-B45C-FE05FB2BCAE0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5" creationId="{C24850A0-6E96-4EC1-A5BA-3939387A0D66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6" creationId="{F950F543-E86B-44CF-A7E9-72763FC0B6CC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7" creationId="{9D226BB2-359E-4EC6-8CC7-CC0C585A3792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8" creationId="{409925BB-4B2D-4027-95AD-76CB6F69F293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19" creationId="{95BD31F6-C5D9-48B0-9DD9-45D54350F243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20" creationId="{CCEC00EB-C925-4656-A677-DC1B2878C890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21" creationId="{385DB340-CB08-4E7C-89AF-FAED8266A206}"/>
          </ac:spMkLst>
        </pc:spChg>
        <pc:spChg chg="mod">
          <ac:chgData name="Bryan Fernando Sarango Rodriguez" userId="b88c460d-539d-4987-a9c8-d95e779f98d2" providerId="ADAL" clId="{C551F070-859F-41AB-8B4B-56B90A97B9A7}" dt="2026-10-08T19:17:17.595" v="26" actId="1076"/>
          <ac:spMkLst>
            <pc:docMk/>
            <pc:sldMk cId="198246356" sldId="264"/>
            <ac:spMk id="22" creationId="{FA1FA926-E6B7-44D1-B455-411035DFB5BF}"/>
          </ac:spMkLst>
        </pc:spChg>
        <pc:spChg chg="mod">
          <ac:chgData name="Bryan Fernando Sarango Rodriguez" userId="b88c460d-539d-4987-a9c8-d95e779f98d2" providerId="ADAL" clId="{C551F070-859F-41AB-8B4B-56B90A97B9A7}" dt="2026-10-08T19:18:33.593" v="33" actId="20577"/>
          <ac:spMkLst>
            <pc:docMk/>
            <pc:sldMk cId="198246356" sldId="264"/>
            <ac:spMk id="24" creationId="{802FD581-155A-4507-8C40-BC133CDFB5F9}"/>
          </ac:spMkLst>
        </pc:spChg>
        <pc:picChg chg="mod">
          <ac:chgData name="Bryan Fernando Sarango Rodriguez" userId="b88c460d-539d-4987-a9c8-d95e779f98d2" providerId="ADAL" clId="{C551F070-859F-41AB-8B4B-56B90A97B9A7}" dt="2026-10-08T19:17:26.445" v="27" actId="1076"/>
          <ac:picMkLst>
            <pc:docMk/>
            <pc:sldMk cId="198246356" sldId="264"/>
            <ac:picMk id="6" creationId="{3571F30A-DB0A-48CB-BB6E-68A5E0A2E208}"/>
          </ac:picMkLst>
        </pc:picChg>
      </pc:sldChg>
      <pc:sldChg chg="modNotesTx">
        <pc:chgData name="Bryan Fernando Sarango Rodriguez" userId="b88c460d-539d-4987-a9c8-d95e779f98d2" providerId="ADAL" clId="{C551F070-859F-41AB-8B4B-56B90A97B9A7}" dt="2026-10-08T20:04:41.060" v="128"/>
        <pc:sldMkLst>
          <pc:docMk/>
          <pc:sldMk cId="1144935808" sldId="265"/>
        </pc:sldMkLst>
      </pc:sldChg>
      <pc:sldChg chg="modNotesTx">
        <pc:chgData name="Bryan Fernando Sarango Rodriguez" userId="b88c460d-539d-4987-a9c8-d95e779f98d2" providerId="ADAL" clId="{C551F070-859F-41AB-8B4B-56B90A97B9A7}" dt="2026-10-08T19:36:59.426" v="43"/>
        <pc:sldMkLst>
          <pc:docMk/>
          <pc:sldMk cId="594439938" sldId="268"/>
        </pc:sldMkLst>
      </pc:sldChg>
      <pc:sldChg chg="modSp mod modNotesTx">
        <pc:chgData name="Bryan Fernando Sarango Rodriguez" userId="b88c460d-539d-4987-a9c8-d95e779f98d2" providerId="ADAL" clId="{C551F070-859F-41AB-8B4B-56B90A97B9A7}" dt="2026-10-08T19:39:38.213" v="51" actId="20577"/>
        <pc:sldMkLst>
          <pc:docMk/>
          <pc:sldMk cId="235612190" sldId="269"/>
        </pc:sldMkLst>
        <pc:spChg chg="mod">
          <ac:chgData name="Bryan Fernando Sarango Rodriguez" userId="b88c460d-539d-4987-a9c8-d95e779f98d2" providerId="ADAL" clId="{C551F070-859F-41AB-8B4B-56B90A97B9A7}" dt="2026-10-08T19:37:53.182" v="46" actId="20577"/>
          <ac:spMkLst>
            <pc:docMk/>
            <pc:sldMk cId="235612190" sldId="269"/>
            <ac:spMk id="4" creationId="{D72A8119-655F-4BED-A2B0-987AA1EAC6B0}"/>
          </ac:spMkLst>
        </pc:spChg>
      </pc:sldChg>
      <pc:sldChg chg="modSp mod modNotesTx">
        <pc:chgData name="Bryan Fernando Sarango Rodriguez" userId="b88c460d-539d-4987-a9c8-d95e779f98d2" providerId="ADAL" clId="{C551F070-859F-41AB-8B4B-56B90A97B9A7}" dt="2026-10-08T20:05:48.067" v="131"/>
        <pc:sldMkLst>
          <pc:docMk/>
          <pc:sldMk cId="3904794128" sldId="270"/>
        </pc:sldMkLst>
        <pc:spChg chg="mod">
          <ac:chgData name="Bryan Fernando Sarango Rodriguez" userId="b88c460d-539d-4987-a9c8-d95e779f98d2" providerId="ADAL" clId="{C551F070-859F-41AB-8B4B-56B90A97B9A7}" dt="2026-10-08T19:59:55.083" v="103"/>
          <ac:spMkLst>
            <pc:docMk/>
            <pc:sldMk cId="3904794128" sldId="270"/>
            <ac:spMk id="19" creationId="{F582391E-4AD7-4551-A3BC-2D0A67F8F814}"/>
          </ac:spMkLst>
        </pc:spChg>
      </pc:sldChg>
      <pc:sldChg chg="modSp mod">
        <pc:chgData name="Bryan Fernando Sarango Rodriguez" userId="b88c460d-539d-4987-a9c8-d95e779f98d2" providerId="ADAL" clId="{C551F070-859F-41AB-8B4B-56B90A97B9A7}" dt="2026-10-08T20:01:26.668" v="105"/>
        <pc:sldMkLst>
          <pc:docMk/>
          <pc:sldMk cId="29934599" sldId="271"/>
        </pc:sldMkLst>
        <pc:spChg chg="mod">
          <ac:chgData name="Bryan Fernando Sarango Rodriguez" userId="b88c460d-539d-4987-a9c8-d95e779f98d2" providerId="ADAL" clId="{C551F070-859F-41AB-8B4B-56B90A97B9A7}" dt="2026-10-08T20:01:26.668" v="105"/>
          <ac:spMkLst>
            <pc:docMk/>
            <pc:sldMk cId="29934599" sldId="271"/>
            <ac:spMk id="30" creationId="{00000000-0000-0000-0000-000000000000}"/>
          </ac:spMkLst>
        </pc:spChg>
      </pc:sldChg>
      <pc:sldChg chg="modSp mod">
        <pc:chgData name="Bryan Fernando Sarango Rodriguez" userId="b88c460d-539d-4987-a9c8-d95e779f98d2" providerId="ADAL" clId="{C551F070-859F-41AB-8B4B-56B90A97B9A7}" dt="2026-10-08T19:43:43.501" v="52"/>
        <pc:sldMkLst>
          <pc:docMk/>
          <pc:sldMk cId="4197111180" sldId="272"/>
        </pc:sldMkLst>
        <pc:spChg chg="mod">
          <ac:chgData name="Bryan Fernando Sarango Rodriguez" userId="b88c460d-539d-4987-a9c8-d95e779f98d2" providerId="ADAL" clId="{C551F070-859F-41AB-8B4B-56B90A97B9A7}" dt="2026-10-08T19:43:43.501" v="52"/>
          <ac:spMkLst>
            <pc:docMk/>
            <pc:sldMk cId="4197111180" sldId="272"/>
            <ac:spMk id="4" creationId="{353090DD-312E-4ADA-93AE-AA14B5DD6341}"/>
          </ac:spMkLst>
        </pc:spChg>
      </pc:sldChg>
      <pc:sldChg chg="modSp mod modNotesTx">
        <pc:chgData name="Bryan Fernando Sarango Rodriguez" userId="b88c460d-539d-4987-a9c8-d95e779f98d2" providerId="ADAL" clId="{C551F070-859F-41AB-8B4B-56B90A97B9A7}" dt="2026-10-08T20:07:08.956" v="136"/>
        <pc:sldMkLst>
          <pc:docMk/>
          <pc:sldMk cId="3740514937" sldId="273"/>
        </pc:sldMkLst>
        <pc:spChg chg="mod">
          <ac:chgData name="Bryan Fernando Sarango Rodriguez" userId="b88c460d-539d-4987-a9c8-d95e779f98d2" providerId="ADAL" clId="{C551F070-859F-41AB-8B4B-56B90A97B9A7}" dt="2026-10-08T19:51:18.789" v="86" actId="20577"/>
          <ac:spMkLst>
            <pc:docMk/>
            <pc:sldMk cId="3740514937" sldId="273"/>
            <ac:spMk id="2" creationId="{71CC3F5A-AC00-4E47-816D-CE9DE5AEA9C8}"/>
          </ac:spMkLst>
        </pc:spChg>
        <pc:spChg chg="mod">
          <ac:chgData name="Bryan Fernando Sarango Rodriguez" userId="b88c460d-539d-4987-a9c8-d95e779f98d2" providerId="ADAL" clId="{C551F070-859F-41AB-8B4B-56B90A97B9A7}" dt="2026-10-08T19:48:51.187" v="53"/>
          <ac:spMkLst>
            <pc:docMk/>
            <pc:sldMk cId="3740514937" sldId="273"/>
            <ac:spMk id="18" creationId="{685E2A47-275A-415B-99B5-A357F926A88B}"/>
          </ac:spMkLst>
        </pc:spChg>
      </pc:sldChg>
      <pc:sldChg chg="modSp mod">
        <pc:chgData name="Bryan Fernando Sarango Rodriguez" userId="b88c460d-539d-4987-a9c8-d95e779f98d2" providerId="ADAL" clId="{C551F070-859F-41AB-8B4B-56B90A97B9A7}" dt="2026-10-08T19:56:02.993" v="98" actId="20577"/>
        <pc:sldMkLst>
          <pc:docMk/>
          <pc:sldMk cId="3795901454" sldId="274"/>
        </pc:sldMkLst>
        <pc:spChg chg="mod">
          <ac:chgData name="Bryan Fernando Sarango Rodriguez" userId="b88c460d-539d-4987-a9c8-d95e779f98d2" providerId="ADAL" clId="{C551F070-859F-41AB-8B4B-56B90A97B9A7}" dt="2026-10-08T19:55:08.263" v="92" actId="20577"/>
          <ac:spMkLst>
            <pc:docMk/>
            <pc:sldMk cId="3795901454" sldId="274"/>
            <ac:spMk id="7" creationId="{73D07CEC-4710-46CD-8501-DDC68114BA1E}"/>
          </ac:spMkLst>
        </pc:spChg>
        <pc:spChg chg="mod">
          <ac:chgData name="Bryan Fernando Sarango Rodriguez" userId="b88c460d-539d-4987-a9c8-d95e779f98d2" providerId="ADAL" clId="{C551F070-859F-41AB-8B4B-56B90A97B9A7}" dt="2026-10-08T19:55:38.213" v="95" actId="20577"/>
          <ac:spMkLst>
            <pc:docMk/>
            <pc:sldMk cId="3795901454" sldId="274"/>
            <ac:spMk id="9" creationId="{213F514C-69AC-4AFB-B247-670ABAA86ADE}"/>
          </ac:spMkLst>
        </pc:spChg>
        <pc:spChg chg="mod">
          <ac:chgData name="Bryan Fernando Sarango Rodriguez" userId="b88c460d-539d-4987-a9c8-d95e779f98d2" providerId="ADAL" clId="{C551F070-859F-41AB-8B4B-56B90A97B9A7}" dt="2026-10-08T19:56:02.993" v="98" actId="20577"/>
          <ac:spMkLst>
            <pc:docMk/>
            <pc:sldMk cId="3795901454" sldId="274"/>
            <ac:spMk id="16" creationId="{09521CD9-6152-4EF2-B8EB-922EE78C2FF2}"/>
          </ac:spMkLst>
        </pc:spChg>
      </pc:sldChg>
      <pc:sldChg chg="delSp mod">
        <pc:chgData name="Bryan Fernando Sarango Rodriguez" userId="b88c460d-539d-4987-a9c8-d95e779f98d2" providerId="ADAL" clId="{C551F070-859F-41AB-8B4B-56B90A97B9A7}" dt="2026-10-08T19:57:28.772" v="99" actId="478"/>
        <pc:sldMkLst>
          <pc:docMk/>
          <pc:sldMk cId="686652667" sldId="277"/>
        </pc:sldMkLst>
        <pc:spChg chg="del">
          <ac:chgData name="Bryan Fernando Sarango Rodriguez" userId="b88c460d-539d-4987-a9c8-d95e779f98d2" providerId="ADAL" clId="{C551F070-859F-41AB-8B4B-56B90A97B9A7}" dt="2026-10-08T19:57:28.772" v="99" actId="478"/>
          <ac:spMkLst>
            <pc:docMk/>
            <pc:sldMk cId="686652667" sldId="277"/>
            <ac:spMk id="8" creationId="{00000000-0000-0000-0000-000000000000}"/>
          </ac:spMkLst>
        </pc:spChg>
      </pc:sldChg>
      <pc:sldChg chg="modSp mod modNotesTx">
        <pc:chgData name="Bryan Fernando Sarango Rodriguez" userId="b88c460d-539d-4987-a9c8-d95e779f98d2" providerId="ADAL" clId="{C551F070-859F-41AB-8B4B-56B90A97B9A7}" dt="2026-10-08T20:07:32.234" v="141"/>
        <pc:sldMkLst>
          <pc:docMk/>
          <pc:sldMk cId="3647377808" sldId="307"/>
        </pc:sldMkLst>
        <pc:spChg chg="mod">
          <ac:chgData name="Bryan Fernando Sarango Rodriguez" userId="b88c460d-539d-4987-a9c8-d95e779f98d2" providerId="ADAL" clId="{C551F070-859F-41AB-8B4B-56B90A97B9A7}" dt="2026-10-08T19:51:22.792" v="87" actId="20577"/>
          <ac:spMkLst>
            <pc:docMk/>
            <pc:sldMk cId="3647377808" sldId="307"/>
            <ac:spMk id="2" creationId="{71CC3F5A-AC00-4E47-816D-CE9DE5AEA9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A2F1A-FFD1-4C8C-A389-B7DF8A8B5FC1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3A3C0-6B5A-4B5A-9504-879B374278F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2410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[1:00] Contexto do tema. Até 2017, cada tipo de dado tinha sua arquitetura: CNNs para imagens, RNNs encoder-decoder para tradução, LSTMs para sequências, modelos específicos para fala. Depois do Transformer, o mesmo bloco passou a ser usado em quase tudo: tradução, ChatGPT, BERT, visão (ViT), fala (Whisper), biologia. Hoje vamos entender esse bloco a partir do artigo original. Roitman (2026) descreve o Transformer como a primitiva universal de processamento de sequências que viabilizou a IA agentiva atual.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9877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[1:30] Problema geral: no Seq2Seq com RNN, a frase inteira é comprimida no último estado oculto do encoder (esquerda): um gargalo para frases longas. A atenção de Bahdanau (direita) deixa o decoder olhar, a cada passo, para todos os estados do encoder e ponderar os mais relevantes. Mas ainda há recorrência: o cálculo é sequencial. Exemplo do "banco": o significado depende de outras palavras da frase. A motivação do artigo: se a atenção já resolve o alinhamento, por que manter a recorrência?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1822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[1:00] Objetivo explícito: "the first sequence transduction model based entirely on attention". A hipótese não aparece com esse nome; é a nossa leitura: atenção pura basta e treina mais rápido. Contribuições: a arquitetura, a scaled dot-product e multi-head attention, o positional encoding, e o estado da arte em tradução com uma fração do custo. Também mostram generalização para constituency parsing.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5912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[0:50] Este é o mapa de toda a explicação: a Figura 1 do artigo. </a:t>
            </a:r>
            <a:r>
              <a:rPr lang="pt-BR" dirty="0" err="1"/>
              <a:t>Encoder</a:t>
            </a:r>
            <a:r>
              <a:rPr lang="pt-BR" dirty="0"/>
              <a:t> à esquerda, </a:t>
            </a:r>
            <a:r>
              <a:rPr lang="pt-BR" dirty="0" err="1"/>
              <a:t>decoder</a:t>
            </a:r>
            <a:r>
              <a:rPr lang="pt-BR" dirty="0"/>
              <a:t> à direita, cada um com N = 6 camadas. Ordem: 1) </a:t>
            </a:r>
            <a:r>
              <a:rPr lang="pt-BR" dirty="0" err="1"/>
              <a:t>embeddings</a:t>
            </a:r>
            <a:r>
              <a:rPr lang="pt-BR" dirty="0"/>
              <a:t> e posição; 2) self-</a:t>
            </a:r>
            <a:r>
              <a:rPr lang="pt-BR" dirty="0" err="1"/>
              <a:t>attention</a:t>
            </a:r>
            <a:r>
              <a:rPr lang="pt-BR" dirty="0"/>
              <a:t>, o coração; 3) </a:t>
            </a:r>
            <a:r>
              <a:rPr lang="pt-BR" dirty="0" err="1"/>
              <a:t>Add</a:t>
            </a:r>
            <a:r>
              <a:rPr lang="pt-BR" dirty="0"/>
              <a:t> &amp; Norm; 4) feed-</a:t>
            </a:r>
            <a:r>
              <a:rPr lang="pt-BR" dirty="0" err="1"/>
              <a:t>forward</a:t>
            </a:r>
            <a:r>
              <a:rPr lang="pt-BR" dirty="0"/>
              <a:t>; depois o </a:t>
            </a:r>
            <a:r>
              <a:rPr lang="pt-BR" dirty="0" err="1"/>
              <a:t>decoder</a:t>
            </a:r>
            <a:r>
              <a:rPr lang="pt-BR" dirty="0"/>
              <a:t>: 5) </a:t>
            </a:r>
            <a:r>
              <a:rPr lang="pt-BR" dirty="0" err="1"/>
              <a:t>masked</a:t>
            </a:r>
            <a:r>
              <a:rPr lang="pt-BR" dirty="0"/>
              <a:t> </a:t>
            </a:r>
            <a:r>
              <a:rPr lang="pt-BR" dirty="0" err="1"/>
              <a:t>attention</a:t>
            </a:r>
            <a:r>
              <a:rPr lang="pt-BR" dirty="0"/>
              <a:t>; 6) </a:t>
            </a:r>
            <a:r>
              <a:rPr lang="pt-BR" dirty="0" err="1"/>
              <a:t>cross-attention</a:t>
            </a:r>
            <a:r>
              <a:rPr lang="pt-BR" dirty="0"/>
              <a:t>; 7) saída.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464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[0:50] O tokenizador divide o texto em subpalavras (no artigo, BPE com ~37 mil tokens). Cada token vira um número inteiro (ID). Os IDs aqui são ilustrativos. O ID é só um endereço: com ele consultamos uma linha da tabela de embeddings, uma matriz |V| × 512 de parâmetros aprendidos. Resultado: cada token vira um vetor de 512 números; a frase vira uma matriz X (n × 512).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908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[0:50] A atenção, sozinha, não sabe a ordem: trata a frase como um conjunto. "O macaco comeu a banana" e "A banana comeu o macaco" teriam os mesmos tokens. Solução do artigo: somar a cada embedding um vetor de posição do mesmo tamanho, feito de senos e cossenos com frequências diferentes. Embeddings posicionais aprendidos deram resultado quase igual. Hoje são comuns as codificações relativas e a RoPE. Por que senos e cossenos? PE(pos+k) é uma função linear de PE(pos), o que facilita aprender posições relativas e, talvez, extrapolar para frases mais longas que as do treino.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710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[1:00] A matriz X (embeddings + posição, em verde) é multiplicada por três matrizes de pesos aprendidas, W_Q, W_K e W_V. Cada token ganha três vetores com funções diferentes: a query (roxo) diz o que ele procura; a key (laranja) diz como ele pode ser encontrado; o value (azul) é o conteúdo que será misturado. Vamos manter estas cores até o fim. Analogia: um dicionário "suave", em que a consulta é comparada com todas as chaves ao mesmo tempo.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9919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[1:20] A equação em quatro passos. (1) QK^T: cada query com cada key, um produto escalar; resultado n × n, a compatibilidade entre todos os pares. (2) Dividir por √d_k: se os componentes de q e k são independentes, com média 0 e variância 1, o produto q·k tem variância d_k (= 64); valores grandes saturam a softmax (gradiente quase zero). Dividir por √d_k devolve a variância a 1 (nota 4 do artigo). (3) Softmax por linha: transforma pontuações em pesos positivos que somam 1. Ela distribui o peso; não escolhe uma opção sozinha. (4) Multiplicar por V: cada token recebe uma média ponderada dos values.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120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Exemplo pequeno, com </a:t>
            </a:r>
            <a:r>
              <a:rPr lang="pt-BR" dirty="0" err="1"/>
              <a:t>d_k</a:t>
            </a:r>
            <a:r>
              <a:rPr lang="pt-BR" dirty="0"/>
              <a:t> = 2, para fazer as contas à vista. Query de "ele" = [2, 1]. Produto escalar com as </a:t>
            </a:r>
            <a:r>
              <a:rPr lang="pt-BR" dirty="0" err="1"/>
              <a:t>keys</a:t>
            </a:r>
            <a:r>
              <a:rPr lang="pt-BR" dirty="0"/>
              <a:t>: 5 (macaco), 0 (banana), 3 (ele). Dividimos por √2 e aplicamos </a:t>
            </a:r>
            <a:r>
              <a:rPr lang="pt-BR" dirty="0" err="1"/>
              <a:t>softmax</a:t>
            </a:r>
            <a:r>
              <a:rPr lang="pt-BR" dirty="0"/>
              <a:t>: 0,79 para "macaco". A saída é a média dos </a:t>
            </a:r>
            <a:r>
              <a:rPr lang="pt-BR" dirty="0" err="1"/>
              <a:t>values</a:t>
            </a:r>
            <a:r>
              <a:rPr lang="pt-BR" dirty="0"/>
              <a:t> com esses pesos: [0,88; 0,12]. Se a primeira dimensão representa "macaco", o novo vetor de "ele" carrega essa informação: o modelo resolveu a correferência. À direita, a matriz completa de self-</a:t>
            </a:r>
            <a:r>
              <a:rPr lang="pt-BR" dirty="0" err="1"/>
              <a:t>attention</a:t>
            </a:r>
            <a:r>
              <a:rPr lang="pt-BR" dirty="0"/>
              <a:t>: cada linha é uma posição que consulta; cada coluna, a posição consultada. Os vetores foram escolhidos à mão; no modelo real, saem de W_Q, W_K e W_V. Só a linha "ele" foi calculada; as linhas macaco e banana da matriz são ilustrativas. Pergunta provável: em português, o gênero de "ele" já descarta "banana". Resposta: em inglês ("it") seria ambíguo, como no exemplo de </a:t>
            </a:r>
            <a:r>
              <a:rPr lang="pt-BR" dirty="0" err="1"/>
              <a:t>Alammar</a:t>
            </a:r>
            <a:r>
              <a:rPr lang="pt-BR" dirty="0"/>
              <a:t>; o modelo aprende pistas como o gênero a partir dos dados.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Segunda </a:t>
            </a:r>
            <a:r>
              <a:rPr lang="pt-BR" dirty="0" err="1"/>
              <a:t>version</a:t>
            </a:r>
            <a:r>
              <a:rPr lang="pt-BR" dirty="0"/>
              <a:t> : </a:t>
            </a:r>
            <a:br>
              <a:rPr lang="pt-BR" dirty="0"/>
            </a:br>
            <a:r>
              <a:rPr lang="pt-BR" dirty="0"/>
              <a:t>Agora vamos acompanhar um exemplo numérico de self-</a:t>
            </a:r>
            <a:r>
              <a:rPr lang="pt-BR" dirty="0" err="1"/>
              <a:t>attention</a:t>
            </a:r>
            <a:r>
              <a:rPr lang="pt-BR" dirty="0"/>
              <a:t> usando a frase: “O macaco comeu a banana porque ele estava com fome”.</a:t>
            </a:r>
          </a:p>
          <a:p>
            <a:r>
              <a:rPr lang="pt-BR" dirty="0"/>
              <a:t>Para simplificar as contas, vamos considerar apenas três posições: “macaco”, “banana” e “ele”. Aqui, tratamos cada palavra como um token, embora um </a:t>
            </a:r>
            <a:r>
              <a:rPr lang="pt-BR" dirty="0" err="1"/>
              <a:t>tokenizador</a:t>
            </a:r>
            <a:r>
              <a:rPr lang="pt-BR" dirty="0"/>
              <a:t> real possa dividir palavras em </a:t>
            </a:r>
            <a:r>
              <a:rPr lang="pt-BR" dirty="0" err="1"/>
              <a:t>subpalavras</a:t>
            </a:r>
            <a:r>
              <a:rPr lang="pt-BR" dirty="0"/>
              <a:t>.</a:t>
            </a:r>
          </a:p>
          <a:p>
            <a:r>
              <a:rPr lang="pt-BR" dirty="0"/>
              <a:t>Os vetores deste exemplo foram escolhidos manualmente. O objetivo é visualizar o cálculo da atenção.</a:t>
            </a:r>
          </a:p>
          <a:p>
            <a:r>
              <a:rPr lang="pt-BR" dirty="0"/>
              <a:t>[Aponte para a query e para a matriz de </a:t>
            </a:r>
            <a:r>
              <a:rPr lang="pt-BR" dirty="0" err="1"/>
              <a:t>keys</a:t>
            </a:r>
            <a:r>
              <a:rPr lang="pt-BR" dirty="0"/>
              <a:t>.]</a:t>
            </a:r>
          </a:p>
          <a:p>
            <a:r>
              <a:rPr lang="pt-BR" dirty="0"/>
              <a:t>A query associada a “ele” é o vetor dois, um. Comparando essa query com as três </a:t>
            </a:r>
            <a:r>
              <a:rPr lang="pt-BR" dirty="0" err="1"/>
              <a:t>keys</a:t>
            </a:r>
            <a:r>
              <a:rPr lang="pt-BR" dirty="0"/>
              <a:t> por produto escalar, obtemos as pontuações cinco, zero e três, respectivamente.</a:t>
            </a:r>
          </a:p>
          <a:p>
            <a:r>
              <a:rPr lang="pt-BR" dirty="0"/>
              <a:t>Como a dimensão das queries e </a:t>
            </a:r>
            <a:r>
              <a:rPr lang="pt-BR" dirty="0" err="1"/>
              <a:t>keys</a:t>
            </a:r>
            <a:r>
              <a:rPr lang="pt-BR" dirty="0"/>
              <a:t> é dois, dividimos essas pontuações pela raiz quadrada de dois. Depois, aplicamos a </a:t>
            </a:r>
            <a:r>
              <a:rPr lang="pt-BR" dirty="0" err="1"/>
              <a:t>softmax</a:t>
            </a:r>
            <a:r>
              <a:rPr lang="pt-BR" dirty="0"/>
              <a:t>.</a:t>
            </a:r>
          </a:p>
          <a:p>
            <a:r>
              <a:rPr lang="pt-BR" dirty="0"/>
              <a:t>[Aponte para a linha destacada da matriz.]</a:t>
            </a:r>
          </a:p>
          <a:p>
            <a:r>
              <a:rPr lang="pt-BR" dirty="0"/>
              <a:t>Os pesos resultantes são aproximadamente 0,786 para “macaco”, 0,023 para “banana” e 0,191 para o próprio “ele”. Esses pesos somam um.</a:t>
            </a:r>
          </a:p>
          <a:p>
            <a:r>
              <a:rPr lang="pt-BR" dirty="0"/>
              <a:t>Observe que a atenção também pode atribuir peso à própria posição. Além disso, a </a:t>
            </a:r>
            <a:r>
              <a:rPr lang="pt-BR" dirty="0" err="1"/>
              <a:t>softmax</a:t>
            </a:r>
            <a:r>
              <a:rPr lang="pt-BR" dirty="0"/>
              <a:t> distribui os pesos entre as posições disponíveis, permitindo combinar informações de várias delas.</a:t>
            </a:r>
          </a:p>
          <a:p>
            <a:r>
              <a:rPr lang="pt-BR" dirty="0"/>
              <a:t>[Aponte para o cálculo da saída.]</a:t>
            </a:r>
          </a:p>
          <a:p>
            <a:r>
              <a:rPr lang="pt-BR" dirty="0"/>
              <a:t>Usamos esses pesos para calcular uma soma ponderada dos vetores </a:t>
            </a:r>
            <a:r>
              <a:rPr lang="pt-BR" dirty="0" err="1"/>
              <a:t>value</a:t>
            </a:r>
            <a:r>
              <a:rPr lang="pt-BR" dirty="0"/>
              <a:t>. O resultado é aproximadamente zero vírgula oitenta e oito e zero vírgula doze.</a:t>
            </a:r>
          </a:p>
          <a:p>
            <a:r>
              <a:rPr lang="pt-BR" dirty="0"/>
              <a:t>Portanto, neste exemplo, a saída da atenção na posição de “ele” recebe maior contribuição do </a:t>
            </a:r>
            <a:r>
              <a:rPr lang="pt-BR" dirty="0" err="1"/>
              <a:t>value</a:t>
            </a:r>
            <a:r>
              <a:rPr lang="pt-BR" dirty="0"/>
              <a:t> associado a “macaco”.</a:t>
            </a:r>
          </a:p>
          <a:p>
            <a:r>
              <a:rPr lang="pt-BR" dirty="0"/>
              <a:t>Isso ilustra como informações de uma posição podem participar da representação de outra. Como os vetores foram escolhidos à mão, o exemplo não demonstra que um modelo treinado aprendeu a identificar a quem o pronome se refere. Também não podemos atribuir automaticamente um significado fixo a cada coordenada do vetor.</a:t>
            </a:r>
          </a:p>
          <a:p>
            <a:r>
              <a:rPr lang="pt-BR" dirty="0"/>
              <a:t>Na matriz à direita, cada linha representa quem consulta e cada coluna representa quem é consultado. Apenas a linha de “ele” foi calculada neste exercício. As demais são ilustrativas.</a:t>
            </a:r>
          </a:p>
          <a:p>
            <a:r>
              <a:rPr lang="pt-BR" dirty="0"/>
              <a:t>Até aqui, acompanhamos uma cabeça de atenção. No próximo slide, veremos como várias cabeças realizam combinações diferentes em paralelo.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3247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[1:00] Em vez de uma única atenção com 512 dimensões, o modelo usa h = 8 cabeças, cada uma com suas próprias W_Q, W_K, W_V de dimensão 64. A figura mostra duas cabeças (0 e 1): mesma entrada X, projeções diferentes. À direita, as 8 saídas Z são concatenadas e multiplicadas por W_O. Custo total parecido com uma cabeça grande. Cuidado ao interpretar: algumas cabeças parecem capturar relações sintáticas, mas não há uma função fixa garantida por cabeça. Este mesmo bloco aparece em três lugares (destaque no mapa).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987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[1:10] Feed-forward: uma MLP de duas camadas aplicada a cada token separadamente, com os mesmos parâmetros: expande para 2048 dimensões, aplica ReLU e volta para 512. FFN(x) = max(0, xW1 + b1)W2 + b2. Contraste: a atenção mistura informação entre tokens; a FFN transforma as características de cada um. Add &amp; Norm: soma residual (como nas ResNets, figura da direita), que facilita o fluxo do gradiente, seguida de LayerNorm. Montando tudo: 6 camadas iguais em estrutura, com pesos diferentes. A saída do encoder é um vetor contextualizado por token. O esquema da direita mostra exatamente o Add &amp; Norm do Transformer original: a entrada x passa pela subcamada (atenção ou FFN); o atalho residual soma a própria entrada x à saída da subcamada (Add); e o resultado passa pela LayerNorm (Norm). Saída = LayerNorm(x + Subcamada(x)). Não há ReLU depois da soma: a ReLU fica apenas dentro da FFN.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24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[1:00] O </a:t>
            </a:r>
            <a:r>
              <a:rPr lang="pt-BR" dirty="0" err="1"/>
              <a:t>decoder</a:t>
            </a:r>
            <a:r>
              <a:rPr lang="pt-BR" dirty="0"/>
              <a:t> gera a tradução token a token: a probabilidade do próximo token depende da frase de origem e dos tokens anteriores. No treino, ele recebe a </a:t>
            </a:r>
            <a:r>
              <a:rPr lang="pt-BR" dirty="0" err="1"/>
              <a:t>frase-alvo</a:t>
            </a:r>
            <a:r>
              <a:rPr lang="pt-BR" dirty="0"/>
              <a:t> inteira deslocada ("&lt;início&gt; The </a:t>
            </a:r>
            <a:r>
              <a:rPr lang="pt-BR" dirty="0" err="1"/>
              <a:t>monkey</a:t>
            </a:r>
            <a:r>
              <a:rPr lang="pt-BR" dirty="0"/>
              <a:t> ate"), e todas as posições são treinadas em paralelo. Para não "colar" do futuro, somamos uma máscara M: −∞ acima da diagonal, antes da </a:t>
            </a:r>
            <a:r>
              <a:rPr lang="pt-BR" dirty="0" err="1"/>
              <a:t>softmax</a:t>
            </a:r>
            <a:r>
              <a:rPr lang="pt-BR" dirty="0"/>
              <a:t>. Como e^(−∞) = 0, os pesos do futuro somem. Na figura: à esquerda, self-</a:t>
            </a:r>
            <a:r>
              <a:rPr lang="pt-BR" dirty="0" err="1"/>
              <a:t>attention</a:t>
            </a:r>
            <a:r>
              <a:rPr lang="pt-BR" dirty="0"/>
              <a:t> normal (vê tudo); à direita, mascarada (vê só o passado ou seja : A posição que contém ‘</a:t>
            </a:r>
            <a:r>
              <a:rPr lang="pt-BR" dirty="0" err="1"/>
              <a:t>monkey</a:t>
            </a:r>
            <a:r>
              <a:rPr lang="pt-BR" dirty="0"/>
              <a:t>’ pode consultar ‘</a:t>
            </a:r>
            <a:r>
              <a:rPr lang="pt-BR" dirty="0" err="1"/>
              <a:t>monkey</a:t>
            </a:r>
            <a:r>
              <a:rPr lang="pt-BR" dirty="0"/>
              <a:t>’ e o prefixo anterior para prever ‘ate’.).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287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[1:00] Segunda atenção do </a:t>
            </a:r>
            <a:r>
              <a:rPr lang="pt-BR" dirty="0" err="1"/>
              <a:t>decoder</a:t>
            </a:r>
            <a:r>
              <a:rPr lang="pt-BR" dirty="0"/>
              <a:t>, a ponte com o </a:t>
            </a:r>
            <a:r>
              <a:rPr lang="pt-BR" dirty="0" err="1"/>
              <a:t>encoder</a:t>
            </a:r>
            <a:r>
              <a:rPr lang="pt-BR" dirty="0"/>
              <a:t>. Na figura: a saída do </a:t>
            </a:r>
            <a:r>
              <a:rPr lang="pt-BR" dirty="0" err="1"/>
              <a:t>encoder</a:t>
            </a:r>
            <a:r>
              <a:rPr lang="pt-BR" dirty="0"/>
              <a:t> passa por W_K e W_V e vira </a:t>
            </a:r>
            <a:r>
              <a:rPr lang="pt-BR" dirty="0" err="1"/>
              <a:t>keys</a:t>
            </a:r>
            <a:r>
              <a:rPr lang="pt-BR" dirty="0"/>
              <a:t> e </a:t>
            </a:r>
            <a:r>
              <a:rPr lang="pt-BR" dirty="0" err="1"/>
              <a:t>values</a:t>
            </a:r>
            <a:r>
              <a:rPr lang="pt-BR" dirty="0"/>
              <a:t>; a saída do </a:t>
            </a:r>
            <a:r>
              <a:rPr lang="pt-BR" dirty="0" err="1"/>
              <a:t>decoder</a:t>
            </a:r>
            <a:r>
              <a:rPr lang="pt-BR" dirty="0"/>
              <a:t> passa por W_Q e vira queries. Produto, </a:t>
            </a:r>
            <a:r>
              <a:rPr lang="pt-BR" dirty="0" err="1"/>
              <a:t>softmax</a:t>
            </a:r>
            <a:r>
              <a:rPr lang="pt-BR" dirty="0"/>
              <a:t> e média ponderada, como antes. No nosso exemplo, para gerar "</a:t>
            </a:r>
            <a:r>
              <a:rPr lang="pt-BR" dirty="0" err="1"/>
              <a:t>monkey</a:t>
            </a:r>
            <a:r>
              <a:rPr lang="pt-BR" dirty="0"/>
              <a:t>" o </a:t>
            </a:r>
            <a:r>
              <a:rPr lang="pt-BR" dirty="0" err="1"/>
              <a:t>decoder</a:t>
            </a:r>
            <a:r>
              <a:rPr lang="pt-BR" dirty="0"/>
              <a:t> concentra a atenção em "macaco". A diferença para a self-</a:t>
            </a:r>
            <a:r>
              <a:rPr lang="pt-BR" dirty="0" err="1"/>
              <a:t>attention</a:t>
            </a:r>
            <a:r>
              <a:rPr lang="pt-BR" dirty="0"/>
              <a:t> é só a origem de Q, K e V. Detalhe: </a:t>
            </a:r>
            <a:r>
              <a:rPr lang="pt-BR" dirty="0" err="1"/>
              <a:t>Bahdanau</a:t>
            </a:r>
            <a:r>
              <a:rPr lang="pt-BR" dirty="0"/>
              <a:t> usava atenção aditiva (uma pequena rede calcula o score); aqui o score é atenção por produto escalar, com o fator de escala empregado pelo Transformer, como em </a:t>
            </a:r>
            <a:r>
              <a:rPr lang="pt-BR" dirty="0" err="1"/>
              <a:t>Luong</a:t>
            </a:r>
            <a:r>
              <a:rPr lang="pt-BR" dirty="0"/>
              <a:t> (2015).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054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[1:10] Saída: o vetor final do decoder (512) passa por uma camada linear até o tamanho do vocabulário e por uma softmax: uma distribuição sobre os ~37 mil tokens. Atenção: esta softmax escolhe entre tokens do vocabulário; a da atenção distribui peso entre posições. Treino: a entrada do decoder é a frase-alvo deslocada; o alvo é o próximo token. A perda é a entropia cruzada: aumenta a probabilidade do token correto e diminui as outras. Ciclo: previsão → perda → gradientes → atualização (Adam com warmup). Distinção importante: W_Q, W_K e W_V são parâmetros aprendidos; os pesos de atenção são calculados de novo para cada frase. No artigo, o alvo não é exatamente one-hot: usam label smoothing 0,1 (e dropout 0,1) como regularização.</a:t>
            </a:r>
          </a:p>
          <a:p>
            <a:endParaRPr lang="pt-BR"/>
          </a:p>
          <a:p>
            <a:r>
              <a:rPr lang="pt-BR"/>
              <a:t>Depois de passar pelas camadas do decoder, cada posição possui uma representação que combina informações do prefixo da tradução e da sequência de origem.</a:t>
            </a:r>
          </a:p>
          <a:p>
            <a:r>
              <a:rPr lang="pt-BR"/>
              <a:t>Agora precisamos transformar essa representação em probabilidades para o próximo token.</a:t>
            </a:r>
          </a:p>
          <a:p>
            <a:r>
              <a:rPr lang="pt-BR"/>
              <a:t>[Aponte para a camada linear e para a softmax.]</a:t>
            </a:r>
          </a:p>
          <a:p>
            <a:r>
              <a:rPr lang="pt-BR"/>
              <a:t>A camada linear produz uma pontuação para cada token do vocabulário. Essas pontuações são chamadas de logits. A softmax transforma os logits em uma distribuição de probabilidades.</a:t>
            </a:r>
          </a:p>
          <a:p>
            <a:r>
              <a:rPr lang="pt-BR"/>
              <a:t>O tamanho dessa distribuição depende do vocabulário utilizado. Os aproximadamente 37 mil tokens mencionados aqui correspondem à configuração inglês–alemão do artigo.</a:t>
            </a:r>
          </a:p>
          <a:p>
            <a:r>
              <a:rPr lang="pt-BR"/>
              <a:t>É importante distinguir as duas aplicações da softmax. Dentro da atenção, ela distribui pesos entre posições da sequência. Na saída do modelo, distribui probabilidades entre tokens do vocabulário.</a:t>
            </a:r>
          </a:p>
          <a:p>
            <a:r>
              <a:rPr lang="pt-BR"/>
              <a:t>A escolha da continuação depende da estratégia de decodificação, que veremos no próximo slide.</a:t>
            </a:r>
          </a:p>
          <a:p>
            <a:r>
              <a:rPr lang="pt-BR"/>
              <a:t>[Aponte para o exemplo de treinamento.]</a:t>
            </a:r>
          </a:p>
          <a:p>
            <a:r>
              <a:rPr lang="pt-BR"/>
              <a:t>Durante o treinamento, conhecemos a tradução de referência. A entrada do decoder recebe essa tradução deslocada uma posição para a direita.</a:t>
            </a:r>
          </a:p>
          <a:p>
            <a:r>
              <a:rPr lang="pt-BR"/>
              <a:t>Por exemplo, ao receber o marcador de início, o modelo deve prever “The”. Ao receber “The”, deve prever “monkey”. Ao receber “monkey”, deve prever “ate”.</a:t>
            </a:r>
          </a:p>
          <a:p>
            <a:r>
              <a:rPr lang="pt-BR"/>
              <a:t>A máscara causal impede o acesso às posições futuras. Assim, podemos calcular as previsões de todas essas posições em paralelo, mantendo a restrição de usar apenas o prefixo permitido.</a:t>
            </a:r>
          </a:p>
          <a:p>
            <a:r>
              <a:rPr lang="pt-BR"/>
              <a:t>[Aponte para a perda.]</a:t>
            </a:r>
          </a:p>
          <a:p>
            <a:r>
              <a:rPr lang="pt-BR"/>
              <a:t>Para um token correto, como “ate” em “&lt;início&gt; The monkey”, a perda simplificada é menos o logaritmo da probabilidade atribuída a esse token. Uma probabilidade maior para o alvo corresponde a uma perda menor.</a:t>
            </a:r>
          </a:p>
          <a:p>
            <a:r>
              <a:rPr lang="pt-BR"/>
              <a:t>No treinamento, agregamos a perda dos tokens válidos, desconsiderando o padding. A retropropagação calcula os gradientes, e o otimizador Adam utiliza esses gradientes para atualizar os parâmetros.</a:t>
            </a:r>
          </a:p>
          <a:p>
            <a:r>
              <a:rPr lang="pt-BR"/>
              <a:t>Esses parâmetros incluem embeddings, projeções da atenção e camadas feed-forward. Já os pesos de atenção são calculados novamente a partir das representações de cada entrada.</a:t>
            </a:r>
          </a:p>
          <a:p>
            <a:r>
              <a:rPr lang="pt-BR"/>
              <a:t>O artigo também utiliza label smoothing, que suaviza a distribuição-alvo durante o treinamento. A expressão com um único token correto é uma simplificação para explicar a ideia central da perda.</a:t>
            </a:r>
          </a:p>
          <a:p>
            <a:r>
              <a:rPr lang="pt-BR"/>
              <a:t>Depois de compreender como o modelo aprende, podemos acompanhar como ele gera uma tradução quando a resposta de referência não está disponível.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003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[0:50] Na inferência não conhecemos a tradução: o decoder começa com &lt;início&gt;, gera o token mais adequado, coloca-o de volta na entrada e repete até &lt;fim&gt;. Escolha do token: greedy pega sempre o mais provável (pode levar a um caminho pior no total); beam search mantém as k melhores sequências parciais (o artigo usa k = 4). Amostragem com temperatura, top-k e top-p são usadas em LLMs para gerar texto variado, mas não no artigo. Na figura: greedy escolhe "nice" (0,5) e depois "woman" (0,4): 0,5 · 0,4 = 0,20. O beam search mantém "dog" (0,4) e encontra "has" (0,9): 0,4 · 0,9 = 0,36, uma sequência mais provável.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672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[1:30] Cenário: WMT 2014 </a:t>
            </a:r>
            <a:r>
              <a:rPr lang="pt-BR" dirty="0" err="1"/>
              <a:t>inglês→alemão</a:t>
            </a:r>
            <a:r>
              <a:rPr lang="pt-BR" dirty="0"/>
              <a:t> (4,5 M pares) e </a:t>
            </a:r>
            <a:r>
              <a:rPr lang="pt-BR" dirty="0" err="1"/>
              <a:t>inglês→francês</a:t>
            </a:r>
            <a:r>
              <a:rPr lang="pt-BR" dirty="0"/>
              <a:t> (36 M pares), tokens BPE, treino numa única máquina com 8 </a:t>
            </a:r>
            <a:r>
              <a:rPr lang="pt-BR" dirty="0" err="1"/>
              <a:t>GPUs</a:t>
            </a:r>
            <a:r>
              <a:rPr lang="pt-BR" dirty="0"/>
              <a:t> P100. A Tabela 2 compara BLEU e custo de treino. Em EN→DE, até o modelo base (27,3) supera todos os anteriores, inclusive ensembles, e é o mais barato da tabela. O big chega a 28,4: +2,0 BLEU. Em EN→FR, o big atinge 41,8. Ressalva honesta: o base em EN→FR (38,1) fica abaixo. O que funcionou além disso: a generalização para </a:t>
            </a:r>
            <a:r>
              <a:rPr lang="pt-BR" dirty="0" err="1"/>
              <a:t>constituency</a:t>
            </a:r>
            <a:r>
              <a:rPr lang="pt-BR" dirty="0"/>
              <a:t> </a:t>
            </a:r>
            <a:r>
              <a:rPr lang="pt-BR" dirty="0" err="1"/>
              <a:t>parsing</a:t>
            </a:r>
            <a:r>
              <a:rPr lang="pt-BR" dirty="0"/>
              <a:t> (91,3 F1 só com WSJ). Detalhe de versão: 41,8 é o valor da versão </a:t>
            </a:r>
            <a:r>
              <a:rPr lang="pt-BR" dirty="0" err="1"/>
              <a:t>arXiv</a:t>
            </a:r>
            <a:r>
              <a:rPr lang="pt-BR" dirty="0"/>
              <a:t>; os anais do </a:t>
            </a:r>
            <a:r>
              <a:rPr lang="pt-BR" dirty="0" err="1"/>
              <a:t>NeurIPS</a:t>
            </a:r>
            <a:r>
              <a:rPr lang="pt-BR" dirty="0"/>
              <a:t> 2017 reportam 41,0.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0" i="0" dirty="0">
                <a:solidFill>
                  <a:srgbClr val="EDEDED"/>
                </a:solidFill>
                <a:effectLst/>
                <a:latin typeface="-apple-system-body"/>
              </a:rPr>
              <a:t>BLEU mede a sobreposição de n-gramas com traduções de referência, com penalização para saídas muito curtas. Não mede diretamente a compreensão semântica.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339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[1:45] Agora, a nossa reprodução. Treinei quatro modelos no Google </a:t>
            </a:r>
            <a:r>
              <a:rPr lang="pt-BR" dirty="0" err="1"/>
              <a:t>Colab</a:t>
            </a:r>
            <a:r>
              <a:rPr lang="pt-BR" dirty="0"/>
              <a:t>, numa GPU T4, com o conjunto Multi30k, alemão para inglês: 29 mil pares de frases. Todos usam a mesma </a:t>
            </a:r>
            <a:r>
              <a:rPr lang="pt-BR" dirty="0" err="1"/>
              <a:t>tokenização</a:t>
            </a:r>
            <a:r>
              <a:rPr lang="pt-BR" dirty="0"/>
              <a:t> e treinam o mesmo número de épocas, então a comparação é justa entre eles.
Primeiro resultado, o principal: o Transformer com 8 cabeças chega a 38,2 de BLEU, contra 35,8 do LSTM com atenção, o modelo do tipo </a:t>
            </a:r>
            <a:r>
              <a:rPr lang="pt-BR" dirty="0" err="1"/>
              <a:t>Bahdanau</a:t>
            </a:r>
            <a:r>
              <a:rPr lang="pt-BR" dirty="0"/>
              <a:t> que vimos na abertura. É a mesma tendência da Tabela 2 do artigo: o Transformer supera o modelo recorrente com atenção. E faz isso com 3,6 vezes menos parâmetros: 7,6 milhões contra 27,1 milhões.
Segundo: as ablações. Com uma única cabeça, o BLEU cai 1,5 ponto; no artigo, a queda foi de 0,9. Mesma direção. E quando retiramos o </a:t>
            </a:r>
            <a:r>
              <a:rPr lang="pt-BR" dirty="0" err="1"/>
              <a:t>positional</a:t>
            </a:r>
            <a:r>
              <a:rPr lang="pt-BR" dirty="0"/>
              <a:t> </a:t>
            </a:r>
            <a:r>
              <a:rPr lang="pt-BR" dirty="0" err="1"/>
              <a:t>encoding</a:t>
            </a:r>
            <a:r>
              <a:rPr lang="pt-BR" dirty="0"/>
              <a:t>, a queda é de 7,5 pontos, a maior de todas. Esse teste o artigo não fez; ele confirma com dados o que discutimos no slide da ordem: sem posição, o </a:t>
            </a:r>
            <a:r>
              <a:rPr lang="pt-BR" dirty="0" err="1"/>
              <a:t>encoder</a:t>
            </a:r>
            <a:r>
              <a:rPr lang="pt-BR" dirty="0"/>
              <a:t> enxerga a frase como um saco de palavras.
Cuidado com uma comparação: o 38,2 não pode ser comparado com o 27,3 do artigo. O Multi30k tem frases curtas e descritivas, muito mais fáceis que o WMT14. O que reproduzimos são as tendências, não os números absolutos. E é uma única execução; diferenças de menos de um ponto poderiam ser ruído.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Depois dos resultados históricos do artigo, vamos analisar o experimento didático realizado com o Multi30k, na tradução do alemão para o inglês.</a:t>
            </a:r>
          </a:p>
          <a:p>
            <a:r>
              <a:rPr lang="pt-BR" dirty="0"/>
              <a:t>Foram utilizados aproximadamente 29 mil pares de frases de treinamento, uma GPU T4 e quinze épocas para cada configuração. Os modelos utilizaram a mesma </a:t>
            </a:r>
            <a:r>
              <a:rPr lang="pt-BR" dirty="0" err="1"/>
              <a:t>tokenização</a:t>
            </a:r>
            <a:r>
              <a:rPr lang="pt-BR" dirty="0"/>
              <a:t> BPE.</a:t>
            </a:r>
          </a:p>
          <a:p>
            <a:r>
              <a:rPr lang="pt-BR" dirty="0"/>
              <a:t>O Transformer deste experimento é menor que o modelo original: possui três camadas no </a:t>
            </a:r>
            <a:r>
              <a:rPr lang="pt-BR" dirty="0" err="1"/>
              <a:t>encoder</a:t>
            </a:r>
            <a:r>
              <a:rPr lang="pt-BR" dirty="0"/>
              <a:t> e no </a:t>
            </a:r>
            <a:r>
              <a:rPr lang="pt-BR" dirty="0" err="1"/>
              <a:t>decoder</a:t>
            </a:r>
            <a:r>
              <a:rPr lang="pt-BR" dirty="0"/>
              <a:t> e dimensão de representação igual a 256.</a:t>
            </a:r>
          </a:p>
          <a:p>
            <a:r>
              <a:rPr lang="pt-BR" dirty="0"/>
              <a:t>[Aponte para os resultados dos dois modelos principais.]</a:t>
            </a:r>
          </a:p>
          <a:p>
            <a:r>
              <a:rPr lang="pt-BR" dirty="0"/>
              <a:t>Nesta execução, o Transformer com oito cabeças obteve 38,2 pontos BLEU, enquanto o LSTM com atenção obteve 35,8. A diferença foi de 2,4 pontos.</a:t>
            </a:r>
          </a:p>
          <a:p>
            <a:r>
              <a:rPr lang="pt-BR" dirty="0"/>
              <a:t>BLEU avalia a correspondência de sequências de palavras com traduções de referência, incluindo uma penalização para saídas excessivamente curtas. Portanto, esse resultado indica melhor desempenho segundo essa métrica e neste conjunto de teste.</a:t>
            </a:r>
          </a:p>
          <a:p>
            <a:r>
              <a:rPr lang="pt-BR" dirty="0"/>
              <a:t>O Transformer avaliado também possui menos parâmetros: 7,6 milhões, contra 27,1 milhões do LSTM. Isso corresponde a aproximadamente 72% menos parâmetros.</a:t>
            </a:r>
          </a:p>
          <a:p>
            <a:r>
              <a:rPr lang="pt-BR" dirty="0"/>
              <a:t>[Aponte para as ablações.]</a:t>
            </a:r>
          </a:p>
          <a:p>
            <a:r>
              <a:rPr lang="pt-BR" dirty="0"/>
              <a:t>As ablações permitem observar o resultado de modificar componentes da configuração de referência.</a:t>
            </a:r>
          </a:p>
          <a:p>
            <a:r>
              <a:rPr lang="pt-BR" dirty="0"/>
              <a:t>Com uma cabeça de atenção, o BLEU foi de 36,7, uma redução de 1,5 ponto em relação às oito cabeças.</a:t>
            </a:r>
          </a:p>
          <a:p>
            <a:r>
              <a:rPr lang="pt-BR" dirty="0"/>
              <a:t>Na configuração sem codificação posicional, o resultado foi de 30,8. Considerando os valores apresentados no gráfico, a redução foi de 7,4 pontos.</a:t>
            </a:r>
          </a:p>
          <a:p>
            <a:r>
              <a:rPr lang="pt-BR" dirty="0"/>
              <a:t>Nesta execução, portanto, a configuração com oito cabeças e codificação posicional apresentou o melhor resultado entre as alternativas avaliadas. Isso não significa que aumentar o número de cabeças sempre melhora o desempenho.</a:t>
            </a:r>
          </a:p>
          <a:p>
            <a:r>
              <a:rPr lang="pt-BR" dirty="0"/>
              <a:t>Também precisamos considerar os limites da comparação. Os modelos diferem em tamanho e podem responder de maneira diferente aos </a:t>
            </a:r>
            <a:r>
              <a:rPr lang="pt-BR" dirty="0" err="1"/>
              <a:t>hiperparâmetros</a:t>
            </a:r>
            <a:r>
              <a:rPr lang="pt-BR" dirty="0"/>
              <a:t>. Usar os mesmos dados e o mesmo número de épocas controla parte das condições, mas não elimina todas essas diferenças.</a:t>
            </a:r>
          </a:p>
          <a:p>
            <a:r>
              <a:rPr lang="pt-BR" dirty="0"/>
              <a:t>Além disso, os resultados correspondem a uma única execução, com </a:t>
            </a:r>
            <a:r>
              <a:rPr lang="pt-BR" dirty="0" err="1"/>
              <a:t>seed</a:t>
            </a:r>
            <a:r>
              <a:rPr lang="pt-BR" dirty="0"/>
              <a:t> 42 e decodificação </a:t>
            </a:r>
            <a:r>
              <a:rPr lang="pt-BR" dirty="0" err="1"/>
              <a:t>greedy</a:t>
            </a:r>
            <a:r>
              <a:rPr lang="pt-BR" dirty="0"/>
              <a:t>. Seriam necessárias outras execuções para estimar a variabilidade das diferenças observadas.</a:t>
            </a:r>
          </a:p>
          <a:p>
            <a:r>
              <a:rPr lang="pt-BR" dirty="0"/>
              <a:t>Por fim, estes valores de BLEU não devem ser comparados diretamente com os do WMT14. Os conjuntos de dados e os protocolos são diferentes.</a:t>
            </a:r>
          </a:p>
          <a:p>
            <a:r>
              <a:rPr lang="pt-BR" dirty="0"/>
              <a:t>No próximo slide, veremos o tempo por época, a evolução da validação e alguns exemplos de tradução.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2399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[1:30] Por que o Transformer vence? Dois motivos aparecem nos gráficos.
À direita, a velocidade: cada época leva 21,9 segundos no Transformer e 58 no LSTM, 2,6 vezes mais rápido na mesma GPU. É exatamente o argumento central do artigo: a atenção processa todas as posições da frase ao mesmo tempo, enquanto o LSTM precisa avançar palavra por palavra.
À esquerda, as curvas de aprendizado: a perplexidade na validação, que podemos ler como "entre quantas palavras o modelo hesita" — menor é melhor. O LSTM aprende rápido no início, mas estabiliza na época 8, perto de 7,7, e depois começa a piorar levemente: é </a:t>
            </a:r>
            <a:r>
              <a:rPr lang="pt-BR" dirty="0" err="1"/>
              <a:t>sobreajuste</a:t>
            </a:r>
            <a:r>
              <a:rPr lang="pt-BR" dirty="0"/>
              <a:t>. O Transformer começa mais devagar, por causa do </a:t>
            </a:r>
            <a:r>
              <a:rPr lang="pt-BR" dirty="0" err="1"/>
              <a:t>warmup</a:t>
            </a:r>
            <a:r>
              <a:rPr lang="pt-BR" dirty="0"/>
              <a:t> do </a:t>
            </a:r>
            <a:r>
              <a:rPr lang="pt-BR" dirty="0" err="1"/>
              <a:t>learning</a:t>
            </a:r>
            <a:r>
              <a:rPr lang="pt-BR" dirty="0"/>
              <a:t> rate, cruza o LSTM na época 5 e continua melhorando até a época 12, chegando a 5,8. As estrelas marcam a melhor época de cada modelo, que é a usada no teste.
Embaixo, dois exemplos reais. No primeiro, o Transformer acerta a frase inteira, igual à referência. No segundo, a nossa frase do macaco em alemão: o modelo acerta quem come o quê, mas inventa o final, porque "</a:t>
            </a:r>
            <a:r>
              <a:rPr lang="pt-BR" dirty="0" err="1"/>
              <a:t>Affe</a:t>
            </a:r>
            <a:r>
              <a:rPr lang="pt-BR" dirty="0"/>
              <a:t>" e "</a:t>
            </a:r>
            <a:r>
              <a:rPr lang="pt-BR" dirty="0" err="1"/>
              <a:t>hungrig</a:t>
            </a:r>
            <a:r>
              <a:rPr lang="pt-BR" dirty="0"/>
              <a:t>" quase não aparecem no Multi30k, que descreve fotos de pessoas. Isso nos leva às limitações, no próximo slide.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Este slide complementa a comparação anterior com o tempo de treinamento, as curvas de validação e exemplos das traduções produzidas.</a:t>
            </a:r>
          </a:p>
          <a:p>
            <a:r>
              <a:rPr lang="pt-BR" dirty="0"/>
              <a:t>[Aponte para o gráfico de tempo.]</a:t>
            </a:r>
          </a:p>
          <a:p>
            <a:r>
              <a:rPr lang="pt-BR" dirty="0"/>
              <a:t>Na configuração avaliada, uma época levou 21,9 segundos para o Transformer e 58 segundos para o LSTM. A razão entre esses tempos é aproximadamente 2,6.</a:t>
            </a:r>
          </a:p>
          <a:p>
            <a:r>
              <a:rPr lang="pt-BR" dirty="0"/>
              <a:t>O processamento paralelo das posições durante o treinamento favorece o Transformer. No LSTM, o cálculo do estado de uma posição depende do estado anterior.</a:t>
            </a:r>
          </a:p>
          <a:p>
            <a:r>
              <a:rPr lang="pt-BR" dirty="0"/>
              <a:t>Entretanto, a diferença medida também depende do tamanho dos modelos, da implementação e das condições de execução. Por isso, não podemos atribuir todo o ganho observado exclusivamente ao mecanismo de atenção.</a:t>
            </a:r>
          </a:p>
          <a:p>
            <a:r>
              <a:rPr lang="pt-BR" dirty="0"/>
              <a:t>[Aponte para as curvas de validação.]</a:t>
            </a:r>
          </a:p>
          <a:p>
            <a:r>
              <a:rPr lang="pt-BR" dirty="0"/>
              <a:t>À esquerda, temos a perplexidade no conjunto de validação. Essa métrica está relacionada à probabilidade que o modelo atribui aos tokens corretos. Mantendo a mesma </a:t>
            </a:r>
            <a:r>
              <a:rPr lang="pt-BR" dirty="0" err="1"/>
              <a:t>tokenização</a:t>
            </a:r>
            <a:r>
              <a:rPr lang="pt-BR" dirty="0"/>
              <a:t> e o mesmo protocolo, valores menores indicam melhores previsões segundo esse critério.</a:t>
            </a:r>
          </a:p>
          <a:p>
            <a:r>
              <a:rPr lang="pt-BR" dirty="0"/>
              <a:t>Matematicamente, ela corresponde à exponencial da média do negativo do logaritmo dessas probabilidades.</a:t>
            </a:r>
          </a:p>
          <a:p>
            <a:r>
              <a:rPr lang="pt-BR" dirty="0"/>
              <a:t>O LSTM melhora rapidamente nas primeiras épocas e atinge aproximadamente 7,7 na época oito. O Transformer com oito cabeças começa com perplexidade maior, passa a apresentar valores menores que os do LSTM por volta da quinta época e chega a aproximadamente 5,8.</a:t>
            </a:r>
          </a:p>
          <a:p>
            <a:r>
              <a:rPr lang="pt-BR" dirty="0"/>
              <a:t>As estrelas identificam os checkpoints selecionados pela validação para a avaliação no teste.</a:t>
            </a:r>
          </a:p>
          <a:p>
            <a:r>
              <a:rPr lang="pt-BR" dirty="0"/>
              <a:t>A pequena piora posterior do LSTM pode sugerir </a:t>
            </a:r>
            <a:r>
              <a:rPr lang="pt-BR" dirty="0" err="1"/>
              <a:t>sobreajuste</a:t>
            </a:r>
            <a:r>
              <a:rPr lang="pt-BR" dirty="0"/>
              <a:t>. Para sustentar essa interpretação, também precisaríamos observar sua curva de treinamento. Da mesma forma, atribuir o início mais lento do Transformer ao </a:t>
            </a:r>
            <a:r>
              <a:rPr lang="pt-BR" dirty="0" err="1"/>
              <a:t>warmup</a:t>
            </a:r>
            <a:r>
              <a:rPr lang="pt-BR" dirty="0"/>
              <a:t> exigiria analisar o efeito dessa configuração.</a:t>
            </a:r>
          </a:p>
          <a:p>
            <a:r>
              <a:rPr lang="pt-BR" dirty="0"/>
              <a:t>[Aponte para os exemplos de tradução.]</a:t>
            </a:r>
          </a:p>
          <a:p>
            <a:r>
              <a:rPr lang="pt-BR" dirty="0"/>
              <a:t>No primeiro exemplo, sobre pessoas consertando o telhado de uma casa, o Transformer produz uma tradução igual à referência apresentada. O LSTM preserva o sentido principal, mas sua saída omite o verbo auxiliar.</a:t>
            </a:r>
          </a:p>
          <a:p>
            <a:r>
              <a:rPr lang="pt-BR" dirty="0"/>
              <a:t>Esse exemplo ajuda a visualizar uma diferença, embora uma única frase não represente o desempenho de todo o conjunto.</a:t>
            </a:r>
          </a:p>
          <a:p>
            <a:r>
              <a:rPr lang="pt-BR" dirty="0"/>
              <a:t>No exemplo adicional do macaco, o Transformer preserva parte do sentido inicial, mas altera o número de “banana” e produz uma continuação com erros lexicais e gramaticais.</a:t>
            </a:r>
          </a:p>
          <a:p>
            <a:r>
              <a:rPr lang="pt-BR" dirty="0"/>
              <a:t>A saída mostra uma limitação concreta do modelo. Atribuir essa falha à baixa frequência de determinadas palavras exigiria verificar suas ocorrências e sua </a:t>
            </a:r>
            <a:r>
              <a:rPr lang="pt-BR" dirty="0" err="1"/>
              <a:t>tokenização</a:t>
            </a:r>
            <a:r>
              <a:rPr lang="pt-BR" dirty="0"/>
              <a:t> no corpus de treinamento.</a:t>
            </a:r>
          </a:p>
          <a:p>
            <a:r>
              <a:rPr lang="pt-BR" dirty="0"/>
              <a:t>Assim, os resultados combinam uma vantagem observada nas métricas deste experimento com exemplos de erros que ainda permanecem. Isso nos leva à discussão das limitações e das possíveis melhorias da arquitetura.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8236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[1:30] Análise crítica (opinião sua; deixe claro). Pontos fortes: paralelismo, caminho direto entre quaisquer tokens e um bloco genérico reaproveitado por quase toda a área. Limitações: o custo O(n²·d) da matriz n × n, que pesa em textos longos; a avaliação estreita (BLEU, sem avaliação humana); a geração continua sequencial e o cache de keys e values cresce. Melhorias que vieram depois: compartilhar K/V entre cabeças (MQA/GQA, figura), atenção eficiente, codificações de posição relativas como a RoPE, e Pre-LN. Panorama atual dessas melhorias (FlashAttention, PagedAttention, speculative decoding): Roitman (2026).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2777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[1:20] Recapitulação final sobre a Figura 1 com a frase do macaco: tokens e embeddings com posição; self-attention ("ele" → "macaco"); Add &amp; Norm e FFN em 6 camadas; o decoder mascarado; a cross-attention que busca "macaco" para gerar "monkey"; a softmax de saída. Treino em paralelo, inferência token a token. Termine com as três perguntas. Respostas: (1) W_Q são parâmetros aprendidos e fixos após o treino; os pesos de atenção são calculados para cada frase; (2) para que o peso do futuro seja exatamente zero e as linhas continuem somando 1; (3) Q do decoder; K e V do encoder.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4404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de apoio para as perguntas; não conta no tempo.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3A3C0-6B5A-4B5A-9504-879B374278FF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924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 min (dentro dos 5 de perguntas)</a:t>
            </a:r>
          </a:p>
          <a:p>
            <a:r>
              <a:rPr lang="pt-BR"/>
              <a:t>OBJETIVO: Fixar os conceitos com a turma.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—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Quiz rápido para fixar: peço que escaneiem o QR code. Enquanto respondem, abro para perguntas.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254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CB00A-64CC-4751-A5EA-C907A7F9E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8528BC-7438-471D-93C3-64F941125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59F90C-BEC6-4710-9867-006CEB1A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15C5A6-46EC-4936-B8C4-97CF4E42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7E59CB-1649-4198-AA35-A00640AA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329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47B3F-5C74-437B-9586-8DEE072C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73701C-3A65-4E0A-B71A-706FE1BA3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D76D05-9601-461F-8CBE-2EBFAA990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8D7B04-46CF-4C3F-B8C3-02308C83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EE8DE9-D14B-4AD5-B1D6-737FF198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79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2D003-FA41-4894-808B-40731FFB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40C3B2-8449-40CD-A7F5-3DFE6A363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92FBC2-E653-43C8-AA21-471E2C40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12E058-1E49-407E-92F0-519EBD3D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228FF0-2C6F-4F2A-998D-235D3202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5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19D5F-B642-4B9B-940F-F5BBFBB2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A94C9-6D43-4BA0-A60F-DE0B5DE69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757613-DF50-467B-B04F-93439F526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7E0D35-403A-4157-86EA-462383AE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C114DF-D1B4-4326-9C42-CBAE1B05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2C82F0-FE35-4B3A-8E1F-8D950C95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48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87624-1338-4C1B-B4EC-5C5755F8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C2FA9C-2873-4140-9565-BDE098191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A77525-E312-41E5-8315-C7BBA2ADD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FD6BBA-5147-47F0-80FC-BF609637E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E2E160-4AC6-4D8F-9A03-8C395B4FB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3EA936-2E1F-415C-B35E-73695F8D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CA29D7-B390-4869-9C2F-FA6DBA36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CF86CEF-160C-43DE-81A3-45787E6D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860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7739C-3F76-49CD-B8CA-F1737C0B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94E333-6075-4FA9-B21C-34B97278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797EA0-977B-4194-A75E-772632C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A4B158-5668-41F7-8742-C620ED79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479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E8968F-9470-40AE-89BC-E467123F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C4F42F-9596-4908-A475-45153124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0E5D00-EAD2-46AD-910C-A6D897AB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996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2678A-9F9B-4054-AB58-C0908DE2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6419C9-CD9F-4AD9-AD8D-5F540CCC4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EBD8AB-3E99-4120-AF9A-A82DC2605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E556AE-2D84-498A-9276-2A045281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4FF1B6-7B7A-4538-9E1C-ADA738DE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70B118-D829-474A-8E89-C0E73AF8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25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18B0D-5682-44AC-B39A-6D55013F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A45EFE-12F5-43EB-A853-2B31F313F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029084-6C54-4792-B146-2539895CC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E48DF5-3795-413E-897C-3E31A50E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C90B72-6D4D-4AB7-8249-9EED1A4A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338909-FB06-42E6-98E1-960326C5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259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59D5C-6525-491D-9F7D-A72F8585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2C2CE5-81F5-462B-9B0B-92F5D45D9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34F79-E072-4BA6-BA29-0119D6CF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7BC19B-2D2A-46D2-B067-B6BE5CC40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5A8B24-D9A9-41A8-BB29-547A913D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1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36524-9A81-456F-8B02-35F66A271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3E823B-C3E4-41A0-A138-48C709BBD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5757D4-AC92-4824-A411-37D6354F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5D5F2D-AE8E-4F35-92C7-EAE73141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F518B2-E8B5-4D46-AF17-ECC727B4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217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CA37A7-1B3B-4A90-B916-5A2F876E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BFAE33-AB5B-401D-8902-6ADBCF252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674C46-EE92-4AF2-ABC9-C7ACD3831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DEA5-C436-4D67-AEF5-35D09C0741B7}" type="datetimeFigureOut">
              <a:rPr lang="es-ES" smtClean="0"/>
              <a:t>08/10/2026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55143-FF1D-40B9-B982-D9F0DE0A2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0F0181-4EB5-475D-8E04-421215BDB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BA935-356A-4867-82C8-9CE5B230BE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8511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8gPrqnk9qUkxrnb28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026" y="532593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endParaRPr lang="pt-BR" b="1" i="1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ulo 3">
            <a:extLst>
              <a:ext uri="{FF2B5EF4-FFF2-40B4-BE49-F238E27FC236}">
                <a16:creationId xmlns:a16="http://schemas.microsoft.com/office/drawing/2014/main" id="{29209150-E8AF-4C2F-8AE7-E76BF53B225D}"/>
              </a:ext>
            </a:extLst>
          </p:cNvPr>
          <p:cNvSpPr txBox="1">
            <a:spLocks/>
          </p:cNvSpPr>
          <p:nvPr/>
        </p:nvSpPr>
        <p:spPr>
          <a:xfrm>
            <a:off x="3843414" y="2633980"/>
            <a:ext cx="6766560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6000" b="1" dirty="0">
                <a:solidFill>
                  <a:srgbClr val="1B2A41"/>
                </a:solidFill>
                <a:latin typeface="Cambria"/>
                <a:cs typeface="Cambria"/>
              </a:rPr>
              <a:t>Transformers</a:t>
            </a:r>
          </a:p>
        </p:txBody>
      </p:sp>
      <p:sp>
        <p:nvSpPr>
          <p:cNvPr id="7" name="Autor 5">
            <a:extLst>
              <a:ext uri="{FF2B5EF4-FFF2-40B4-BE49-F238E27FC236}">
                <a16:creationId xmlns:a16="http://schemas.microsoft.com/office/drawing/2014/main" id="{DF919424-386B-4EF5-A61E-C552B3BA05FF}"/>
              </a:ext>
            </a:extLst>
          </p:cNvPr>
          <p:cNvSpPr txBox="1">
            <a:spLocks/>
          </p:cNvSpPr>
          <p:nvPr/>
        </p:nvSpPr>
        <p:spPr>
          <a:xfrm>
            <a:off x="8746516" y="5982507"/>
            <a:ext cx="3424936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Bryan Fernando Sarango Rodriguez</a:t>
            </a:r>
          </a:p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bryan.rodriguez@dtel.Inatel.br	</a:t>
            </a:r>
          </a:p>
        </p:txBody>
      </p:sp>
    </p:spTree>
    <p:extLst>
      <p:ext uri="{BB962C8B-B14F-4D97-AF65-F5344CB8AC3E}">
        <p14:creationId xmlns:p14="http://schemas.microsoft.com/office/powerpoint/2010/main" val="367590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76F5E8-DDA1-468C-830B-7CC6336CA119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ABERTURA · CONTEXTO DO 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660D45-8832-4343-89D9-70D83989D1D1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De uma arquitetura por tarefa a uma arquitetura para tudo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92C6CD2-78A7-4E1B-B990-8AA2C8D0EC0B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Antes de 2017, cada problema tinha seu modelo; depois, o mesmo bloco serve para quase tudo.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8A6F61-9AE0-4574-9958-2CFB7132D269}"/>
              </a:ext>
            </a:extLst>
          </p:cNvPr>
          <p:cNvSpPr txBox="1"/>
          <p:nvPr/>
        </p:nvSpPr>
        <p:spPr>
          <a:xfrm>
            <a:off x="508000" y="1422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Antes: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uma arquitetura por tarefa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FIG_c05">
            <a:extLst>
              <a:ext uri="{FF2B5EF4-FFF2-40B4-BE49-F238E27FC236}">
                <a16:creationId xmlns:a16="http://schemas.microsoft.com/office/drawing/2014/main" id="{38A9A445-8177-4E21-9DCF-F58E8F2F75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9" y="1791732"/>
            <a:ext cx="8272929" cy="336446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B57FD3D-FD89-4D84-B969-9DDF690636ED}"/>
              </a:ext>
            </a:extLst>
          </p:cNvPr>
          <p:cNvSpPr/>
          <p:nvPr/>
        </p:nvSpPr>
        <p:spPr>
          <a:xfrm>
            <a:off x="574674" y="1802845"/>
            <a:ext cx="1344351" cy="164250"/>
          </a:xfrm>
          <a:prstGeom prst="rect">
            <a:avLst/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Visão</a:t>
            </a:r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 (CNN)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317833-255E-4491-8455-84E822C78B1B}"/>
              </a:ext>
            </a:extLst>
          </p:cNvPr>
          <p:cNvSpPr/>
          <p:nvPr/>
        </p:nvSpPr>
        <p:spPr>
          <a:xfrm>
            <a:off x="574674" y="3447495"/>
            <a:ext cx="1447763" cy="164250"/>
          </a:xfrm>
          <a:prstGeom prst="rect">
            <a:avLst/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Tradução</a:t>
            </a:r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 (RNN)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59CDA9-B7A1-40D7-A4C1-10A11D262781}"/>
              </a:ext>
            </a:extLst>
          </p:cNvPr>
          <p:cNvSpPr/>
          <p:nvPr/>
        </p:nvSpPr>
        <p:spPr>
          <a:xfrm>
            <a:off x="5168013" y="1791732"/>
            <a:ext cx="1551174" cy="164250"/>
          </a:xfrm>
          <a:prstGeom prst="rect">
            <a:avLst/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Sequências</a:t>
            </a:r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 (LSTM)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68CEF25-1687-4F0A-9E34-5A45522FD5C3}"/>
              </a:ext>
            </a:extLst>
          </p:cNvPr>
          <p:cNvSpPr/>
          <p:nvPr/>
        </p:nvSpPr>
        <p:spPr>
          <a:xfrm>
            <a:off x="7137437" y="2643482"/>
            <a:ext cx="1447763" cy="164250"/>
          </a:xfrm>
          <a:prstGeom prst="rect">
            <a:avLst/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Fala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89D1247-0CA2-47B7-A99B-5A5AD482302B}"/>
              </a:ext>
            </a:extLst>
          </p:cNvPr>
          <p:cNvCxnSpPr/>
          <p:nvPr/>
        </p:nvCxnSpPr>
        <p:spPr>
          <a:xfrm>
            <a:off x="8255000" y="2747407"/>
            <a:ext cx="660400" cy="0"/>
          </a:xfrm>
          <a:prstGeom prst="line">
            <a:avLst/>
          </a:prstGeom>
          <a:ln w="31750">
            <a:solidFill>
              <a:srgbClr val="0E7C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0B1EF8-C9F1-4F61-9471-33D4726E0FA7}"/>
              </a:ext>
            </a:extLst>
          </p:cNvPr>
          <p:cNvSpPr txBox="1"/>
          <p:nvPr/>
        </p:nvSpPr>
        <p:spPr>
          <a:xfrm>
            <a:off x="9324788" y="1379498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Depois</a:t>
            </a:r>
            <a:r>
              <a:rPr lang="es-ES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:</a:t>
            </a:r>
            <a:r>
              <a:rPr lang="es-ES" sz="1500" dirty="0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es-ES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um</a:t>
            </a:r>
            <a:r>
              <a:rPr lang="es-ES" sz="1500" dirty="0">
                <a:solidFill>
                  <a:srgbClr val="1B2A41"/>
                </a:solidFill>
                <a:latin typeface="Calibri" panose="020F0502020204030204" pitchFamily="34" charset="0"/>
              </a:rPr>
              <a:t> único bloco</a:t>
            </a:r>
          </a:p>
        </p:txBody>
      </p:sp>
      <p:pic>
        <p:nvPicPr>
          <p:cNvPr id="15" name="FIG_c06">
            <a:extLst>
              <a:ext uri="{FF2B5EF4-FFF2-40B4-BE49-F238E27FC236}">
                <a16:creationId xmlns:a16="http://schemas.microsoft.com/office/drawing/2014/main" id="{A1E248A7-2D7A-42F1-8D8D-1489BDF4FB4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1701799"/>
            <a:ext cx="2641600" cy="3959411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9F838E4-4AB3-48EB-A390-BB68A7CD5411}"/>
              </a:ext>
            </a:extLst>
          </p:cNvPr>
          <p:cNvSpPr/>
          <p:nvPr/>
        </p:nvSpPr>
        <p:spPr>
          <a:xfrm>
            <a:off x="5080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Tradução</a:t>
            </a:r>
            <a:endParaRPr lang="es-ES" sz="1500" b="1" dirty="0">
              <a:solidFill>
                <a:srgbClr val="0E7C8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CCEBB8F-2013-48BA-BA25-6895D886FEEB}"/>
              </a:ext>
            </a:extLst>
          </p:cNvPr>
          <p:cNvSpPr/>
          <p:nvPr/>
        </p:nvSpPr>
        <p:spPr>
          <a:xfrm>
            <a:off x="23622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ChatGPT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 / GPT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CC5E158-3075-4ADE-8532-6CB23279C3B6}"/>
              </a:ext>
            </a:extLst>
          </p:cNvPr>
          <p:cNvSpPr/>
          <p:nvPr/>
        </p:nvSpPr>
        <p:spPr>
          <a:xfrm>
            <a:off x="42164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Busca (BERT)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402830F-94CA-4EA6-931C-AE67516C8255}"/>
              </a:ext>
            </a:extLst>
          </p:cNvPr>
          <p:cNvSpPr/>
          <p:nvPr/>
        </p:nvSpPr>
        <p:spPr>
          <a:xfrm>
            <a:off x="60706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Visão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 (</a:t>
            </a:r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ViT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450C742-F7E5-486F-9798-F06EF9B98B5E}"/>
              </a:ext>
            </a:extLst>
          </p:cNvPr>
          <p:cNvSpPr/>
          <p:nvPr/>
        </p:nvSpPr>
        <p:spPr>
          <a:xfrm>
            <a:off x="79248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Fala (</a:t>
            </a:r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Whisper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DD1C7FAE-2125-4A97-BA93-64442A5F9455}"/>
              </a:ext>
            </a:extLst>
          </p:cNvPr>
          <p:cNvSpPr/>
          <p:nvPr/>
        </p:nvSpPr>
        <p:spPr>
          <a:xfrm>
            <a:off x="9779000" y="5687568"/>
            <a:ext cx="1727200" cy="54864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Proteínas (</a:t>
            </a:r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AlphaFold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AA8C71A-0426-433B-B167-A97A98DB97BA}"/>
              </a:ext>
            </a:extLst>
          </p:cNvPr>
          <p:cNvSpPr txBox="1"/>
          <p:nvPr/>
        </p:nvSpPr>
        <p:spPr>
          <a:xfrm>
            <a:off x="508000" y="5358384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Hoje, o mesmo bloco aparece em: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6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312F99-DBD5-46C3-89D3-C6C734BD1C87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ABERTURA · PROBLEMA E MOTIVAÇÃO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57D9B7-9D34-4579-8F1F-456F870FD6F1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O gargalo das </a:t>
            </a:r>
            <a:r>
              <a:rPr lang="pt-BR" sz="3000" b="1" dirty="0" err="1">
                <a:solidFill>
                  <a:srgbClr val="1B2A41"/>
                </a:solidFill>
                <a:latin typeface="Cambria" panose="02040503050406030204" pitchFamily="18" charset="0"/>
              </a:rPr>
              <a:t>RNNs</a:t>
            </a:r>
            <a:r>
              <a:rPr lang="pt-BR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 e a ideia da atenção</a:t>
            </a:r>
            <a:endParaRPr lang="es-ES" sz="3000" b="1" dirty="0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163CEB-0EC6-42AF-9650-34834197063F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Traduzir exige olhar para o contexto certo, mesmo distante; e a RNN processa uma palavra por vez.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2B9B15-3AE9-40B0-B468-A8BFEE9C40EF}"/>
              </a:ext>
            </a:extLst>
          </p:cNvPr>
          <p:cNvSpPr txBox="1"/>
          <p:nvPr/>
        </p:nvSpPr>
        <p:spPr>
          <a:xfrm>
            <a:off x="508000" y="13716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2014 · Seq2Seq: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tudo num único vetor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BDDCC7-345B-461C-99DC-CD3EBFA5A0F4}"/>
              </a:ext>
            </a:extLst>
          </p:cNvPr>
          <p:cNvSpPr txBox="1"/>
          <p:nvPr/>
        </p:nvSpPr>
        <p:spPr>
          <a:xfrm>
            <a:off x="6223000" y="13716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2015 · Atenção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(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Bahdanau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et al.)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FIG_c08">
            <a:extLst>
              <a:ext uri="{FF2B5EF4-FFF2-40B4-BE49-F238E27FC236}">
                <a16:creationId xmlns:a16="http://schemas.microsoft.com/office/drawing/2014/main" id="{6F8AF063-B75F-45C2-B6DF-D6FD85B666F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5461000" cy="242183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B5A989D-6504-4D93-990D-B515341637A9}"/>
              </a:ext>
            </a:extLst>
          </p:cNvPr>
          <p:cNvSpPr/>
          <p:nvPr/>
        </p:nvSpPr>
        <p:spPr>
          <a:xfrm>
            <a:off x="508000" y="1698487"/>
            <a:ext cx="1816376" cy="7954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00" dirty="0">
                <a:solidFill>
                  <a:srgbClr val="1B2A41"/>
                </a:solidFill>
                <a:latin typeface="Calibri" panose="020F0502020204030204" pitchFamily="34" charset="0"/>
              </a:rPr>
              <a:t>Toda a informação comprimida</a:t>
            </a:r>
          </a:p>
          <a:p>
            <a:pPr algn="ctr"/>
            <a:r>
              <a:rPr lang="pt-BR" sz="1300" dirty="0">
                <a:solidFill>
                  <a:srgbClr val="1B2A41"/>
                </a:solidFill>
                <a:latin typeface="Calibri" panose="020F0502020204030204" pitchFamily="34" charset="0"/>
              </a:rPr>
              <a:t>neste único estado oculto</a:t>
            </a:r>
            <a:endParaRPr lang="es-ES" sz="13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pic>
        <p:nvPicPr>
          <p:cNvPr id="11" name="FIG_c09">
            <a:extLst>
              <a:ext uri="{FF2B5EF4-FFF2-40B4-BE49-F238E27FC236}">
                <a16:creationId xmlns:a16="http://schemas.microsoft.com/office/drawing/2014/main" id="{7BC58625-1C49-49EB-942F-D7A2E8C20AC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651000"/>
            <a:ext cx="5461000" cy="2421835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8CC50C2-1DC8-44E8-BC45-BC676C17A7BD}"/>
              </a:ext>
            </a:extLst>
          </p:cNvPr>
          <p:cNvSpPr/>
          <p:nvPr/>
        </p:nvSpPr>
        <p:spPr>
          <a:xfrm>
            <a:off x="6227064" y="1645920"/>
            <a:ext cx="1828800" cy="530352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pt-BR" sz="1300" dirty="0">
                <a:solidFill>
                  <a:srgbClr val="1B2A41"/>
                </a:solidFill>
                <a:latin typeface="Calibri" panose="020F0502020204030204" pitchFamily="34" charset="0"/>
              </a:rPr>
              <a:t>A cada passo, olha para as partes importantes da origem</a:t>
            </a:r>
            <a:endParaRPr lang="es-ES" sz="13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BA62AF1-8B3E-474B-BFE0-13E2AE15E430}"/>
              </a:ext>
            </a:extLst>
          </p:cNvPr>
          <p:cNvSpPr txBox="1"/>
          <p:nvPr/>
        </p:nvSpPr>
        <p:spPr>
          <a:xfrm>
            <a:off x="508000" y="4140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Exemplo da figura: turco → inglês (“Çizgiyi geçtin!” → “Over the line!”)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0473B75-27C8-460E-B17F-C9D3353FDA10}"/>
              </a:ext>
            </a:extLst>
          </p:cNvPr>
          <p:cNvSpPr/>
          <p:nvPr/>
        </p:nvSpPr>
        <p:spPr>
          <a:xfrm>
            <a:off x="508000" y="4445000"/>
            <a:ext cx="11176000" cy="19050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F873F53-6055-4824-8307-B340ECB82E24}"/>
              </a:ext>
            </a:extLst>
          </p:cNvPr>
          <p:cNvSpPr txBox="1"/>
          <p:nvPr/>
        </p:nvSpPr>
        <p:spPr>
          <a:xfrm>
            <a:off x="762000" y="4597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Por que o contexto importa?</a:t>
            </a:r>
            <a:endParaRPr lang="es-ES" sz="1500" b="1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AAAC37A-E40C-4E55-A04C-488D35BA6873}"/>
              </a:ext>
            </a:extLst>
          </p:cNvPr>
          <p:cNvSpPr txBox="1"/>
          <p:nvPr/>
        </p:nvSpPr>
        <p:spPr>
          <a:xfrm>
            <a:off x="762000" y="4978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>
                <a:solidFill>
                  <a:srgbClr val="1B2A41"/>
                </a:solidFill>
                <a:latin typeface="Calibri" panose="020F0502020204030204" pitchFamily="34" charset="0"/>
              </a:rPr>
              <a:t>Sentei no </a:t>
            </a:r>
            <a:r>
              <a:rPr lang="pt-BR" b="1">
                <a:solidFill>
                  <a:srgbClr val="0E7C86"/>
                </a:solidFill>
                <a:latin typeface="Calibri" panose="020F0502020204030204" pitchFamily="34" charset="0"/>
              </a:rPr>
              <a:t>banco</a:t>
            </a:r>
            <a:r>
              <a:rPr lang="pt-BR">
                <a:solidFill>
                  <a:srgbClr val="1B2A41"/>
                </a:solidFill>
                <a:latin typeface="Calibri" panose="020F0502020204030204" pitchFamily="34" charset="0"/>
              </a:rPr>
              <a:t> da </a:t>
            </a:r>
            <a:r>
              <a:rPr lang="pt-BR" b="1">
                <a:solidFill>
                  <a:srgbClr val="1B2A41"/>
                </a:solidFill>
                <a:latin typeface="Calibri" panose="020F0502020204030204" pitchFamily="34" charset="0"/>
              </a:rPr>
              <a:t>praça</a:t>
            </a:r>
            <a:r>
              <a:rPr lang="pt-BR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s-ES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B27D302-8CDA-4303-9653-9B8041390A2B}"/>
              </a:ext>
            </a:extLst>
          </p:cNvPr>
          <p:cNvSpPr txBox="1"/>
          <p:nvPr/>
        </p:nvSpPr>
        <p:spPr>
          <a:xfrm>
            <a:off x="762000" y="5334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5A6270"/>
                </a:solidFill>
                <a:latin typeface="Calibri" panose="020F0502020204030204" pitchFamily="34" charset="0"/>
              </a:rPr>
              <a:t>→ assento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DD3416F-1776-46F8-80D3-E313E9906C74}"/>
              </a:ext>
            </a:extLst>
          </p:cNvPr>
          <p:cNvSpPr txBox="1"/>
          <p:nvPr/>
        </p:nvSpPr>
        <p:spPr>
          <a:xfrm>
            <a:off x="6096000" y="4978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>
                <a:solidFill>
                  <a:srgbClr val="1B2A41"/>
                </a:solidFill>
                <a:latin typeface="Calibri" panose="020F0502020204030204" pitchFamily="34" charset="0"/>
              </a:rPr>
              <a:t>Depositei </a:t>
            </a:r>
            <a:r>
              <a:rPr lang="es-ES" b="1">
                <a:solidFill>
                  <a:srgbClr val="1B2A41"/>
                </a:solidFill>
                <a:latin typeface="Calibri" panose="020F0502020204030204" pitchFamily="34" charset="0"/>
              </a:rPr>
              <a:t>dinheiro</a:t>
            </a:r>
            <a:r>
              <a:rPr lang="es-ES">
                <a:solidFill>
                  <a:srgbClr val="1B2A41"/>
                </a:solidFill>
                <a:latin typeface="Calibri" panose="020F0502020204030204" pitchFamily="34" charset="0"/>
              </a:rPr>
              <a:t> no </a:t>
            </a:r>
            <a:r>
              <a:rPr lang="es-ES" b="1">
                <a:solidFill>
                  <a:srgbClr val="0E7C86"/>
                </a:solidFill>
                <a:latin typeface="Calibri" panose="020F0502020204030204" pitchFamily="34" charset="0"/>
              </a:rPr>
              <a:t>banco</a:t>
            </a:r>
            <a:r>
              <a:rPr lang="es-ES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E69CE0-4A77-48DC-B677-CAF8EEE8BA4B}"/>
              </a:ext>
            </a:extLst>
          </p:cNvPr>
          <p:cNvSpPr txBox="1"/>
          <p:nvPr/>
        </p:nvSpPr>
        <p:spPr>
          <a:xfrm>
            <a:off x="6096000" y="5334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5A6270"/>
                </a:solidFill>
                <a:latin typeface="Calibri" panose="020F0502020204030204" pitchFamily="34" charset="0"/>
              </a:rPr>
              <a:t>→ instituição financeira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2AAA12F-62D6-4F21-A1A9-E5428A2BD519}"/>
              </a:ext>
            </a:extLst>
          </p:cNvPr>
          <p:cNvSpPr txBox="1"/>
          <p:nvPr/>
        </p:nvSpPr>
        <p:spPr>
          <a:xfrm>
            <a:off x="762000" y="57404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Mesma palavra, significados diferentes: o modelo precisa relacionar cada palavra com as outras, próximas ou distantes.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06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5DF596-2F89-42F4-AD01-D92163F35722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INTRODUÇÃO DO ARTIGO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41ECDE-19DB-4DEF-9DB8-5317258674BB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000" b="1">
                <a:solidFill>
                  <a:srgbClr val="1B2A41"/>
                </a:solidFill>
                <a:latin typeface="Cambria" panose="02040503050406030204" pitchFamily="18" charset="0"/>
              </a:rPr>
              <a:t>Attention Is All You Need (NeurIPS 2017)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F7E198-DE03-45CB-9E5D-DC35512210C2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Proposta: trocar a recorrência por atenção, e somente atenção.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6b">
            <a:extLst>
              <a:ext uri="{FF2B5EF4-FFF2-40B4-BE49-F238E27FC236}">
                <a16:creationId xmlns:a16="http://schemas.microsoft.com/office/drawing/2014/main" id="{A8BC5894-54CC-456E-B934-6D38DABB8DC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473200"/>
            <a:ext cx="5334000" cy="22525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8D0210E-CF0F-4328-B0D0-8D41A666F286}"/>
              </a:ext>
            </a:extLst>
          </p:cNvPr>
          <p:cNvSpPr txBox="1"/>
          <p:nvPr/>
        </p:nvSpPr>
        <p:spPr>
          <a:xfrm>
            <a:off x="508000" y="3784600"/>
            <a:ext cx="5334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Autores: Google </a:t>
            </a:r>
            <a:r>
              <a:rPr lang="es-ES" sz="1300" dirty="0" err="1">
                <a:solidFill>
                  <a:srgbClr val="5A6270"/>
                </a:solidFill>
                <a:latin typeface="Calibri" panose="020F0502020204030204" pitchFamily="34" charset="0"/>
              </a:rPr>
              <a:t>Brain</a:t>
            </a:r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, Google </a:t>
            </a:r>
            <a:r>
              <a:rPr lang="es-ES" sz="1300" dirty="0" err="1">
                <a:solidFill>
                  <a:srgbClr val="5A6270"/>
                </a:solidFill>
                <a:latin typeface="Calibri" panose="020F0502020204030204" pitchFamily="34" charset="0"/>
              </a:rPr>
              <a:t>Research</a:t>
            </a:r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 e Univ. de Toronto · arXiv:1706.03762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0125A3E-017E-4F79-BA98-DC4F49941C19}"/>
              </a:ext>
            </a:extLst>
          </p:cNvPr>
          <p:cNvSpPr/>
          <p:nvPr/>
        </p:nvSpPr>
        <p:spPr>
          <a:xfrm>
            <a:off x="508000" y="4318000"/>
            <a:ext cx="5334000" cy="17780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98B4F0-EF8C-416D-9EEA-964D62639132}"/>
              </a:ext>
            </a:extLst>
          </p:cNvPr>
          <p:cNvSpPr txBox="1"/>
          <p:nvPr/>
        </p:nvSpPr>
        <p:spPr>
          <a:xfrm>
            <a:off x="762000" y="4495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HIPÓTESE (IMPLÍCITA)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FD7E71-5647-4B2C-943B-D49B745FA6B3}"/>
              </a:ext>
            </a:extLst>
          </p:cNvPr>
          <p:cNvSpPr txBox="1"/>
          <p:nvPr/>
        </p:nvSpPr>
        <p:spPr>
          <a:xfrm>
            <a:off x="762000" y="4775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Atenção basta para modelar a relação entre tokens, com tradução igual ou melhor e treino muito mais rápido e paralelo.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F24D5DF-4BCB-4EA4-8C0E-17DF9DEAF88A}"/>
              </a:ext>
            </a:extLst>
          </p:cNvPr>
          <p:cNvSpPr/>
          <p:nvPr/>
        </p:nvSpPr>
        <p:spPr>
          <a:xfrm>
            <a:off x="6223000" y="1524000"/>
            <a:ext cx="381000" cy="381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C5CD68-4DAA-4B20-83F4-B94A8D7BF23A}"/>
              </a:ext>
            </a:extLst>
          </p:cNvPr>
          <p:cNvSpPr txBox="1"/>
          <p:nvPr/>
        </p:nvSpPr>
        <p:spPr>
          <a:xfrm>
            <a:off x="6731000" y="1498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Objetivo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Propor o Transformer: encoder-decoder baseado só em atenção, sem RNN e sem CNN.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838575A-E042-4542-972C-53078F6034A7}"/>
              </a:ext>
            </a:extLst>
          </p:cNvPr>
          <p:cNvSpPr/>
          <p:nvPr/>
        </p:nvSpPr>
        <p:spPr>
          <a:xfrm>
            <a:off x="6223000" y="2667000"/>
            <a:ext cx="381000" cy="381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4374520-0AB6-4763-9DF0-831751D847A1}"/>
              </a:ext>
            </a:extLst>
          </p:cNvPr>
          <p:cNvSpPr txBox="1"/>
          <p:nvPr/>
        </p:nvSpPr>
        <p:spPr>
          <a:xfrm>
            <a:off x="6731000" y="2692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Contribuições declaradas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479A10D5-2455-4FE9-B8D9-04109F1B81BB}"/>
              </a:ext>
            </a:extLst>
          </p:cNvPr>
          <p:cNvSpPr/>
          <p:nvPr/>
        </p:nvSpPr>
        <p:spPr>
          <a:xfrm>
            <a:off x="6781800" y="31623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500B76C-5B0E-470E-937F-70522743E1A3}"/>
              </a:ext>
            </a:extLst>
          </p:cNvPr>
          <p:cNvSpPr txBox="1"/>
          <p:nvPr/>
        </p:nvSpPr>
        <p:spPr>
          <a:xfrm>
            <a:off x="7010400" y="30734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Scaled dot-product attention e multi-head attention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8260490-E7FD-4462-B099-105774C24834}"/>
              </a:ext>
            </a:extLst>
          </p:cNvPr>
          <p:cNvSpPr/>
          <p:nvPr/>
        </p:nvSpPr>
        <p:spPr>
          <a:xfrm>
            <a:off x="6781800" y="38989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6F7229-6131-42DB-885B-A3248D4A4B88}"/>
              </a:ext>
            </a:extLst>
          </p:cNvPr>
          <p:cNvSpPr txBox="1"/>
          <p:nvPr/>
        </p:nvSpPr>
        <p:spPr>
          <a:xfrm>
            <a:off x="7010400" y="3810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Positional encoding sinusoidal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E824FED-FE5D-4CDD-B91C-D836F39219DB}"/>
              </a:ext>
            </a:extLst>
          </p:cNvPr>
          <p:cNvSpPr/>
          <p:nvPr/>
        </p:nvSpPr>
        <p:spPr>
          <a:xfrm>
            <a:off x="6781800" y="46355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35708C3-BBCA-453B-8E42-E2C9F6F28EB9}"/>
              </a:ext>
            </a:extLst>
          </p:cNvPr>
          <p:cNvSpPr txBox="1"/>
          <p:nvPr/>
        </p:nvSpPr>
        <p:spPr>
          <a:xfrm>
            <a:off x="7010400" y="45466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Estado da arte no WMT 2014: 28,4 BLEU (EN→DE) e 41,8 (EN→FR)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597582C-EE3C-414F-B27B-BCA63C0A7E50}"/>
              </a:ext>
            </a:extLst>
          </p:cNvPr>
          <p:cNvSpPr/>
          <p:nvPr/>
        </p:nvSpPr>
        <p:spPr>
          <a:xfrm>
            <a:off x="6781800" y="53721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8B5DD9F-8CF9-4E99-91B3-65F0D0F71129}"/>
              </a:ext>
            </a:extLst>
          </p:cNvPr>
          <p:cNvSpPr txBox="1"/>
          <p:nvPr/>
        </p:nvSpPr>
        <p:spPr>
          <a:xfrm>
            <a:off x="7010400" y="52832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Fração do custo de treino; generaliza para análise sintática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7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B0D8D5-E652-4164-99D0-3CB775C521EB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0E7C86"/>
                </a:solidFill>
                <a:latin typeface="Calibri" panose="020F0502020204030204" pitchFamily="34" charset="0"/>
              </a:rPr>
              <a:t>FUNDAMENTAÇÃO · O QUE É UM TRANSFORMER?</a:t>
            </a:r>
            <a:endParaRPr lang="es-ES" sz="1300" b="1">
              <a:solidFill>
                <a:srgbClr val="0E7C8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8CB53C-2521-4ADF-89A5-66362EBC8554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O mapa: Figura 1 do artigo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8CEBE7-F721-41FD-907A-742EFBC873AF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O encoder lê a frase; o decoder gera a tradução. Vamos percorrer cada bloco.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6a">
            <a:extLst>
              <a:ext uri="{FF2B5EF4-FFF2-40B4-BE49-F238E27FC236}">
                <a16:creationId xmlns:a16="http://schemas.microsoft.com/office/drawing/2014/main" id="{24DAC102-4CD6-4BA1-98CF-5AB693087E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397000"/>
            <a:ext cx="3564355" cy="50165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85F17930-C616-4FAA-B419-8AE6CC1F8992}"/>
              </a:ext>
            </a:extLst>
          </p:cNvPr>
          <p:cNvSpPr/>
          <p:nvPr/>
        </p:nvSpPr>
        <p:spPr>
          <a:xfrm>
            <a:off x="1013326" y="5525726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5B867A3-E9DD-4EB0-9FE5-B1FBC7226FBD}"/>
              </a:ext>
            </a:extLst>
          </p:cNvPr>
          <p:cNvSpPr/>
          <p:nvPr/>
        </p:nvSpPr>
        <p:spPr>
          <a:xfrm>
            <a:off x="1013326" y="4438817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538014A-4213-405B-8E75-2EBDEDBAECF4}"/>
              </a:ext>
            </a:extLst>
          </p:cNvPr>
          <p:cNvSpPr/>
          <p:nvPr/>
        </p:nvSpPr>
        <p:spPr>
          <a:xfrm>
            <a:off x="4049629" y="2507024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FDBAD98-1CAD-47DF-B03A-59578E2FC81C}"/>
              </a:ext>
            </a:extLst>
          </p:cNvPr>
          <p:cNvSpPr/>
          <p:nvPr/>
        </p:nvSpPr>
        <p:spPr>
          <a:xfrm>
            <a:off x="1013326" y="3611535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314B85E-4A37-4FD8-BFBD-E8DFA57EB0FE}"/>
              </a:ext>
            </a:extLst>
          </p:cNvPr>
          <p:cNvSpPr/>
          <p:nvPr/>
        </p:nvSpPr>
        <p:spPr>
          <a:xfrm>
            <a:off x="4049629" y="4372811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60615D2-03C1-458E-90C1-853B34DCF861}"/>
              </a:ext>
            </a:extLst>
          </p:cNvPr>
          <p:cNvSpPr/>
          <p:nvPr/>
        </p:nvSpPr>
        <p:spPr>
          <a:xfrm>
            <a:off x="4049629" y="3303504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D265385-79C1-4507-ACBB-C1516A79153E}"/>
              </a:ext>
            </a:extLst>
          </p:cNvPr>
          <p:cNvSpPr/>
          <p:nvPr/>
        </p:nvSpPr>
        <p:spPr>
          <a:xfrm>
            <a:off x="4049629" y="1939368"/>
            <a:ext cx="279400" cy="2794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7C63754-E815-4BE9-B905-EC8741F9EB84}"/>
              </a:ext>
            </a:extLst>
          </p:cNvPr>
          <p:cNvSpPr/>
          <p:nvPr/>
        </p:nvSpPr>
        <p:spPr>
          <a:xfrm>
            <a:off x="5207000" y="14986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39F7B0D-81D7-4E7B-A7D5-05DF578F4023}"/>
              </a:ext>
            </a:extLst>
          </p:cNvPr>
          <p:cNvSpPr txBox="1"/>
          <p:nvPr/>
        </p:nvSpPr>
        <p:spPr>
          <a:xfrm>
            <a:off x="5715000" y="14732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Embedding + positional encoding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texto → vetores com posição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392A5AE6-7563-404A-A6B6-7FF0913E9935}"/>
              </a:ext>
            </a:extLst>
          </p:cNvPr>
          <p:cNvSpPr/>
          <p:nvPr/>
        </p:nvSpPr>
        <p:spPr>
          <a:xfrm>
            <a:off x="5207000" y="21717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697315B-96D3-4411-ADEB-55CA9931E479}"/>
              </a:ext>
            </a:extLst>
          </p:cNvPr>
          <p:cNvSpPr txBox="1"/>
          <p:nvPr/>
        </p:nvSpPr>
        <p:spPr>
          <a:xfrm>
            <a:off x="5715000" y="21463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Multi-head self-attention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cada token consulta todos os outros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628C2C7-A758-4A4F-9337-C3580E53FB7C}"/>
              </a:ext>
            </a:extLst>
          </p:cNvPr>
          <p:cNvSpPr/>
          <p:nvPr/>
        </p:nvSpPr>
        <p:spPr>
          <a:xfrm>
            <a:off x="5207000" y="28448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2F4B23-631E-4F33-914E-95C16B6BD7E6}"/>
              </a:ext>
            </a:extLst>
          </p:cNvPr>
          <p:cNvSpPr txBox="1"/>
          <p:nvPr/>
        </p:nvSpPr>
        <p:spPr>
          <a:xfrm>
            <a:off x="5715000" y="2819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Add &amp; Norm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soma residual + normalização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5E8549AA-F9A4-4A80-93E9-07D53C3FD2D6}"/>
              </a:ext>
            </a:extLst>
          </p:cNvPr>
          <p:cNvSpPr/>
          <p:nvPr/>
        </p:nvSpPr>
        <p:spPr>
          <a:xfrm>
            <a:off x="5207000" y="35179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45E8766-31FC-4CE6-8D81-2D0E1564AD16}"/>
              </a:ext>
            </a:extLst>
          </p:cNvPr>
          <p:cNvSpPr txBox="1"/>
          <p:nvPr/>
        </p:nvSpPr>
        <p:spPr>
          <a:xfrm>
            <a:off x="5715000" y="34925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Feed-forward</a:t>
            </a:r>
          </a:p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transforma cada posição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D6B3D6C-203E-43AD-BBB6-70F505C7CC10}"/>
              </a:ext>
            </a:extLst>
          </p:cNvPr>
          <p:cNvSpPr/>
          <p:nvPr/>
        </p:nvSpPr>
        <p:spPr>
          <a:xfrm>
            <a:off x="5207000" y="41910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4E4BF6-5676-4E6E-A971-F04F79B1F0AD}"/>
              </a:ext>
            </a:extLst>
          </p:cNvPr>
          <p:cNvSpPr txBox="1"/>
          <p:nvPr/>
        </p:nvSpPr>
        <p:spPr>
          <a:xfrm>
            <a:off x="5715000" y="4165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Masked multi-head attention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o decoder não vê o futuro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703B30A-E837-459F-BAAC-B4F3324D7A09}"/>
              </a:ext>
            </a:extLst>
          </p:cNvPr>
          <p:cNvSpPr/>
          <p:nvPr/>
        </p:nvSpPr>
        <p:spPr>
          <a:xfrm>
            <a:off x="5207000" y="48641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0B34388-BC2B-43C4-B883-F8D7F532AB40}"/>
              </a:ext>
            </a:extLst>
          </p:cNvPr>
          <p:cNvSpPr txBox="1"/>
          <p:nvPr/>
        </p:nvSpPr>
        <p:spPr>
          <a:xfrm>
            <a:off x="5715000" y="48387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Cross-attention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o decoder consulta o encoder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777B3B6-04E2-4687-9794-F3F8FCA7E0BE}"/>
              </a:ext>
            </a:extLst>
          </p:cNvPr>
          <p:cNvSpPr/>
          <p:nvPr/>
        </p:nvSpPr>
        <p:spPr>
          <a:xfrm>
            <a:off x="5207000" y="5537200"/>
            <a:ext cx="355600" cy="355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D942F94-A6E7-413D-80B4-16464F7B486D}"/>
              </a:ext>
            </a:extLst>
          </p:cNvPr>
          <p:cNvSpPr txBox="1"/>
          <p:nvPr/>
        </p:nvSpPr>
        <p:spPr>
          <a:xfrm>
            <a:off x="5715000" y="55118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Linear + softmax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probabilidade do próximo token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DEDB89F-05FC-4A53-B042-A563440EA044}"/>
              </a:ext>
            </a:extLst>
          </p:cNvPr>
          <p:cNvSpPr txBox="1"/>
          <p:nvPr/>
        </p:nvSpPr>
        <p:spPr>
          <a:xfrm>
            <a:off x="5207000" y="62484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5A6270"/>
                </a:solidFill>
                <a:latin typeface="Calibri" panose="020F0502020204030204" pitchFamily="34" charset="0"/>
              </a:rPr>
              <a:t>N× = 6 camadas no encoder e 6 no decoder</a:t>
            </a:r>
            <a:endParaRPr lang="es-ES" sz="13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ABDAD8F-05BC-4FD3-9B48-5C3EF41B5B2F}"/>
              </a:ext>
            </a:extLst>
          </p:cNvPr>
          <p:cNvSpPr txBox="1"/>
          <p:nvPr/>
        </p:nvSpPr>
        <p:spPr>
          <a:xfrm>
            <a:off x="508000" y="65278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300">
                <a:solidFill>
                  <a:srgbClr val="5A6270"/>
                </a:solidFill>
                <a:latin typeface="Calibri" panose="020F0502020204030204" pitchFamily="34" charset="0"/>
              </a:rPr>
              <a:t>Figura 1: Vaswani et al. (2017), via Agrawal, S. “Transformers” (Google), p. 26</a:t>
            </a:r>
            <a:endParaRPr lang="es-ES" sz="13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3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DF00E2-4F65-4576-8866-5FDD4C7EFE03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Do texto aos tokens e aos embeddings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202ABB-D249-4502-9DEC-22CBF08C4E51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O tokenizador corta o texto; uma tabela aprendida transforma cada ID em um vetor.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DE259D-0C01-47B4-805F-41C3589B7C1B}"/>
              </a:ext>
            </a:extLst>
          </p:cNvPr>
          <p:cNvSpPr txBox="1"/>
          <p:nvPr/>
        </p:nvSpPr>
        <p:spPr>
          <a:xfrm>
            <a:off x="506984" y="1421384"/>
            <a:ext cx="1095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1B2A41"/>
                </a:solidFill>
                <a:latin typeface="Calibri" panose="020F0502020204030204" pitchFamily="34" charset="0"/>
              </a:rPr>
              <a:t>“O macaco comeu a banana porque ele estava com fome.”</a:t>
            </a:r>
            <a:endParaRPr lang="es-ES" sz="17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5D5521-0920-4349-83B7-D768B1137BBE}"/>
              </a:ext>
            </a:extLst>
          </p:cNvPr>
          <p:cNvSpPr txBox="1"/>
          <p:nvPr/>
        </p:nvSpPr>
        <p:spPr>
          <a:xfrm>
            <a:off x="506984" y="1848719"/>
            <a:ext cx="47625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dirty="0">
                <a:solidFill>
                  <a:srgbClr val="5A6270"/>
                </a:solidFill>
                <a:latin typeface="Calibri" panose="020F0502020204030204" pitchFamily="34" charset="0"/>
              </a:rPr>
              <a:t>tokens (</a:t>
            </a:r>
            <a:r>
              <a:rPr lang="es-ES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subpalavras</a:t>
            </a:r>
            <a:r>
              <a:rPr lang="es-ES" sz="1500" dirty="0">
                <a:solidFill>
                  <a:srgbClr val="5A6270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4B3AE6B-90FE-4F63-B5C0-D30375C165B7}"/>
              </a:ext>
            </a:extLst>
          </p:cNvPr>
          <p:cNvSpPr/>
          <p:nvPr/>
        </p:nvSpPr>
        <p:spPr>
          <a:xfrm>
            <a:off x="506984" y="2151634"/>
            <a:ext cx="539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51A1BF-497E-4D74-B788-0054931114C2}"/>
              </a:ext>
            </a:extLst>
          </p:cNvPr>
          <p:cNvSpPr txBox="1"/>
          <p:nvPr/>
        </p:nvSpPr>
        <p:spPr>
          <a:xfrm>
            <a:off x="506984" y="2659634"/>
            <a:ext cx="539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312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FE59109-EDC7-4B90-A9AA-E04A898BA6C1}"/>
              </a:ext>
            </a:extLst>
          </p:cNvPr>
          <p:cNvSpPr/>
          <p:nvPr/>
        </p:nvSpPr>
        <p:spPr>
          <a:xfrm>
            <a:off x="1173734" y="2151634"/>
            <a:ext cx="793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_mac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553F86-D7C9-4416-9CEA-E5DF3FB7C676}"/>
              </a:ext>
            </a:extLst>
          </p:cNvPr>
          <p:cNvSpPr txBox="1"/>
          <p:nvPr/>
        </p:nvSpPr>
        <p:spPr>
          <a:xfrm>
            <a:off x="1173734" y="26596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4021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D769E36-C2DE-4274-B185-DA447D2D9214}"/>
              </a:ext>
            </a:extLst>
          </p:cNvPr>
          <p:cNvSpPr/>
          <p:nvPr/>
        </p:nvSpPr>
        <p:spPr>
          <a:xfrm>
            <a:off x="2094484" y="2151634"/>
            <a:ext cx="666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aco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FD448C-3BD6-48AA-A32B-5C707DB346E4}"/>
              </a:ext>
            </a:extLst>
          </p:cNvPr>
          <p:cNvSpPr txBox="1"/>
          <p:nvPr/>
        </p:nvSpPr>
        <p:spPr>
          <a:xfrm>
            <a:off x="2094484" y="2659634"/>
            <a:ext cx="666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877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A4B501F-03C2-4057-A02C-3403B49B7E54}"/>
              </a:ext>
            </a:extLst>
          </p:cNvPr>
          <p:cNvSpPr/>
          <p:nvPr/>
        </p:nvSpPr>
        <p:spPr>
          <a:xfrm>
            <a:off x="2888234" y="2151634"/>
            <a:ext cx="1047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_comeu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62958B-148F-483A-ACA9-E52FDC824981}"/>
              </a:ext>
            </a:extLst>
          </p:cNvPr>
          <p:cNvSpPr txBox="1"/>
          <p:nvPr/>
        </p:nvSpPr>
        <p:spPr>
          <a:xfrm>
            <a:off x="2888234" y="2659634"/>
            <a:ext cx="1047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9134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C996FFA-BE3E-4F69-A8EB-41D9C0B0C797}"/>
              </a:ext>
            </a:extLst>
          </p:cNvPr>
          <p:cNvSpPr/>
          <p:nvPr/>
        </p:nvSpPr>
        <p:spPr>
          <a:xfrm>
            <a:off x="4062984" y="2151634"/>
            <a:ext cx="539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2A4DCF4-F3D2-4327-9FEC-1CAB806AA337}"/>
              </a:ext>
            </a:extLst>
          </p:cNvPr>
          <p:cNvSpPr txBox="1"/>
          <p:nvPr/>
        </p:nvSpPr>
        <p:spPr>
          <a:xfrm>
            <a:off x="4062984" y="2659634"/>
            <a:ext cx="539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57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7C46CC0-AE4A-478D-8D1A-84ADB5D279A4}"/>
              </a:ext>
            </a:extLst>
          </p:cNvPr>
          <p:cNvSpPr/>
          <p:nvPr/>
        </p:nvSpPr>
        <p:spPr>
          <a:xfrm>
            <a:off x="4729734" y="2151634"/>
            <a:ext cx="1174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_banana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EF73BED-DE31-422F-94AD-9416AF57FCE0}"/>
              </a:ext>
            </a:extLst>
          </p:cNvPr>
          <p:cNvSpPr txBox="1"/>
          <p:nvPr/>
        </p:nvSpPr>
        <p:spPr>
          <a:xfrm>
            <a:off x="4729734" y="2659634"/>
            <a:ext cx="1174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6610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0C995A2-9344-46C8-9B6D-C3967192B848}"/>
              </a:ext>
            </a:extLst>
          </p:cNvPr>
          <p:cNvSpPr/>
          <p:nvPr/>
        </p:nvSpPr>
        <p:spPr>
          <a:xfrm>
            <a:off x="6031484" y="2151634"/>
            <a:ext cx="1174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_porque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CA74B8B-E284-4528-8FD2-4703CD9EAEA6}"/>
              </a:ext>
            </a:extLst>
          </p:cNvPr>
          <p:cNvSpPr txBox="1"/>
          <p:nvPr/>
        </p:nvSpPr>
        <p:spPr>
          <a:xfrm>
            <a:off x="6031484" y="2659634"/>
            <a:ext cx="1174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2240</a:t>
            </a:r>
            <a:endParaRPr lang="es-ES" sz="1300" dirty="0">
              <a:solidFill>
                <a:srgbClr val="5A627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946CF0D-AA1C-4819-BB4D-86075A67748D}"/>
              </a:ext>
            </a:extLst>
          </p:cNvPr>
          <p:cNvSpPr/>
          <p:nvPr/>
        </p:nvSpPr>
        <p:spPr>
          <a:xfrm>
            <a:off x="7333234" y="2151634"/>
            <a:ext cx="793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_ele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A3109E7-D129-4B7A-8A64-1DBD38BE7B66}"/>
              </a:ext>
            </a:extLst>
          </p:cNvPr>
          <p:cNvSpPr txBox="1"/>
          <p:nvPr/>
        </p:nvSpPr>
        <p:spPr>
          <a:xfrm>
            <a:off x="7333234" y="26596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500" dirty="0">
                <a:solidFill>
                  <a:srgbClr val="5A6270"/>
                </a:solidFill>
                <a:latin typeface="Consolas" panose="020B0609020204030204" pitchFamily="49" charset="0"/>
              </a:rPr>
              <a:t>1803</a:t>
            </a:r>
            <a:endParaRPr lang="es-ES" sz="1300" dirty="0">
              <a:solidFill>
                <a:srgbClr val="5A627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1288AD5-EA2F-45D1-8264-A4DE4718BB50}"/>
              </a:ext>
            </a:extLst>
          </p:cNvPr>
          <p:cNvSpPr/>
          <p:nvPr/>
        </p:nvSpPr>
        <p:spPr>
          <a:xfrm>
            <a:off x="8253984" y="2151634"/>
            <a:ext cx="412750" cy="41275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>
            <a:solidFill>
              <a:srgbClr val="0E7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70C0E4A-E28A-40EC-991F-EBCC869511F3}"/>
              </a:ext>
            </a:extLst>
          </p:cNvPr>
          <p:cNvSpPr txBox="1"/>
          <p:nvPr/>
        </p:nvSpPr>
        <p:spPr>
          <a:xfrm>
            <a:off x="9238234" y="2659634"/>
            <a:ext cx="22225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IDs</a:t>
            </a:r>
            <a:r>
              <a:rPr lang="es-ES" sz="1500" dirty="0">
                <a:solidFill>
                  <a:srgbClr val="5A6270"/>
                </a:solidFill>
                <a:latin typeface="Calibri" panose="020F0502020204030204" pitchFamily="34" charset="0"/>
              </a:rPr>
              <a:t> (ilustrativos)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3C8D1F1-2FBD-420C-815E-908BCE75C0C7}"/>
              </a:ext>
            </a:extLst>
          </p:cNvPr>
          <p:cNvSpPr txBox="1"/>
          <p:nvPr/>
        </p:nvSpPr>
        <p:spPr>
          <a:xfrm>
            <a:off x="506984" y="3262884"/>
            <a:ext cx="47625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a-DK" sz="1500" dirty="0">
                <a:solidFill>
                  <a:srgbClr val="5A6270"/>
                </a:solidFill>
                <a:latin typeface="Calibri" panose="020F0502020204030204" pitchFamily="34" charset="0"/>
              </a:rPr>
              <a:t>tabela de embeddings  |V| × d</a:t>
            </a:r>
            <a:r>
              <a:rPr lang="da-DK" sz="1500" baseline="-25000" dirty="0">
                <a:solidFill>
                  <a:srgbClr val="5A6270"/>
                </a:solidFill>
                <a:latin typeface="Calibri" panose="020F0502020204030204" pitchFamily="34" charset="0"/>
              </a:rPr>
              <a:t>model</a:t>
            </a:r>
            <a:endParaRPr lang="es-ES" sz="1500" baseline="-250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EE4F4A3-888D-4BF2-983D-69A35591B606}"/>
              </a:ext>
            </a:extLst>
          </p:cNvPr>
          <p:cNvSpPr txBox="1"/>
          <p:nvPr/>
        </p:nvSpPr>
        <p:spPr>
          <a:xfrm>
            <a:off x="506984" y="3612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5E53680-31E7-4B17-B954-E29841D1838E}"/>
              </a:ext>
            </a:extLst>
          </p:cNvPr>
          <p:cNvSpPr/>
          <p:nvPr/>
        </p:nvSpPr>
        <p:spPr>
          <a:xfrm>
            <a:off x="139598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9FB974F-9162-47FD-BF4A-05D39AD9FA73}"/>
              </a:ext>
            </a:extLst>
          </p:cNvPr>
          <p:cNvSpPr/>
          <p:nvPr/>
        </p:nvSpPr>
        <p:spPr>
          <a:xfrm>
            <a:off x="168173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E27FFAA-2725-460B-B4C3-5C2CA98031CB}"/>
              </a:ext>
            </a:extLst>
          </p:cNvPr>
          <p:cNvSpPr/>
          <p:nvPr/>
        </p:nvSpPr>
        <p:spPr>
          <a:xfrm>
            <a:off x="196748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A0AE537-107A-427D-90B0-660969FF9FC9}"/>
              </a:ext>
            </a:extLst>
          </p:cNvPr>
          <p:cNvSpPr/>
          <p:nvPr/>
        </p:nvSpPr>
        <p:spPr>
          <a:xfrm>
            <a:off x="225323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2620325-CA60-4929-AAE3-9DFF0BA3EB1D}"/>
              </a:ext>
            </a:extLst>
          </p:cNvPr>
          <p:cNvSpPr/>
          <p:nvPr/>
        </p:nvSpPr>
        <p:spPr>
          <a:xfrm>
            <a:off x="253898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79B03E5-8CD3-45BD-9568-AF217E9E2251}"/>
              </a:ext>
            </a:extLst>
          </p:cNvPr>
          <p:cNvSpPr/>
          <p:nvPr/>
        </p:nvSpPr>
        <p:spPr>
          <a:xfrm>
            <a:off x="282473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D083986-DC57-4572-AC4F-759516697399}"/>
              </a:ext>
            </a:extLst>
          </p:cNvPr>
          <p:cNvSpPr/>
          <p:nvPr/>
        </p:nvSpPr>
        <p:spPr>
          <a:xfrm>
            <a:off x="311048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A4E0DBF-3072-4DE1-B6D1-E3AA6A8CC0BD}"/>
              </a:ext>
            </a:extLst>
          </p:cNvPr>
          <p:cNvSpPr/>
          <p:nvPr/>
        </p:nvSpPr>
        <p:spPr>
          <a:xfrm>
            <a:off x="3396234" y="3643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88029DE-A816-4A94-AFDC-04F922228534}"/>
              </a:ext>
            </a:extLst>
          </p:cNvPr>
          <p:cNvSpPr txBox="1"/>
          <p:nvPr/>
        </p:nvSpPr>
        <p:spPr>
          <a:xfrm>
            <a:off x="506984" y="3993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072CD6D-6BE2-400A-A626-C15ADDB28D80}"/>
              </a:ext>
            </a:extLst>
          </p:cNvPr>
          <p:cNvSpPr/>
          <p:nvPr/>
        </p:nvSpPr>
        <p:spPr>
          <a:xfrm>
            <a:off x="139598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2B05D2-4745-4D2A-9211-5246350E0136}"/>
              </a:ext>
            </a:extLst>
          </p:cNvPr>
          <p:cNvSpPr/>
          <p:nvPr/>
        </p:nvSpPr>
        <p:spPr>
          <a:xfrm>
            <a:off x="168173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EC64252-07FE-4F82-B8BB-DFF0E84AAA31}"/>
              </a:ext>
            </a:extLst>
          </p:cNvPr>
          <p:cNvSpPr/>
          <p:nvPr/>
        </p:nvSpPr>
        <p:spPr>
          <a:xfrm>
            <a:off x="196748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DD2402C-4F4C-41FD-8BE6-B47728C42474}"/>
              </a:ext>
            </a:extLst>
          </p:cNvPr>
          <p:cNvSpPr/>
          <p:nvPr/>
        </p:nvSpPr>
        <p:spPr>
          <a:xfrm>
            <a:off x="225323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263FAF3-B51D-4BB5-9B3E-45478231F9BC}"/>
              </a:ext>
            </a:extLst>
          </p:cNvPr>
          <p:cNvSpPr/>
          <p:nvPr/>
        </p:nvSpPr>
        <p:spPr>
          <a:xfrm>
            <a:off x="253898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CC1DE15-14B6-4EFF-8B8E-60ADD2D151F9}"/>
              </a:ext>
            </a:extLst>
          </p:cNvPr>
          <p:cNvSpPr/>
          <p:nvPr/>
        </p:nvSpPr>
        <p:spPr>
          <a:xfrm>
            <a:off x="282473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A0BAD51-C0FA-4462-BFEF-584A4690C387}"/>
              </a:ext>
            </a:extLst>
          </p:cNvPr>
          <p:cNvSpPr/>
          <p:nvPr/>
        </p:nvSpPr>
        <p:spPr>
          <a:xfrm>
            <a:off x="311048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2F78068-6DD6-47D6-A688-A80C8CFA79A4}"/>
              </a:ext>
            </a:extLst>
          </p:cNvPr>
          <p:cNvSpPr/>
          <p:nvPr/>
        </p:nvSpPr>
        <p:spPr>
          <a:xfrm>
            <a:off x="3396234" y="4024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21AAAD-D4F8-402C-B0B9-EBC2B1D8F785}"/>
              </a:ext>
            </a:extLst>
          </p:cNvPr>
          <p:cNvSpPr txBox="1"/>
          <p:nvPr/>
        </p:nvSpPr>
        <p:spPr>
          <a:xfrm>
            <a:off x="506984" y="4374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⋮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B415F72-BA0F-4E1D-9957-D19CDC484378}"/>
              </a:ext>
            </a:extLst>
          </p:cNvPr>
          <p:cNvSpPr/>
          <p:nvPr/>
        </p:nvSpPr>
        <p:spPr>
          <a:xfrm>
            <a:off x="139598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E3D3717-3DF7-41A2-B214-01F0DFF06644}"/>
              </a:ext>
            </a:extLst>
          </p:cNvPr>
          <p:cNvSpPr/>
          <p:nvPr/>
        </p:nvSpPr>
        <p:spPr>
          <a:xfrm>
            <a:off x="168173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4DB90AF-7156-4177-896A-995E4475D0B1}"/>
              </a:ext>
            </a:extLst>
          </p:cNvPr>
          <p:cNvSpPr/>
          <p:nvPr/>
        </p:nvSpPr>
        <p:spPr>
          <a:xfrm>
            <a:off x="196748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8C556D1-3587-4141-84F7-A5349B5A625F}"/>
              </a:ext>
            </a:extLst>
          </p:cNvPr>
          <p:cNvSpPr/>
          <p:nvPr/>
        </p:nvSpPr>
        <p:spPr>
          <a:xfrm>
            <a:off x="225323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27BB2A3F-6156-46E4-A536-34CAAD6A70C5}"/>
              </a:ext>
            </a:extLst>
          </p:cNvPr>
          <p:cNvSpPr/>
          <p:nvPr/>
        </p:nvSpPr>
        <p:spPr>
          <a:xfrm>
            <a:off x="253898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B9F9187-2A4D-4147-9A79-D65B8FAFB796}"/>
              </a:ext>
            </a:extLst>
          </p:cNvPr>
          <p:cNvSpPr/>
          <p:nvPr/>
        </p:nvSpPr>
        <p:spPr>
          <a:xfrm>
            <a:off x="282473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26A270F-5C60-4A9E-A42D-EC542F3C6181}"/>
              </a:ext>
            </a:extLst>
          </p:cNvPr>
          <p:cNvSpPr/>
          <p:nvPr/>
        </p:nvSpPr>
        <p:spPr>
          <a:xfrm>
            <a:off x="311048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546DA03-1980-4668-B21F-8CFBD07F67EC}"/>
              </a:ext>
            </a:extLst>
          </p:cNvPr>
          <p:cNvSpPr/>
          <p:nvPr/>
        </p:nvSpPr>
        <p:spPr>
          <a:xfrm>
            <a:off x="3396234" y="4405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AEFFA5D-FCFB-4848-A4D8-9DC5015ECBEC}"/>
              </a:ext>
            </a:extLst>
          </p:cNvPr>
          <p:cNvSpPr txBox="1"/>
          <p:nvPr/>
        </p:nvSpPr>
        <p:spPr>
          <a:xfrm>
            <a:off x="506984" y="4755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4021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BA36DD01-85D9-4E5B-BB55-F6E205A4A048}"/>
              </a:ext>
            </a:extLst>
          </p:cNvPr>
          <p:cNvSpPr/>
          <p:nvPr/>
        </p:nvSpPr>
        <p:spPr>
          <a:xfrm>
            <a:off x="1395984" y="4786884"/>
            <a:ext cx="285750" cy="317500"/>
          </a:xfrm>
          <a:prstGeom prst="rect">
            <a:avLst/>
          </a:prstGeom>
          <a:solidFill>
            <a:srgbClr val="C1DDE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8DD64680-3A55-4654-B21C-1D5A28F0DAFE}"/>
              </a:ext>
            </a:extLst>
          </p:cNvPr>
          <p:cNvSpPr/>
          <p:nvPr/>
        </p:nvSpPr>
        <p:spPr>
          <a:xfrm>
            <a:off x="1681734" y="4786884"/>
            <a:ext cx="285750" cy="317500"/>
          </a:xfrm>
          <a:prstGeom prst="rect">
            <a:avLst/>
          </a:prstGeom>
          <a:solidFill>
            <a:srgbClr val="B1D5D8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5E28F11-7522-4DF0-B539-54FA5A35F925}"/>
              </a:ext>
            </a:extLst>
          </p:cNvPr>
          <p:cNvSpPr/>
          <p:nvPr/>
        </p:nvSpPr>
        <p:spPr>
          <a:xfrm>
            <a:off x="1967484" y="4786884"/>
            <a:ext cx="285750" cy="317500"/>
          </a:xfrm>
          <a:prstGeom prst="rect">
            <a:avLst/>
          </a:prstGeom>
          <a:solidFill>
            <a:srgbClr val="A0CCD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97385D60-6C18-4AE2-8E07-C71EB9480F43}"/>
              </a:ext>
            </a:extLst>
          </p:cNvPr>
          <p:cNvSpPr/>
          <p:nvPr/>
        </p:nvSpPr>
        <p:spPr>
          <a:xfrm>
            <a:off x="2253234" y="4786884"/>
            <a:ext cx="285750" cy="317500"/>
          </a:xfrm>
          <a:prstGeom prst="rect">
            <a:avLst/>
          </a:prstGeom>
          <a:solidFill>
            <a:srgbClr val="90C3C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71902875-B236-4B73-8BC6-21CC4A1B4E63}"/>
              </a:ext>
            </a:extLst>
          </p:cNvPr>
          <p:cNvSpPr/>
          <p:nvPr/>
        </p:nvSpPr>
        <p:spPr>
          <a:xfrm>
            <a:off x="2538984" y="4786884"/>
            <a:ext cx="285750" cy="317500"/>
          </a:xfrm>
          <a:prstGeom prst="rect">
            <a:avLst/>
          </a:prstGeom>
          <a:solidFill>
            <a:srgbClr val="7FBAB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4E7A6CB-3160-470D-A1A6-7C725E75E30F}"/>
              </a:ext>
            </a:extLst>
          </p:cNvPr>
          <p:cNvSpPr/>
          <p:nvPr/>
        </p:nvSpPr>
        <p:spPr>
          <a:xfrm>
            <a:off x="2824734" y="4786884"/>
            <a:ext cx="285750" cy="317500"/>
          </a:xfrm>
          <a:prstGeom prst="rect">
            <a:avLst/>
          </a:prstGeom>
          <a:solidFill>
            <a:srgbClr val="6FB0B6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A03FA5A0-56AB-4F3B-AD18-4E18EAD47DE8}"/>
              </a:ext>
            </a:extLst>
          </p:cNvPr>
          <p:cNvSpPr/>
          <p:nvPr/>
        </p:nvSpPr>
        <p:spPr>
          <a:xfrm>
            <a:off x="3110484" y="4786884"/>
            <a:ext cx="285750" cy="317500"/>
          </a:xfrm>
          <a:prstGeom prst="rect">
            <a:avLst/>
          </a:prstGeom>
          <a:solidFill>
            <a:srgbClr val="5FA8AE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1B44AAC-4783-42D7-A15F-3591E25F3A4F}"/>
              </a:ext>
            </a:extLst>
          </p:cNvPr>
          <p:cNvSpPr/>
          <p:nvPr/>
        </p:nvSpPr>
        <p:spPr>
          <a:xfrm>
            <a:off x="3396234" y="4786884"/>
            <a:ext cx="285750" cy="317500"/>
          </a:xfrm>
          <a:prstGeom prst="rect">
            <a:avLst/>
          </a:prstGeom>
          <a:solidFill>
            <a:srgbClr val="4E9FA6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483982A-A8C7-4A50-B5A7-CF0FEE994E3E}"/>
              </a:ext>
            </a:extLst>
          </p:cNvPr>
          <p:cNvSpPr txBox="1"/>
          <p:nvPr/>
        </p:nvSpPr>
        <p:spPr>
          <a:xfrm>
            <a:off x="506984" y="5136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⋮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384E31D-635E-4C06-88C9-058A51C207A9}"/>
              </a:ext>
            </a:extLst>
          </p:cNvPr>
          <p:cNvSpPr/>
          <p:nvPr/>
        </p:nvSpPr>
        <p:spPr>
          <a:xfrm>
            <a:off x="139598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196CDC1B-1068-48E6-8DF3-D5AC21A2F8AA}"/>
              </a:ext>
            </a:extLst>
          </p:cNvPr>
          <p:cNvSpPr/>
          <p:nvPr/>
        </p:nvSpPr>
        <p:spPr>
          <a:xfrm>
            <a:off x="168173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27EE67FD-A034-4F28-9A52-A0569F413B41}"/>
              </a:ext>
            </a:extLst>
          </p:cNvPr>
          <p:cNvSpPr/>
          <p:nvPr/>
        </p:nvSpPr>
        <p:spPr>
          <a:xfrm>
            <a:off x="196748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4120C0C-B7A5-4B90-BE9D-55F7699DBEE3}"/>
              </a:ext>
            </a:extLst>
          </p:cNvPr>
          <p:cNvSpPr/>
          <p:nvPr/>
        </p:nvSpPr>
        <p:spPr>
          <a:xfrm>
            <a:off x="225323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913D3B9-A9A7-4D0F-A05A-43970E7E3CF4}"/>
              </a:ext>
            </a:extLst>
          </p:cNvPr>
          <p:cNvSpPr/>
          <p:nvPr/>
        </p:nvSpPr>
        <p:spPr>
          <a:xfrm>
            <a:off x="253898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FB3AF0D1-A540-4C72-8B44-4170E181E2AB}"/>
              </a:ext>
            </a:extLst>
          </p:cNvPr>
          <p:cNvSpPr/>
          <p:nvPr/>
        </p:nvSpPr>
        <p:spPr>
          <a:xfrm>
            <a:off x="282473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355782D1-43E2-4F0A-A2A4-070599E16CDE}"/>
              </a:ext>
            </a:extLst>
          </p:cNvPr>
          <p:cNvSpPr/>
          <p:nvPr/>
        </p:nvSpPr>
        <p:spPr>
          <a:xfrm>
            <a:off x="311048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05FC9721-02D3-40BD-942A-B88E8898C6A1}"/>
              </a:ext>
            </a:extLst>
          </p:cNvPr>
          <p:cNvSpPr/>
          <p:nvPr/>
        </p:nvSpPr>
        <p:spPr>
          <a:xfrm>
            <a:off x="3396234" y="5167884"/>
            <a:ext cx="28575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FEC7D6C-F486-4384-AAE4-CB818C541182}"/>
              </a:ext>
            </a:extLst>
          </p:cNvPr>
          <p:cNvSpPr txBox="1"/>
          <p:nvPr/>
        </p:nvSpPr>
        <p:spPr>
          <a:xfrm>
            <a:off x="506984" y="5517134"/>
            <a:ext cx="7937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onsolas" panose="020B0609020204030204" pitchFamily="49" charset="0"/>
              </a:rPr>
              <a:t>36999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E227188E-4656-4DEA-8661-AF51E23673CB}"/>
              </a:ext>
            </a:extLst>
          </p:cNvPr>
          <p:cNvSpPr/>
          <p:nvPr/>
        </p:nvSpPr>
        <p:spPr>
          <a:xfrm>
            <a:off x="139598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8D3011A2-B74D-4C04-8A97-2D7EDED3D510}"/>
              </a:ext>
            </a:extLst>
          </p:cNvPr>
          <p:cNvSpPr/>
          <p:nvPr/>
        </p:nvSpPr>
        <p:spPr>
          <a:xfrm>
            <a:off x="168173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8B163D9-E557-4EF3-95FF-7F0A641F984B}"/>
              </a:ext>
            </a:extLst>
          </p:cNvPr>
          <p:cNvSpPr/>
          <p:nvPr/>
        </p:nvSpPr>
        <p:spPr>
          <a:xfrm>
            <a:off x="196748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D1B54D70-B874-49BD-B224-7462F0401849}"/>
              </a:ext>
            </a:extLst>
          </p:cNvPr>
          <p:cNvSpPr/>
          <p:nvPr/>
        </p:nvSpPr>
        <p:spPr>
          <a:xfrm>
            <a:off x="225323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9A23094E-6FA5-4C52-B059-C6FDC6EDD9B6}"/>
              </a:ext>
            </a:extLst>
          </p:cNvPr>
          <p:cNvSpPr/>
          <p:nvPr/>
        </p:nvSpPr>
        <p:spPr>
          <a:xfrm>
            <a:off x="253898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C4B2220C-47D5-4A58-A53E-1E605E091813}"/>
              </a:ext>
            </a:extLst>
          </p:cNvPr>
          <p:cNvSpPr/>
          <p:nvPr/>
        </p:nvSpPr>
        <p:spPr>
          <a:xfrm>
            <a:off x="282473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CC13CC80-7151-47FC-9960-1F46F073A69D}"/>
              </a:ext>
            </a:extLst>
          </p:cNvPr>
          <p:cNvSpPr/>
          <p:nvPr/>
        </p:nvSpPr>
        <p:spPr>
          <a:xfrm>
            <a:off x="311048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7637E174-8418-442F-BE80-EDC5CE23E9CC}"/>
              </a:ext>
            </a:extLst>
          </p:cNvPr>
          <p:cNvSpPr/>
          <p:nvPr/>
        </p:nvSpPr>
        <p:spPr>
          <a:xfrm>
            <a:off x="3396234" y="5548884"/>
            <a:ext cx="285750" cy="317500"/>
          </a:xfrm>
          <a:prstGeom prst="rect">
            <a:avLst/>
          </a:prstGeom>
          <a:solidFill>
            <a:srgbClr val="E4E8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1EF1D373-E6DF-4C06-BCCE-2860144CA21B}"/>
              </a:ext>
            </a:extLst>
          </p:cNvPr>
          <p:cNvCxnSpPr/>
          <p:nvPr/>
        </p:nvCxnSpPr>
        <p:spPr>
          <a:xfrm>
            <a:off x="3808984" y="4945634"/>
            <a:ext cx="666750" cy="0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ángulo 80">
            <a:extLst>
              <a:ext uri="{FF2B5EF4-FFF2-40B4-BE49-F238E27FC236}">
                <a16:creationId xmlns:a16="http://schemas.microsoft.com/office/drawing/2014/main" id="{13615623-83B1-4B15-B441-393A859E0A8E}"/>
              </a:ext>
            </a:extLst>
          </p:cNvPr>
          <p:cNvSpPr/>
          <p:nvPr/>
        </p:nvSpPr>
        <p:spPr>
          <a:xfrm>
            <a:off x="4570984" y="4755134"/>
            <a:ext cx="349250" cy="381000"/>
          </a:xfrm>
          <a:prstGeom prst="rect">
            <a:avLst/>
          </a:prstGeom>
          <a:solidFill>
            <a:srgbClr val="C1DDE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8D2DA331-4780-4F0F-BDF6-01EAD2D0CC7D}"/>
              </a:ext>
            </a:extLst>
          </p:cNvPr>
          <p:cNvSpPr/>
          <p:nvPr/>
        </p:nvSpPr>
        <p:spPr>
          <a:xfrm>
            <a:off x="4920234" y="4755134"/>
            <a:ext cx="349250" cy="381000"/>
          </a:xfrm>
          <a:prstGeom prst="rect">
            <a:avLst/>
          </a:prstGeom>
          <a:solidFill>
            <a:srgbClr val="55A3AA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67D64E4-6F86-4041-99F0-7275CDF4D664}"/>
              </a:ext>
            </a:extLst>
          </p:cNvPr>
          <p:cNvSpPr/>
          <p:nvPr/>
        </p:nvSpPr>
        <p:spPr>
          <a:xfrm>
            <a:off x="5269484" y="4755134"/>
            <a:ext cx="349250" cy="381000"/>
          </a:xfrm>
          <a:prstGeom prst="rect">
            <a:avLst/>
          </a:prstGeom>
          <a:solidFill>
            <a:srgbClr val="93C4C9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6A8AD92F-879E-4042-A798-FE5EADF9C837}"/>
              </a:ext>
            </a:extLst>
          </p:cNvPr>
          <p:cNvSpPr/>
          <p:nvPr/>
        </p:nvSpPr>
        <p:spPr>
          <a:xfrm>
            <a:off x="5618734" y="4755134"/>
            <a:ext cx="349250" cy="381000"/>
          </a:xfrm>
          <a:prstGeom prst="rect">
            <a:avLst/>
          </a:prstGeom>
          <a:solidFill>
            <a:srgbClr val="D0E6E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76F454E5-670D-4B04-B579-57852FFE4DE5}"/>
              </a:ext>
            </a:extLst>
          </p:cNvPr>
          <p:cNvSpPr/>
          <p:nvPr/>
        </p:nvSpPr>
        <p:spPr>
          <a:xfrm>
            <a:off x="5967984" y="4755134"/>
            <a:ext cx="349250" cy="381000"/>
          </a:xfrm>
          <a:prstGeom prst="rect">
            <a:avLst/>
          </a:prstGeom>
          <a:solidFill>
            <a:srgbClr val="84BCC1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076BB8B7-2778-4958-A371-DB286CBEBAEC}"/>
              </a:ext>
            </a:extLst>
          </p:cNvPr>
          <p:cNvSpPr/>
          <p:nvPr/>
        </p:nvSpPr>
        <p:spPr>
          <a:xfrm>
            <a:off x="6317234" y="4755134"/>
            <a:ext cx="349250" cy="381000"/>
          </a:xfrm>
          <a:prstGeom prst="rect">
            <a:avLst/>
          </a:prstGeom>
          <a:solidFill>
            <a:srgbClr val="65ABB2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5A140A0F-C118-42A7-8210-C712AF1E2027}"/>
              </a:ext>
            </a:extLst>
          </p:cNvPr>
          <p:cNvSpPr/>
          <p:nvPr/>
        </p:nvSpPr>
        <p:spPr>
          <a:xfrm>
            <a:off x="6666484" y="4755134"/>
            <a:ext cx="349250" cy="381000"/>
          </a:xfrm>
          <a:prstGeom prst="rect">
            <a:avLst/>
          </a:prstGeom>
          <a:solidFill>
            <a:srgbClr val="B2D5D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5AB424B2-B81A-4A29-A88D-0DA7ACDB6F7E}"/>
              </a:ext>
            </a:extLst>
          </p:cNvPr>
          <p:cNvSpPr/>
          <p:nvPr/>
        </p:nvSpPr>
        <p:spPr>
          <a:xfrm>
            <a:off x="7015734" y="4755134"/>
            <a:ext cx="349250" cy="381000"/>
          </a:xfrm>
          <a:prstGeom prst="rect">
            <a:avLst/>
          </a:prstGeom>
          <a:solidFill>
            <a:srgbClr val="A2CDD1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2247A612-9052-4045-97C8-6B91BF258B35}"/>
              </a:ext>
            </a:extLst>
          </p:cNvPr>
          <p:cNvSpPr txBox="1"/>
          <p:nvPr/>
        </p:nvSpPr>
        <p:spPr>
          <a:xfrm>
            <a:off x="7491984" y="4786884"/>
            <a:ext cx="34925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x</a:t>
            </a:r>
            <a:r>
              <a:rPr lang="es-E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mac</a:t>
            </a:r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 ∈ ℝ</a:t>
            </a:r>
            <a:r>
              <a:rPr lang="es-ES" sz="1700" baseline="30000">
                <a:solidFill>
                  <a:srgbClr val="1B2A41"/>
                </a:solidFill>
                <a:latin typeface="Cambria Math" panose="02040503050406030204" pitchFamily="18" charset="0"/>
              </a:rPr>
              <a:t>512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86067445-D915-477F-B326-5AA15E729755}"/>
              </a:ext>
            </a:extLst>
          </p:cNvPr>
          <p:cNvSpPr txBox="1"/>
          <p:nvPr/>
        </p:nvSpPr>
        <p:spPr>
          <a:xfrm>
            <a:off x="4570984" y="5675884"/>
            <a:ext cx="682625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ID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= endereço na tabela; não carrega significado.</a:t>
            </a:r>
          </a:p>
          <a:p>
            <a:r>
              <a:rPr lang="pt-BR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Embedding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= vetor aprendido que representa o token; ajustado no treino.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69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FA2C63-ECC6-44CF-95A5-B51B363E176F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B2A41"/>
                </a:solidFill>
                <a:latin typeface="Cambria" panose="02040503050406030204" pitchFamily="18" charset="0"/>
              </a:rPr>
              <a:t>Como representar a ordem?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D7013D-EFEA-4752-883B-7D7F6EF42961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Mesmos tokens, ordem diferente, significado diferente.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DAB9B90-3F7A-48F4-BF4B-96F35792A67D}"/>
              </a:ext>
            </a:extLst>
          </p:cNvPr>
          <p:cNvSpPr/>
          <p:nvPr/>
        </p:nvSpPr>
        <p:spPr>
          <a:xfrm>
            <a:off x="507390" y="1421790"/>
            <a:ext cx="4673600" cy="5842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pt-BR" sz="1700">
                <a:solidFill>
                  <a:srgbClr val="1B2A41"/>
                </a:solidFill>
                <a:latin typeface="Calibri" panose="020F0502020204030204" pitchFamily="34" charset="0"/>
              </a:rPr>
              <a:t>O </a:t>
            </a:r>
            <a:r>
              <a:rPr lang="pt-BR" sz="1700" b="1">
                <a:solidFill>
                  <a:srgbClr val="0E7C86"/>
                </a:solidFill>
                <a:latin typeface="Calibri" panose="020F0502020204030204" pitchFamily="34" charset="0"/>
              </a:rPr>
              <a:t>macaco</a:t>
            </a:r>
            <a:r>
              <a:rPr lang="pt-BR" sz="1700">
                <a:solidFill>
                  <a:srgbClr val="1B2A41"/>
                </a:solidFill>
                <a:latin typeface="Calibri" panose="020F0502020204030204" pitchFamily="34" charset="0"/>
              </a:rPr>
              <a:t> comeu a </a:t>
            </a:r>
            <a:r>
              <a:rPr lang="pt-BR" sz="1700" b="1">
                <a:solidFill>
                  <a:srgbClr val="1B2A41"/>
                </a:solidFill>
                <a:latin typeface="Calibri" panose="020F0502020204030204" pitchFamily="34" charset="0"/>
              </a:rPr>
              <a:t>banana</a:t>
            </a:r>
            <a:r>
              <a:rPr lang="pt-BR" sz="1700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s-ES" sz="17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99283F-B3C9-443A-8D8E-F82CF1BAA6A4}"/>
              </a:ext>
            </a:extLst>
          </p:cNvPr>
          <p:cNvSpPr txBox="1"/>
          <p:nvPr/>
        </p:nvSpPr>
        <p:spPr>
          <a:xfrm>
            <a:off x="5268620" y="1480210"/>
            <a:ext cx="4381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1B2A41"/>
                </a:solidFill>
                <a:latin typeface="Calibri" panose="020F0502020204030204" pitchFamily="34" charset="0"/>
              </a:rPr>
              <a:t>≠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B746BDF-A7B1-41F8-BAA1-33211F3C7015}"/>
              </a:ext>
            </a:extLst>
          </p:cNvPr>
          <p:cNvSpPr/>
          <p:nvPr/>
        </p:nvSpPr>
        <p:spPr>
          <a:xfrm>
            <a:off x="5794400" y="1421790"/>
            <a:ext cx="4673600" cy="5842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pt-BR" sz="1700" dirty="0">
                <a:solidFill>
                  <a:srgbClr val="1B2A41"/>
                </a:solidFill>
                <a:latin typeface="Calibri" panose="020F0502020204030204" pitchFamily="34" charset="0"/>
              </a:rPr>
              <a:t>A </a:t>
            </a:r>
            <a:r>
              <a:rPr lang="pt-BR" sz="1700" b="1" dirty="0">
                <a:solidFill>
                  <a:srgbClr val="1B2A41"/>
                </a:solidFill>
                <a:latin typeface="Calibri" panose="020F0502020204030204" pitchFamily="34" charset="0"/>
              </a:rPr>
              <a:t>banana</a:t>
            </a:r>
            <a:r>
              <a:rPr lang="pt-BR" sz="1700" dirty="0">
                <a:solidFill>
                  <a:srgbClr val="1B2A41"/>
                </a:solidFill>
                <a:latin typeface="Calibri" panose="020F0502020204030204" pitchFamily="34" charset="0"/>
              </a:rPr>
              <a:t> comeu o </a:t>
            </a:r>
            <a:r>
              <a:rPr lang="pt-BR" sz="1700" b="1" dirty="0">
                <a:solidFill>
                  <a:srgbClr val="0E7C86"/>
                </a:solidFill>
                <a:latin typeface="Calibri" panose="020F0502020204030204" pitchFamily="34" charset="0"/>
              </a:rPr>
              <a:t>macaco</a:t>
            </a:r>
            <a:r>
              <a:rPr lang="pt-BR" sz="1700" dirty="0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s-ES" sz="17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1BB07B-572E-454D-8AB3-2A31A10749EA}"/>
              </a:ext>
            </a:extLst>
          </p:cNvPr>
          <p:cNvSpPr txBox="1"/>
          <p:nvPr/>
        </p:nvSpPr>
        <p:spPr>
          <a:xfrm>
            <a:off x="507390" y="2122830"/>
            <a:ext cx="1007745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Sem informação posicional, a self-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attention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do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encoder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não distingue explicitamente a ordem dos tokens.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4E0BF6E-302D-4229-93E5-E5C238900EB5}"/>
              </a:ext>
            </a:extLst>
          </p:cNvPr>
          <p:cNvSpPr/>
          <p:nvPr/>
        </p:nvSpPr>
        <p:spPr>
          <a:xfrm>
            <a:off x="507390" y="2648610"/>
            <a:ext cx="292100" cy="467360"/>
          </a:xfrm>
          <a:prstGeom prst="rect">
            <a:avLst/>
          </a:prstGeom>
          <a:solidFill>
            <a:srgbClr val="C1DDE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3B8CB1B-9F45-4C1F-A18B-EFDA0D1433C1}"/>
              </a:ext>
            </a:extLst>
          </p:cNvPr>
          <p:cNvSpPr/>
          <p:nvPr/>
        </p:nvSpPr>
        <p:spPr>
          <a:xfrm>
            <a:off x="799490" y="2648610"/>
            <a:ext cx="292100" cy="467360"/>
          </a:xfrm>
          <a:prstGeom prst="rect">
            <a:avLst/>
          </a:prstGeom>
          <a:solidFill>
            <a:srgbClr val="55A3AA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055A76-0B6E-4FB8-A621-67F5C955E073}"/>
              </a:ext>
            </a:extLst>
          </p:cNvPr>
          <p:cNvSpPr/>
          <p:nvPr/>
        </p:nvSpPr>
        <p:spPr>
          <a:xfrm>
            <a:off x="1091590" y="2648610"/>
            <a:ext cx="292100" cy="467360"/>
          </a:xfrm>
          <a:prstGeom prst="rect">
            <a:avLst/>
          </a:prstGeom>
          <a:solidFill>
            <a:srgbClr val="93C4C9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87C354-35F7-47BA-8C29-F7F165F3F340}"/>
              </a:ext>
            </a:extLst>
          </p:cNvPr>
          <p:cNvSpPr/>
          <p:nvPr/>
        </p:nvSpPr>
        <p:spPr>
          <a:xfrm>
            <a:off x="1383690" y="2648610"/>
            <a:ext cx="292100" cy="467360"/>
          </a:xfrm>
          <a:prstGeom prst="rect">
            <a:avLst/>
          </a:prstGeom>
          <a:solidFill>
            <a:srgbClr val="D0E6E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C21639-11AB-4957-A14D-E485011B1B99}"/>
              </a:ext>
            </a:extLst>
          </p:cNvPr>
          <p:cNvSpPr/>
          <p:nvPr/>
        </p:nvSpPr>
        <p:spPr>
          <a:xfrm>
            <a:off x="1675790" y="2648610"/>
            <a:ext cx="292100" cy="467360"/>
          </a:xfrm>
          <a:prstGeom prst="rect">
            <a:avLst/>
          </a:prstGeom>
          <a:solidFill>
            <a:srgbClr val="84BCC1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BC3B777-B58C-4572-9F49-CDAF66DDF789}"/>
              </a:ext>
            </a:extLst>
          </p:cNvPr>
          <p:cNvSpPr/>
          <p:nvPr/>
        </p:nvSpPr>
        <p:spPr>
          <a:xfrm>
            <a:off x="1967890" y="2648610"/>
            <a:ext cx="292100" cy="467360"/>
          </a:xfrm>
          <a:prstGeom prst="rect">
            <a:avLst/>
          </a:prstGeom>
          <a:solidFill>
            <a:srgbClr val="65ABB2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CF08A9C-86A4-44EB-9845-175C0E9F86AE}"/>
              </a:ext>
            </a:extLst>
          </p:cNvPr>
          <p:cNvSpPr/>
          <p:nvPr/>
        </p:nvSpPr>
        <p:spPr>
          <a:xfrm>
            <a:off x="2259990" y="2648610"/>
            <a:ext cx="292100" cy="467360"/>
          </a:xfrm>
          <a:prstGeom prst="rect">
            <a:avLst/>
          </a:prstGeom>
          <a:solidFill>
            <a:srgbClr val="B2D5D8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C1F7C36-2A5F-4EE7-B98E-1D303A2D5FAF}"/>
              </a:ext>
            </a:extLst>
          </p:cNvPr>
          <p:cNvSpPr/>
          <p:nvPr/>
        </p:nvSpPr>
        <p:spPr>
          <a:xfrm>
            <a:off x="2552090" y="2648610"/>
            <a:ext cx="292100" cy="467360"/>
          </a:xfrm>
          <a:prstGeom prst="rect">
            <a:avLst/>
          </a:prstGeom>
          <a:solidFill>
            <a:srgbClr val="A2CDD1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FC0A0BF-370C-4303-A47B-F740007DC995}"/>
              </a:ext>
            </a:extLst>
          </p:cNvPr>
          <p:cNvSpPr txBox="1"/>
          <p:nvPr/>
        </p:nvSpPr>
        <p:spPr>
          <a:xfrm>
            <a:off x="2931820" y="2677820"/>
            <a:ext cx="35052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1B2A41"/>
                </a:solidFill>
                <a:latin typeface="Calibri" panose="020F0502020204030204" pitchFamily="34" charset="0"/>
              </a:rPr>
              <a:t>+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F1DE3F2-020B-4257-947F-FBEA187F89B8}"/>
              </a:ext>
            </a:extLst>
          </p:cNvPr>
          <p:cNvSpPr/>
          <p:nvPr/>
        </p:nvSpPr>
        <p:spPr>
          <a:xfrm>
            <a:off x="3369970" y="2648610"/>
            <a:ext cx="292100" cy="467360"/>
          </a:xfrm>
          <a:prstGeom prst="rect">
            <a:avLst/>
          </a:prstGeom>
          <a:solidFill>
            <a:srgbClr val="E2E4E6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48D01C3-3EDD-4EBB-8366-5CC9A8F2C618}"/>
              </a:ext>
            </a:extLst>
          </p:cNvPr>
          <p:cNvSpPr/>
          <p:nvPr/>
        </p:nvSpPr>
        <p:spPr>
          <a:xfrm>
            <a:off x="3662070" y="2648610"/>
            <a:ext cx="292100" cy="467360"/>
          </a:xfrm>
          <a:prstGeom prst="rect">
            <a:avLst/>
          </a:prstGeom>
          <a:solidFill>
            <a:srgbClr val="6B738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0604723-D3E3-477D-9CAE-E78020C0C2AA}"/>
              </a:ext>
            </a:extLst>
          </p:cNvPr>
          <p:cNvSpPr/>
          <p:nvPr/>
        </p:nvSpPr>
        <p:spPr>
          <a:xfrm>
            <a:off x="3954170" y="2648610"/>
            <a:ext cx="292100" cy="467360"/>
          </a:xfrm>
          <a:prstGeom prst="rect">
            <a:avLst/>
          </a:prstGeom>
          <a:solidFill>
            <a:srgbClr val="6B738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84FC6C-BC31-47F7-BC23-AE6BCDC714E9}"/>
              </a:ext>
            </a:extLst>
          </p:cNvPr>
          <p:cNvSpPr/>
          <p:nvPr/>
        </p:nvSpPr>
        <p:spPr>
          <a:xfrm>
            <a:off x="4246270" y="2648610"/>
            <a:ext cx="292100" cy="467360"/>
          </a:xfrm>
          <a:prstGeom prst="rect">
            <a:avLst/>
          </a:prstGeom>
          <a:solidFill>
            <a:srgbClr val="9399A2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8778440-A481-4206-BC8C-76EC93B1AFCF}"/>
              </a:ext>
            </a:extLst>
          </p:cNvPr>
          <p:cNvSpPr/>
          <p:nvPr/>
        </p:nvSpPr>
        <p:spPr>
          <a:xfrm>
            <a:off x="4538370" y="2648610"/>
            <a:ext cx="292100" cy="467360"/>
          </a:xfrm>
          <a:prstGeom prst="rect">
            <a:avLst/>
          </a:prstGeom>
          <a:solidFill>
            <a:srgbClr val="D3D6DA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2C5178B-55C3-4178-BC1A-3C4EFD0E79CB}"/>
              </a:ext>
            </a:extLst>
          </p:cNvPr>
          <p:cNvSpPr/>
          <p:nvPr/>
        </p:nvSpPr>
        <p:spPr>
          <a:xfrm>
            <a:off x="4830470" y="2648610"/>
            <a:ext cx="292100" cy="467360"/>
          </a:xfrm>
          <a:prstGeom prst="rect">
            <a:avLst/>
          </a:prstGeom>
          <a:solidFill>
            <a:srgbClr val="6B738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D636333-E271-43C3-8EFF-A16FB55BB141}"/>
              </a:ext>
            </a:extLst>
          </p:cNvPr>
          <p:cNvSpPr/>
          <p:nvPr/>
        </p:nvSpPr>
        <p:spPr>
          <a:xfrm>
            <a:off x="5122570" y="2648610"/>
            <a:ext cx="292100" cy="467360"/>
          </a:xfrm>
          <a:prstGeom prst="rect">
            <a:avLst/>
          </a:prstGeom>
          <a:solidFill>
            <a:srgbClr val="E0E2E5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5DF02D5-80A2-42FD-97AE-9B0539ACB89D}"/>
              </a:ext>
            </a:extLst>
          </p:cNvPr>
          <p:cNvSpPr/>
          <p:nvPr/>
        </p:nvSpPr>
        <p:spPr>
          <a:xfrm>
            <a:off x="5414670" y="2648610"/>
            <a:ext cx="292100" cy="467360"/>
          </a:xfrm>
          <a:prstGeom prst="rect">
            <a:avLst/>
          </a:prstGeom>
          <a:solidFill>
            <a:srgbClr val="6B7380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0B8C611-6622-4952-A0F6-50C03DD9D295}"/>
              </a:ext>
            </a:extLst>
          </p:cNvPr>
          <p:cNvSpPr txBox="1"/>
          <p:nvPr/>
        </p:nvSpPr>
        <p:spPr>
          <a:xfrm>
            <a:off x="5794400" y="2677820"/>
            <a:ext cx="35052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2000" b="1">
                <a:solidFill>
                  <a:srgbClr val="1B2A41"/>
                </a:solidFill>
                <a:latin typeface="Calibri" panose="020F0502020204030204" pitchFamily="34" charset="0"/>
              </a:rPr>
              <a:t>=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86756F3-9DE0-47A0-8FFF-B06F43203266}"/>
              </a:ext>
            </a:extLst>
          </p:cNvPr>
          <p:cNvSpPr/>
          <p:nvPr/>
        </p:nvSpPr>
        <p:spPr>
          <a:xfrm>
            <a:off x="6232550" y="2648610"/>
            <a:ext cx="292100" cy="467360"/>
          </a:xfrm>
          <a:prstGeom prst="rect">
            <a:avLst/>
          </a:prstGeom>
          <a:solidFill>
            <a:srgbClr val="A6ACB5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6455CD3-EE8B-4A24-8803-DF70C7156530}"/>
              </a:ext>
            </a:extLst>
          </p:cNvPr>
          <p:cNvSpPr/>
          <p:nvPr/>
        </p:nvSpPr>
        <p:spPr>
          <a:xfrm>
            <a:off x="6524650" y="2648610"/>
            <a:ext cx="292100" cy="467360"/>
          </a:xfrm>
          <a:prstGeom prst="rect">
            <a:avLst/>
          </a:prstGeom>
          <a:solidFill>
            <a:srgbClr val="9BA2AC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332605C-6C2C-473A-8A67-DA97917D37B7}"/>
              </a:ext>
            </a:extLst>
          </p:cNvPr>
          <p:cNvSpPr/>
          <p:nvPr/>
        </p:nvSpPr>
        <p:spPr>
          <a:xfrm>
            <a:off x="6816750" y="2648610"/>
            <a:ext cx="292100" cy="467360"/>
          </a:xfrm>
          <a:prstGeom prst="rect">
            <a:avLst/>
          </a:prstGeom>
          <a:solidFill>
            <a:srgbClr val="7F8895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A05D74B-5F06-4935-BB42-D76C7FE1C964}"/>
              </a:ext>
            </a:extLst>
          </p:cNvPr>
          <p:cNvSpPr/>
          <p:nvPr/>
        </p:nvSpPr>
        <p:spPr>
          <a:xfrm>
            <a:off x="7108850" y="2648610"/>
            <a:ext cx="292100" cy="467360"/>
          </a:xfrm>
          <a:prstGeom prst="rect">
            <a:avLst/>
          </a:prstGeom>
          <a:solidFill>
            <a:srgbClr val="C7CBD1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70F9258-E30F-4985-8251-76C4CEF2E137}"/>
              </a:ext>
            </a:extLst>
          </p:cNvPr>
          <p:cNvSpPr/>
          <p:nvPr/>
        </p:nvSpPr>
        <p:spPr>
          <a:xfrm>
            <a:off x="7400950" y="2648610"/>
            <a:ext cx="292100" cy="467360"/>
          </a:xfrm>
          <a:prstGeom prst="rect">
            <a:avLst/>
          </a:prstGeom>
          <a:solidFill>
            <a:srgbClr val="ACB1B9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1D043A9-D3D0-49F4-AC96-41BF238C2C5A}"/>
              </a:ext>
            </a:extLst>
          </p:cNvPr>
          <p:cNvSpPr/>
          <p:nvPr/>
        </p:nvSpPr>
        <p:spPr>
          <a:xfrm>
            <a:off x="7693050" y="2648610"/>
            <a:ext cx="292100" cy="467360"/>
          </a:xfrm>
          <a:prstGeom prst="rect">
            <a:avLst/>
          </a:prstGeom>
          <a:solidFill>
            <a:srgbClr val="858D9A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F8A0288-8EBD-4400-8EB7-92B5EE363513}"/>
              </a:ext>
            </a:extLst>
          </p:cNvPr>
          <p:cNvSpPr/>
          <p:nvPr/>
        </p:nvSpPr>
        <p:spPr>
          <a:xfrm>
            <a:off x="7985150" y="2648610"/>
            <a:ext cx="292100" cy="467360"/>
          </a:xfrm>
          <a:prstGeom prst="rect">
            <a:avLst/>
          </a:prstGeom>
          <a:solidFill>
            <a:srgbClr val="A6ACB5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6190318-E547-47EA-A349-1C182F3F6DBD}"/>
              </a:ext>
            </a:extLst>
          </p:cNvPr>
          <p:cNvSpPr/>
          <p:nvPr/>
        </p:nvSpPr>
        <p:spPr>
          <a:xfrm>
            <a:off x="8277250" y="2648610"/>
            <a:ext cx="292100" cy="467360"/>
          </a:xfrm>
          <a:prstGeom prst="rect">
            <a:avLst/>
          </a:prstGeom>
          <a:solidFill>
            <a:srgbClr val="D3D6DA"/>
          </a:solidFill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2A419CC-1054-433B-B321-1D8C16E0E151}"/>
              </a:ext>
            </a:extLst>
          </p:cNvPr>
          <p:cNvSpPr txBox="1"/>
          <p:nvPr/>
        </p:nvSpPr>
        <p:spPr>
          <a:xfrm>
            <a:off x="507390" y="3174390"/>
            <a:ext cx="233680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conteúdo (embedding)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DE9D14A-00AE-4072-856B-87B96F84FB25}"/>
              </a:ext>
            </a:extLst>
          </p:cNvPr>
          <p:cNvSpPr txBox="1"/>
          <p:nvPr/>
        </p:nvSpPr>
        <p:spPr>
          <a:xfrm>
            <a:off x="3369970" y="3174390"/>
            <a:ext cx="233680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posição (PE)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CC720D5-7CCC-4729-8C6D-7E743688D61A}"/>
              </a:ext>
            </a:extLst>
          </p:cNvPr>
          <p:cNvSpPr txBox="1"/>
          <p:nvPr/>
        </p:nvSpPr>
        <p:spPr>
          <a:xfrm>
            <a:off x="6232550" y="3174390"/>
            <a:ext cx="233680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entrada do encoder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F99EB09-8723-4B0A-B070-EAD4895BAC9E}"/>
              </a:ext>
            </a:extLst>
          </p:cNvPr>
          <p:cNvSpPr txBox="1"/>
          <p:nvPr/>
        </p:nvSpPr>
        <p:spPr>
          <a:xfrm>
            <a:off x="507390" y="3670960"/>
            <a:ext cx="1007745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>
                <a:solidFill>
                  <a:srgbClr val="1B2A41"/>
                </a:solidFill>
                <a:latin typeface="Cambria Math" panose="02040503050406030204" pitchFamily="18" charset="0"/>
              </a:rPr>
              <a:t>PE</a:t>
            </a:r>
            <a:r>
              <a:rPr lang="es-ES" sz="20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(pos, 2i)</a:t>
            </a:r>
            <a:r>
              <a:rPr lang="es-ES" sz="2000">
                <a:solidFill>
                  <a:srgbClr val="1B2A41"/>
                </a:solidFill>
                <a:latin typeface="Cambria Math" panose="02040503050406030204" pitchFamily="18" charset="0"/>
              </a:rPr>
              <a:t> = sin(pos / 10000</a:t>
            </a:r>
            <a:r>
              <a:rPr lang="es-ES" sz="2000" baseline="30000">
                <a:solidFill>
                  <a:srgbClr val="1B2A41"/>
                </a:solidFill>
                <a:latin typeface="Cambria Math" panose="02040503050406030204" pitchFamily="18" charset="0"/>
              </a:rPr>
              <a:t>2i/d</a:t>
            </a:r>
            <a:r>
              <a:rPr lang="es-ES" sz="2000">
                <a:solidFill>
                  <a:srgbClr val="1B2A41"/>
                </a:solidFill>
                <a:latin typeface="Cambria Math" panose="02040503050406030204" pitchFamily="18" charset="0"/>
              </a:rPr>
              <a:t>)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8FCCA8-F30F-498C-A7FD-F6EE9AA84EBE}"/>
              </a:ext>
            </a:extLst>
          </p:cNvPr>
          <p:cNvSpPr txBox="1"/>
          <p:nvPr/>
        </p:nvSpPr>
        <p:spPr>
          <a:xfrm>
            <a:off x="507390" y="4138320"/>
            <a:ext cx="1007745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1B2A41"/>
                </a:solidFill>
                <a:latin typeface="Cambria Math" panose="02040503050406030204" pitchFamily="18" charset="0"/>
              </a:rPr>
              <a:t>PE</a:t>
            </a:r>
            <a:r>
              <a:rPr lang="pt-BR" sz="20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(pos, 2i+1)</a:t>
            </a:r>
            <a:r>
              <a:rPr lang="pt-BR" sz="2000">
                <a:solidFill>
                  <a:srgbClr val="1B2A41"/>
                </a:solidFill>
                <a:latin typeface="Cambria Math" panose="02040503050406030204" pitchFamily="18" charset="0"/>
              </a:rPr>
              <a:t> = cos(pos / 10000</a:t>
            </a:r>
            <a:r>
              <a:rPr lang="pt-BR" sz="2000" baseline="30000">
                <a:solidFill>
                  <a:srgbClr val="1B2A41"/>
                </a:solidFill>
                <a:latin typeface="Cambria Math" panose="02040503050406030204" pitchFamily="18" charset="0"/>
              </a:rPr>
              <a:t>2i/d</a:t>
            </a:r>
            <a:r>
              <a:rPr lang="pt-BR" sz="2000">
                <a:solidFill>
                  <a:srgbClr val="1B2A41"/>
                </a:solidFill>
                <a:latin typeface="Cambria Math" panose="02040503050406030204" pitchFamily="18" charset="0"/>
              </a:rPr>
              <a:t>)</a:t>
            </a:r>
            <a:endParaRPr lang="es-ES" sz="2000">
              <a:solidFill>
                <a:srgbClr val="1B2A41"/>
              </a:solidFill>
              <a:latin typeface="Cambria Math" panose="02040503050406030204" pitchFamily="18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6D32791-BCF6-4F10-B7EF-5D4127F8DE04}"/>
              </a:ext>
            </a:extLst>
          </p:cNvPr>
          <p:cNvSpPr txBox="1"/>
          <p:nvPr/>
        </p:nvSpPr>
        <p:spPr>
          <a:xfrm>
            <a:off x="507390" y="4634890"/>
            <a:ext cx="1007745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d =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d</a:t>
            </a:r>
            <a:r>
              <a:rPr lang="pt-BR" sz="1500" baseline="-25000" dirty="0" err="1">
                <a:solidFill>
                  <a:srgbClr val="5A6270"/>
                </a:solidFill>
                <a:latin typeface="Calibri" panose="020F0502020204030204" pitchFamily="34" charset="0"/>
              </a:rPr>
              <a:t>model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= 512 · cada dimensão oscila numa frequência diferente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CEE21A0A-7927-480E-96C1-23A0BDBD9FFF}"/>
              </a:ext>
            </a:extLst>
          </p:cNvPr>
          <p:cNvSpPr/>
          <p:nvPr/>
        </p:nvSpPr>
        <p:spPr>
          <a:xfrm>
            <a:off x="507390" y="5189880"/>
            <a:ext cx="9931400" cy="102235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CBC02A1-EBE3-47A1-B9BC-4BB9788F1278}"/>
              </a:ext>
            </a:extLst>
          </p:cNvPr>
          <p:cNvSpPr txBox="1"/>
          <p:nvPr/>
        </p:nvSpPr>
        <p:spPr>
          <a:xfrm>
            <a:off x="770280" y="5394350"/>
            <a:ext cx="9493250" cy="4247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No </a:t>
            </a:r>
            <a:r>
              <a:rPr lang="pt-BR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Transformer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 original: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senos e cossenos fixos, somados ao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embedding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(mesma dimensão).</a:t>
            </a:r>
          </a:p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Depois vieram: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posições relativas e rotacionais (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RoPE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). Posições aprendidas, testadas no próprio artigo, deram resultado quase igual.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20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C60F318-386B-43D7-98D7-04C4BA8FBFE2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Query, Key e Value: três funções distintas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01DF64-8865-4AED-AB8A-689B2DB3DCB0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Cada token é projetado em três vetores por matrizes aprendidas.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1a">
            <a:extLst>
              <a:ext uri="{FF2B5EF4-FFF2-40B4-BE49-F238E27FC236}">
                <a16:creationId xmlns:a16="http://schemas.microsoft.com/office/drawing/2014/main" id="{E8B81FD1-8824-478A-A933-038398B561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53" y="1421953"/>
            <a:ext cx="3994150" cy="479298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B55325F-83AF-41B0-9A2E-E3E66EBB4193}"/>
              </a:ext>
            </a:extLst>
          </p:cNvPr>
          <p:cNvSpPr txBox="1"/>
          <p:nvPr/>
        </p:nvSpPr>
        <p:spPr>
          <a:xfrm>
            <a:off x="4736653" y="1506535"/>
            <a:ext cx="535686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>
                <a:solidFill>
                  <a:srgbClr val="74508F"/>
                </a:solidFill>
                <a:latin typeface="Cambria Math" panose="02040503050406030204" pitchFamily="18" charset="0"/>
              </a:rPr>
              <a:t>Q = X W</a:t>
            </a:r>
            <a:r>
              <a:rPr lang="es-ES" sz="2000" baseline="-25000">
                <a:solidFill>
                  <a:srgbClr val="74508F"/>
                </a:solidFill>
                <a:latin typeface="Cambria Math" panose="02040503050406030204" pitchFamily="18" charset="0"/>
              </a:rPr>
              <a:t>Q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87DC2A-1C20-4CE7-93DF-334B746A206A}"/>
              </a:ext>
            </a:extLst>
          </p:cNvPr>
          <p:cNvSpPr txBox="1"/>
          <p:nvPr/>
        </p:nvSpPr>
        <p:spPr>
          <a:xfrm>
            <a:off x="4736653" y="1957639"/>
            <a:ext cx="535686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>
                <a:solidFill>
                  <a:srgbClr val="A0561F"/>
                </a:solidFill>
                <a:latin typeface="Cambria Math" panose="02040503050406030204" pitchFamily="18" charset="0"/>
              </a:rPr>
              <a:t>K = X W</a:t>
            </a:r>
            <a:r>
              <a:rPr lang="es-ES" sz="2000" baseline="-25000">
                <a:solidFill>
                  <a:srgbClr val="A0561F"/>
                </a:solidFill>
                <a:latin typeface="Cambria Math" panose="02040503050406030204" pitchFamily="18" charset="0"/>
              </a:rPr>
              <a:t>K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36571D-B5D7-4F43-9F29-CF63A4A053F6}"/>
              </a:ext>
            </a:extLst>
          </p:cNvPr>
          <p:cNvSpPr txBox="1"/>
          <p:nvPr/>
        </p:nvSpPr>
        <p:spPr>
          <a:xfrm>
            <a:off x="4736653" y="2408743"/>
            <a:ext cx="535686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000">
                <a:solidFill>
                  <a:srgbClr val="3A6597"/>
                </a:solidFill>
                <a:latin typeface="Cambria Math" panose="02040503050406030204" pitchFamily="18" charset="0"/>
              </a:rPr>
              <a:t>V = X W</a:t>
            </a:r>
            <a:r>
              <a:rPr lang="es-ES" sz="2000" baseline="-25000">
                <a:solidFill>
                  <a:srgbClr val="3A6597"/>
                </a:solidFill>
                <a:latin typeface="Cambria Math" panose="02040503050406030204" pitchFamily="18" charset="0"/>
              </a:rPr>
              <a:t>V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598570-7667-4BAA-BCFA-2271CA13C16B}"/>
              </a:ext>
            </a:extLst>
          </p:cNvPr>
          <p:cNvSpPr/>
          <p:nvPr/>
        </p:nvSpPr>
        <p:spPr>
          <a:xfrm>
            <a:off x="4736653" y="3240466"/>
            <a:ext cx="197358" cy="197358"/>
          </a:xfrm>
          <a:prstGeom prst="rect">
            <a:avLst/>
          </a:prstGeom>
          <a:solidFill>
            <a:srgbClr val="7450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5A6190-7C30-49E6-B6A4-07A5E1BE24B8}"/>
              </a:ext>
            </a:extLst>
          </p:cNvPr>
          <p:cNvSpPr txBox="1"/>
          <p:nvPr/>
        </p:nvSpPr>
        <p:spPr>
          <a:xfrm>
            <a:off x="5074981" y="3198175"/>
            <a:ext cx="507492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Query (Q)</a:t>
            </a:r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: o que este token procura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B518D4A-C6D9-4B21-AC86-7C0C3E3230E9}"/>
              </a:ext>
            </a:extLst>
          </p:cNvPr>
          <p:cNvSpPr/>
          <p:nvPr/>
        </p:nvSpPr>
        <p:spPr>
          <a:xfrm>
            <a:off x="4736653" y="3747958"/>
            <a:ext cx="197358" cy="197358"/>
          </a:xfrm>
          <a:prstGeom prst="rect">
            <a:avLst/>
          </a:prstGeom>
          <a:solidFill>
            <a:srgbClr val="A0561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1FC000C-92BD-4E92-BA9D-2B1E7AB5C10A}"/>
              </a:ext>
            </a:extLst>
          </p:cNvPr>
          <p:cNvSpPr txBox="1"/>
          <p:nvPr/>
        </p:nvSpPr>
        <p:spPr>
          <a:xfrm>
            <a:off x="5074981" y="3705667"/>
            <a:ext cx="507492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Key (K)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: como cada token pode ser encontrado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F1E26BB-94F8-4633-91E4-E989896B51A7}"/>
              </a:ext>
            </a:extLst>
          </p:cNvPr>
          <p:cNvSpPr/>
          <p:nvPr/>
        </p:nvSpPr>
        <p:spPr>
          <a:xfrm>
            <a:off x="4736653" y="4255450"/>
            <a:ext cx="197358" cy="197358"/>
          </a:xfrm>
          <a:prstGeom prst="rect">
            <a:avLst/>
          </a:prstGeom>
          <a:solidFill>
            <a:srgbClr val="3A659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8B2759-13A7-4A0F-9F71-B29FA6B85D20}"/>
              </a:ext>
            </a:extLst>
          </p:cNvPr>
          <p:cNvSpPr txBox="1"/>
          <p:nvPr/>
        </p:nvSpPr>
        <p:spPr>
          <a:xfrm>
            <a:off x="5074981" y="4213159"/>
            <a:ext cx="507492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Value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 (V)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: a informação que será combinada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3217445-4714-42B1-9730-7BCB27B38B14}"/>
              </a:ext>
            </a:extLst>
          </p:cNvPr>
          <p:cNvSpPr txBox="1"/>
          <p:nvPr/>
        </p:nvSpPr>
        <p:spPr>
          <a:xfrm>
            <a:off x="4736652" y="4861621"/>
            <a:ext cx="5524947" cy="10057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Na primeira camada, X contém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embeddings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com informação posicional. Nas seguintes, contém representações contextualizadas. Nesta configuração, cada matriz W</a:t>
            </a:r>
            <a:r>
              <a:rPr lang="pt-BR" sz="1500" baseline="-25000" dirty="0">
                <a:solidFill>
                  <a:srgbClr val="5A6270"/>
                </a:solidFill>
                <a:latin typeface="Calibri" panose="020F0502020204030204" pitchFamily="34" charset="0"/>
              </a:rPr>
              <a:t>Q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, W</a:t>
            </a:r>
            <a:r>
              <a:rPr lang="pt-BR" sz="1500" baseline="-25000" dirty="0">
                <a:solidFill>
                  <a:srgbClr val="5A6270"/>
                </a:solidFill>
                <a:latin typeface="Calibri" panose="020F0502020204030204" pitchFamily="34" charset="0"/>
              </a:rPr>
              <a:t>K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, W</a:t>
            </a:r>
            <a:r>
              <a:rPr lang="pt-BR" sz="1500" baseline="-25000" dirty="0">
                <a:solidFill>
                  <a:srgbClr val="5A6270"/>
                </a:solidFill>
                <a:latin typeface="Calibri" panose="020F0502020204030204" pitchFamily="34" charset="0"/>
              </a:rPr>
              <a:t>V 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tem dimensão 512 × 64.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08C8734-C3B9-4913-9600-9047BDA592FD}"/>
              </a:ext>
            </a:extLst>
          </p:cNvPr>
          <p:cNvSpPr txBox="1"/>
          <p:nvPr/>
        </p:nvSpPr>
        <p:spPr>
          <a:xfrm>
            <a:off x="4736653" y="6046915"/>
            <a:ext cx="5356860" cy="40995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Q é comparada com K; V carrega o conteúdo.</a:t>
            </a:r>
            <a:endParaRPr lang="es-ES" sz="1500" b="1" dirty="0">
              <a:solidFill>
                <a:srgbClr val="0E7C8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337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395529-0C4A-41CC-BAD4-78EC23605A3B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Como se calcula a atenção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157729-0C14-42C5-8F78-4CA99B8DFF26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Quatro etapas: produto matricial, escalonamento,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softmax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e combinação ponderada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1b">
            <a:extLst>
              <a:ext uri="{FF2B5EF4-FFF2-40B4-BE49-F238E27FC236}">
                <a16:creationId xmlns:a16="http://schemas.microsoft.com/office/drawing/2014/main" id="{3571F30A-DB0A-48CB-BB6E-68A5E0A2E2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19" y="2137714"/>
            <a:ext cx="7406640" cy="226621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28A5197-4C52-46B8-ADB5-D8FCC9B8DF24}"/>
              </a:ext>
            </a:extLst>
          </p:cNvPr>
          <p:cNvSpPr/>
          <p:nvPr/>
        </p:nvSpPr>
        <p:spPr>
          <a:xfrm>
            <a:off x="528089" y="462280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AC322AA-1712-4441-9770-0625C463E96D}"/>
              </a:ext>
            </a:extLst>
          </p:cNvPr>
          <p:cNvSpPr/>
          <p:nvPr/>
        </p:nvSpPr>
        <p:spPr>
          <a:xfrm>
            <a:off x="655089" y="4749800"/>
            <a:ext cx="304800" cy="3048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54E796-9148-4D50-8E39-29F5D7319CF0}"/>
              </a:ext>
            </a:extLst>
          </p:cNvPr>
          <p:cNvSpPr txBox="1"/>
          <p:nvPr/>
        </p:nvSpPr>
        <p:spPr>
          <a:xfrm>
            <a:off x="1061489" y="474980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 dirty="0">
                <a:solidFill>
                  <a:srgbClr val="74508F"/>
                </a:solidFill>
                <a:latin typeface="Cambria Math" panose="02040503050406030204" pitchFamily="18" charset="0"/>
              </a:rPr>
              <a:t>Q </a:t>
            </a:r>
            <a:r>
              <a:rPr lang="es-ES" b="1" dirty="0">
                <a:solidFill>
                  <a:srgbClr val="A0561F"/>
                </a:solidFill>
                <a:latin typeface="Cambria Math" panose="02040503050406030204" pitchFamily="18" charset="0"/>
              </a:rPr>
              <a:t>K</a:t>
            </a:r>
            <a:r>
              <a:rPr lang="es-ES" b="1" baseline="30000" dirty="0">
                <a:solidFill>
                  <a:srgbClr val="1B2A41"/>
                </a:solidFill>
                <a:latin typeface="Cambria Math" panose="02040503050406030204" pitchFamily="18" charset="0"/>
              </a:rPr>
              <a:t>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111969-41F2-43FB-B78C-37C32E6A0854}"/>
              </a:ext>
            </a:extLst>
          </p:cNvPr>
          <p:cNvSpPr txBox="1"/>
          <p:nvPr/>
        </p:nvSpPr>
        <p:spPr>
          <a:xfrm>
            <a:off x="680489" y="5257800"/>
            <a:ext cx="23591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produto escalar: compatibilidade entre tokens (n × n)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61C5377-B3BC-4D02-BE3D-AE77A6ABF791}"/>
              </a:ext>
            </a:extLst>
          </p:cNvPr>
          <p:cNvSpPr/>
          <p:nvPr/>
        </p:nvSpPr>
        <p:spPr>
          <a:xfrm>
            <a:off x="3368825" y="462280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BCBE78B-776A-4622-BE33-3CE9AB92E80D}"/>
              </a:ext>
            </a:extLst>
          </p:cNvPr>
          <p:cNvSpPr/>
          <p:nvPr/>
        </p:nvSpPr>
        <p:spPr>
          <a:xfrm>
            <a:off x="3495825" y="4749800"/>
            <a:ext cx="304800" cy="3048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BC3E320-EFDB-48DD-84F5-5556B50B67A2}"/>
                  </a:ext>
                </a:extLst>
              </p:cNvPr>
              <p:cNvSpPr txBox="1"/>
              <p:nvPr/>
            </p:nvSpPr>
            <p:spPr>
              <a:xfrm>
                <a:off x="3942566" y="4749800"/>
                <a:ext cx="1422400" cy="369332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b="1" i="1" smtClean="0">
                              <a:solidFill>
                                <a:srgbClr val="1B2A4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s-ES" b="1" dirty="0">
                              <a:solidFill>
                                <a:srgbClr val="1B2A4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s-ES" b="1" baseline="-25000" dirty="0">
                              <a:solidFill>
                                <a:srgbClr val="1B2A4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</m:rad>
                    </m:oMath>
                  </m:oMathPara>
                </a14:m>
                <a:endParaRPr lang="es-ES" b="1" baseline="-25000" dirty="0">
                  <a:solidFill>
                    <a:srgbClr val="1B2A4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BC3E320-EFDB-48DD-84F5-5556B50B6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66" y="4749800"/>
                <a:ext cx="14224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A3441FC0-0171-4F13-B45C-FE05FB2BCAE0}"/>
              </a:ext>
            </a:extLst>
          </p:cNvPr>
          <p:cNvSpPr txBox="1"/>
          <p:nvPr/>
        </p:nvSpPr>
        <p:spPr>
          <a:xfrm>
            <a:off x="3521225" y="5257800"/>
            <a:ext cx="23591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dirty="0">
                <a:solidFill>
                  <a:srgbClr val="1B2A41"/>
                </a:solidFill>
                <a:latin typeface="Calibri" panose="020F0502020204030204" pitchFamily="34" charset="0"/>
              </a:rPr>
              <a:t>escala: evita que a </a:t>
            </a:r>
            <a:r>
              <a:rPr lang="es-ES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softmax</a:t>
            </a:r>
            <a:r>
              <a:rPr lang="es-ES" sz="1500" dirty="0">
                <a:solidFill>
                  <a:srgbClr val="1B2A41"/>
                </a:solidFill>
                <a:latin typeface="Calibri" panose="020F0502020204030204" pitchFamily="34" charset="0"/>
              </a:rPr>
              <a:t> sature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24850A0-6E96-4EC1-A5BA-3939387A0D66}"/>
              </a:ext>
            </a:extLst>
          </p:cNvPr>
          <p:cNvSpPr/>
          <p:nvPr/>
        </p:nvSpPr>
        <p:spPr>
          <a:xfrm>
            <a:off x="6209561" y="462280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950F543-E86B-44CF-A7E9-72763FC0B6CC}"/>
              </a:ext>
            </a:extLst>
          </p:cNvPr>
          <p:cNvSpPr/>
          <p:nvPr/>
        </p:nvSpPr>
        <p:spPr>
          <a:xfrm>
            <a:off x="6336561" y="4749800"/>
            <a:ext cx="304800" cy="3048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226BB2-359E-4EC6-8CC7-CC0C585A3792}"/>
              </a:ext>
            </a:extLst>
          </p:cNvPr>
          <p:cNvSpPr txBox="1"/>
          <p:nvPr/>
        </p:nvSpPr>
        <p:spPr>
          <a:xfrm>
            <a:off x="6742961" y="474980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>
                <a:solidFill>
                  <a:srgbClr val="1B2A41"/>
                </a:solidFill>
                <a:latin typeface="Cambria Math" panose="02040503050406030204" pitchFamily="18" charset="0"/>
              </a:rPr>
              <a:t>softmax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09925BB-4B2D-4027-95AD-76CB6F69F293}"/>
              </a:ext>
            </a:extLst>
          </p:cNvPr>
          <p:cNvSpPr txBox="1"/>
          <p:nvPr/>
        </p:nvSpPr>
        <p:spPr>
          <a:xfrm>
            <a:off x="6361961" y="5257800"/>
            <a:ext cx="23591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por linha: pesos ≥ 0 que somam 1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5BD31F6-C5D9-48B0-9DD9-45D54350F243}"/>
              </a:ext>
            </a:extLst>
          </p:cNvPr>
          <p:cNvSpPr/>
          <p:nvPr/>
        </p:nvSpPr>
        <p:spPr>
          <a:xfrm>
            <a:off x="9050297" y="4622800"/>
            <a:ext cx="2651760" cy="14173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CCEC00EB-C925-4656-A677-DC1B2878C890}"/>
              </a:ext>
            </a:extLst>
          </p:cNvPr>
          <p:cNvSpPr/>
          <p:nvPr/>
        </p:nvSpPr>
        <p:spPr>
          <a:xfrm>
            <a:off x="9177297" y="4749800"/>
            <a:ext cx="304800" cy="3048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85DB340-CB08-4E7C-89AF-FAED8266A206}"/>
              </a:ext>
            </a:extLst>
          </p:cNvPr>
          <p:cNvSpPr txBox="1"/>
          <p:nvPr/>
        </p:nvSpPr>
        <p:spPr>
          <a:xfrm>
            <a:off x="9583697" y="4749800"/>
            <a:ext cx="142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b="1" dirty="0">
                <a:solidFill>
                  <a:srgbClr val="3A6597"/>
                </a:solidFill>
                <a:latin typeface="Cambria Math" panose="02040503050406030204" pitchFamily="18" charset="0"/>
              </a:rPr>
              <a:t>V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A1FA926-E6B7-44D1-B455-411035DFB5BF}"/>
              </a:ext>
            </a:extLst>
          </p:cNvPr>
          <p:cNvSpPr txBox="1"/>
          <p:nvPr/>
        </p:nvSpPr>
        <p:spPr>
          <a:xfrm>
            <a:off x="9202697" y="5257800"/>
            <a:ext cx="2359152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média ponderada dos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values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(n ×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d</a:t>
            </a:r>
            <a:r>
              <a:rPr lang="pt-BR" sz="1500" baseline="-25000" dirty="0" err="1">
                <a:solidFill>
                  <a:srgbClr val="1B2A41"/>
                </a:solidFill>
                <a:latin typeface="Calibri" panose="020F0502020204030204" pitchFamily="34" charset="0"/>
              </a:rPr>
              <a:t>v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)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802FD581-155A-4507-8C40-BC133CDFB5F9}"/>
                  </a:ext>
                </a:extLst>
              </p:cNvPr>
              <p:cNvSpPr txBox="1"/>
              <p:nvPr/>
            </p:nvSpPr>
            <p:spPr>
              <a:xfrm>
                <a:off x="2557272" y="1429266"/>
                <a:ext cx="8763000" cy="6858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t">
                <a:noAutofit/>
              </a:bodyPr>
              <a:lstStyle/>
              <a:p>
                <a:r>
                  <a:rPr lang="es-ES" sz="2000" b="1" dirty="0">
                    <a:solidFill>
                      <a:srgbClr val="1B2A41"/>
                    </a:solidFill>
                    <a:latin typeface="Cambria Math" panose="02040503050406030204" pitchFamily="18" charset="0"/>
                  </a:rPr>
                  <a:t>Attention (Q, K, V) = </a:t>
                </a:r>
                <a:r>
                  <a:rPr lang="es-ES" sz="2000" b="1" dirty="0" err="1">
                    <a:solidFill>
                      <a:srgbClr val="1B2A41"/>
                    </a:solidFill>
                    <a:latin typeface="Cambria Math" panose="02040503050406030204" pitchFamily="18" charset="0"/>
                  </a:rPr>
                  <a:t>softmax</a:t>
                </a:r>
                <a:r>
                  <a:rPr lang="es-ES" sz="2000" b="1" dirty="0">
                    <a:solidFill>
                      <a:srgbClr val="1B2A4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dirty="0" smtClean="0">
                            <a:solidFill>
                              <a:srgbClr val="1B2A4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dirty="0" smtClean="0">
                            <a:solidFill>
                              <a:srgbClr val="1B2A4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s-ES" sz="2000" b="1" i="1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s-ES" sz="2000" b="1" dirty="0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  <m:r>
                              <m:rPr>
                                <m:nor/>
                              </m:rPr>
                              <a:rPr lang="pt-BR" sz="2000" b="1" dirty="0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s-ES" sz="2000" b="1" dirty="0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m:rPr>
                                <m:nor/>
                              </m:rPr>
                              <a:rPr lang="es-ES" sz="2000" b="1" baseline="30000" dirty="0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s-ES" sz="2000" b="1" i="1">
                                    <a:solidFill>
                                      <a:srgbClr val="1B2A4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nor/>
                                  </m:rPr>
                                  <a:rPr lang="es-ES" sz="2000" b="1" dirty="0">
                                    <a:solidFill>
                                      <a:srgbClr val="1B2A41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s-ES" sz="2000" b="1" baseline="-25000" dirty="0">
                                    <a:solidFill>
                                      <a:srgbClr val="1B2A4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es-ES" sz="2000" b="1" baseline="-25000" dirty="0">
                                <a:solidFill>
                                  <a:srgbClr val="1B2A4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es-ES" sz="2000" b="1" i="1" baseline="-25000" dirty="0" smtClean="0">
                            <a:solidFill>
                              <a:srgbClr val="1B2A4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s-ES" sz="2000" b="1" dirty="0">
                    <a:solidFill>
                      <a:srgbClr val="1B2A4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s-ES" b="1" dirty="0">
                    <a:solidFill>
                      <a:srgbClr val="1B2A41"/>
                    </a:solidFill>
                    <a:latin typeface="Cambria Math" panose="02040503050406030204" pitchFamily="18" charset="0"/>
                  </a:rPr>
                  <a:t>V</a:t>
                </a:r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802FD581-155A-4507-8C40-BC133CDFB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72" y="1429266"/>
                <a:ext cx="8763000" cy="685800"/>
              </a:xfrm>
              <a:prstGeom prst="rect">
                <a:avLst/>
              </a:prstGeom>
              <a:blipFill>
                <a:blip r:embed="rId5"/>
                <a:stretch>
                  <a:fillRect l="-18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ángulo: esquinas redondeadas 6">
            <a:extLst>
              <a:ext uri="{FF2B5EF4-FFF2-40B4-BE49-F238E27FC236}">
                <a16:creationId xmlns:a16="http://schemas.microsoft.com/office/drawing/2014/main" id="{C28A5197-4C52-46B8-ADB5-D8FCC9B8DF24}"/>
              </a:ext>
            </a:extLst>
          </p:cNvPr>
          <p:cNvSpPr/>
          <p:nvPr/>
        </p:nvSpPr>
        <p:spPr>
          <a:xfrm>
            <a:off x="8412480" y="1600200"/>
            <a:ext cx="3273552" cy="1874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62DC4E6-1EB8-44D4-9C23-9E30EAC9C401}"/>
              </a:ext>
            </a:extLst>
          </p:cNvPr>
          <p:cNvSpPr txBox="1"/>
          <p:nvPr/>
        </p:nvSpPr>
        <p:spPr>
          <a:xfrm>
            <a:off x="8641080" y="1783080"/>
            <a:ext cx="2926080" cy="14630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</a:rPr>
              <a:t>A softmax distribui o peso,</a:t>
            </a:r>
          </a:p>
          <a:p>
            <a:r>
              <a:rPr lang="pt-BR" sz="1500" b="1" dirty="0">
                <a:solidFill>
                  <a:srgbClr val="1B2A41"/>
                </a:solidFill>
              </a:rPr>
              <a:t>não escolhe um só:</a:t>
            </a:r>
          </a:p>
          <a:p>
            <a:r>
              <a:rPr lang="pt-BR" sz="1500" dirty="0">
                <a:solidFill>
                  <a:srgbClr val="5A6270"/>
                </a:solidFill>
              </a:rPr>
              <a:t>softmax(2,0 | 1,0 | 0,1)</a:t>
            </a:r>
          </a:p>
          <a:p>
            <a:r>
              <a:rPr lang="pt-BR" sz="1500" b="1" dirty="0">
                <a:solidFill>
                  <a:srgbClr val="0E7C86"/>
                </a:solidFill>
              </a:rPr>
              <a:t>= 0,66 | 0,24 | 0,10</a:t>
            </a:r>
          </a:p>
        </p:txBody>
      </p:sp>
    </p:spTree>
    <p:extLst>
      <p:ext uri="{BB962C8B-B14F-4D97-AF65-F5344CB8AC3E}">
        <p14:creationId xmlns:p14="http://schemas.microsoft.com/office/powerpoint/2010/main" val="19824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3741A0-A9F2-4A05-8354-72B317D19159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Exemplo: a quem “ele” presta atenção?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D5BCD8-354F-446F-BB16-CD44E4143D0E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“O macaco comeu a banana porque ele estava com fome.” Números didáticos (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d</a:t>
            </a:r>
            <a:r>
              <a:rPr lang="pt-BR" sz="1500" baseline="-25000" dirty="0" err="1">
                <a:solidFill>
                  <a:srgbClr val="5A6270"/>
                </a:solidFill>
                <a:latin typeface="Calibri" panose="020F0502020204030204" pitchFamily="34" charset="0"/>
              </a:rPr>
              <a:t>k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 = 2), contas reais.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FC88ED-DA5B-4FB9-8A79-4EC0CABC11C7}"/>
              </a:ext>
            </a:extLst>
          </p:cNvPr>
          <p:cNvSpPr txBox="1"/>
          <p:nvPr/>
        </p:nvSpPr>
        <p:spPr>
          <a:xfrm>
            <a:off x="7452360" y="5257800"/>
            <a:ext cx="4233672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0E7C86"/>
                </a:solidFill>
                <a:latin typeface="Calibri" panose="020F0502020204030204" pitchFamily="34" charset="0"/>
              </a:rPr>
              <a:t>“ele” passa a carregar informação de “macaco”.</a:t>
            </a:r>
            <a:endParaRPr lang="es-ES" sz="1500" b="1">
              <a:solidFill>
                <a:srgbClr val="0E7C86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F508E8C-9B98-40CB-85AC-0B1C8D029ECE}"/>
              </a:ext>
            </a:extLst>
          </p:cNvPr>
          <p:cNvSpPr txBox="1"/>
          <p:nvPr/>
        </p:nvSpPr>
        <p:spPr>
          <a:xfrm>
            <a:off x="7452360" y="1417320"/>
            <a:ext cx="4233672" cy="5029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Self-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attention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: linhas = quem consulta · colunas = quem é consultado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D84AA0D-854A-44D3-8A94-0DC9F7C36289}"/>
              </a:ext>
            </a:extLst>
          </p:cNvPr>
          <p:cNvSpPr txBox="1"/>
          <p:nvPr/>
        </p:nvSpPr>
        <p:spPr>
          <a:xfrm>
            <a:off x="7452360" y="2458720"/>
            <a:ext cx="77724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macaco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BE6C42-D37A-48E0-8BCF-83759895A02A}"/>
              </a:ext>
            </a:extLst>
          </p:cNvPr>
          <p:cNvSpPr/>
          <p:nvPr/>
        </p:nvSpPr>
        <p:spPr>
          <a:xfrm>
            <a:off x="8275320" y="2458720"/>
            <a:ext cx="1133856" cy="609600"/>
          </a:xfrm>
          <a:prstGeom prst="rect">
            <a:avLst/>
          </a:prstGeom>
          <a:solidFill>
            <a:srgbClr val="86BEC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0,50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A09EBA3-31D1-4C02-BBB5-64379E347A80}"/>
              </a:ext>
            </a:extLst>
          </p:cNvPr>
          <p:cNvSpPr/>
          <p:nvPr/>
        </p:nvSpPr>
        <p:spPr>
          <a:xfrm>
            <a:off x="9409176" y="2458720"/>
            <a:ext cx="1133856" cy="609600"/>
          </a:xfrm>
          <a:prstGeom prst="rect">
            <a:avLst/>
          </a:prstGeom>
          <a:solidFill>
            <a:srgbClr val="C3DEE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0,25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0695E68-A235-46F8-BE5D-AA2F7D503AA4}"/>
              </a:ext>
            </a:extLst>
          </p:cNvPr>
          <p:cNvSpPr/>
          <p:nvPr/>
        </p:nvSpPr>
        <p:spPr>
          <a:xfrm>
            <a:off x="10543032" y="2458720"/>
            <a:ext cx="1133856" cy="609600"/>
          </a:xfrm>
          <a:prstGeom prst="rect">
            <a:avLst/>
          </a:prstGeom>
          <a:solidFill>
            <a:srgbClr val="C3DEE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0,25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A721BEE-6C72-4077-BAB3-0D856AC70D59}"/>
              </a:ext>
            </a:extLst>
          </p:cNvPr>
          <p:cNvSpPr txBox="1"/>
          <p:nvPr/>
        </p:nvSpPr>
        <p:spPr>
          <a:xfrm>
            <a:off x="7452360" y="3068320"/>
            <a:ext cx="77724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banana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34E7710-E834-4A8F-B72E-E7574D713BEE}"/>
              </a:ext>
            </a:extLst>
          </p:cNvPr>
          <p:cNvSpPr/>
          <p:nvPr/>
        </p:nvSpPr>
        <p:spPr>
          <a:xfrm>
            <a:off x="8275320" y="3068320"/>
            <a:ext cx="1133856" cy="609600"/>
          </a:xfrm>
          <a:prstGeom prst="rect">
            <a:avLst/>
          </a:prstGeom>
          <a:solidFill>
            <a:srgbClr val="65ABB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0,64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8AA510-773B-4D8C-8318-12F872359EE9}"/>
              </a:ext>
            </a:extLst>
          </p:cNvPr>
          <p:cNvSpPr/>
          <p:nvPr/>
        </p:nvSpPr>
        <p:spPr>
          <a:xfrm>
            <a:off x="9409176" y="3068320"/>
            <a:ext cx="1133856" cy="609600"/>
          </a:xfrm>
          <a:prstGeom prst="rect">
            <a:avLst/>
          </a:prstGeom>
          <a:solidFill>
            <a:srgbClr val="F5FAFA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41CFAA3-1F5C-4A3D-B9BE-855DA00E7AF8}"/>
              </a:ext>
            </a:extLst>
          </p:cNvPr>
          <p:cNvSpPr/>
          <p:nvPr/>
        </p:nvSpPr>
        <p:spPr>
          <a:xfrm>
            <a:off x="10543032" y="3068320"/>
            <a:ext cx="1133856" cy="609600"/>
          </a:xfrm>
          <a:prstGeom prst="rect">
            <a:avLst/>
          </a:prstGeom>
          <a:solidFill>
            <a:srgbClr val="B2D5D8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0,32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337470B-9D9D-4EF3-8AB7-BAC289F6195B}"/>
              </a:ext>
            </a:extLst>
          </p:cNvPr>
          <p:cNvSpPr txBox="1"/>
          <p:nvPr/>
        </p:nvSpPr>
        <p:spPr>
          <a:xfrm>
            <a:off x="7452360" y="3677920"/>
            <a:ext cx="77724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ele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B3B3042-8204-491B-ADCC-A83157697782}"/>
              </a:ext>
            </a:extLst>
          </p:cNvPr>
          <p:cNvSpPr/>
          <p:nvPr/>
        </p:nvSpPr>
        <p:spPr>
          <a:xfrm>
            <a:off x="8275320" y="3677920"/>
            <a:ext cx="1133856" cy="609600"/>
          </a:xfrm>
          <a:prstGeom prst="rect">
            <a:avLst/>
          </a:prstGeom>
          <a:solidFill>
            <a:srgbClr val="41989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FFFFFF"/>
                </a:solidFill>
                <a:latin typeface="Calibri" panose="020F0502020204030204" pitchFamily="34" charset="0"/>
              </a:rPr>
              <a:t>0,79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80D0D84-19A8-4ED0-A05C-B27038C83894}"/>
              </a:ext>
            </a:extLst>
          </p:cNvPr>
          <p:cNvSpPr/>
          <p:nvPr/>
        </p:nvSpPr>
        <p:spPr>
          <a:xfrm>
            <a:off x="9409176" y="3677920"/>
            <a:ext cx="1133856" cy="609600"/>
          </a:xfrm>
          <a:prstGeom prst="rect">
            <a:avLst/>
          </a:prstGeom>
          <a:solidFill>
            <a:srgbClr val="FAFCFD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0,02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57B3184-233A-4098-AF5A-E5FB9715C272}"/>
              </a:ext>
            </a:extLst>
          </p:cNvPr>
          <p:cNvSpPr/>
          <p:nvPr/>
        </p:nvSpPr>
        <p:spPr>
          <a:xfrm>
            <a:off x="10543032" y="3677920"/>
            <a:ext cx="1133856" cy="609600"/>
          </a:xfrm>
          <a:prstGeom prst="rect">
            <a:avLst/>
          </a:prstGeom>
          <a:solidFill>
            <a:srgbClr val="D1E6E8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0,19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126B08F-526F-4096-A095-28B0FD8FDFDA}"/>
              </a:ext>
            </a:extLst>
          </p:cNvPr>
          <p:cNvSpPr txBox="1"/>
          <p:nvPr/>
        </p:nvSpPr>
        <p:spPr>
          <a:xfrm>
            <a:off x="8275320" y="2230120"/>
            <a:ext cx="1133856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macaco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5C33B80-7860-411F-A2F5-07DDD16117B2}"/>
              </a:ext>
            </a:extLst>
          </p:cNvPr>
          <p:cNvSpPr txBox="1"/>
          <p:nvPr/>
        </p:nvSpPr>
        <p:spPr>
          <a:xfrm>
            <a:off x="9409176" y="2230120"/>
            <a:ext cx="1133856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banana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D973826-B0A3-4CDF-837C-C7B7B529E2F7}"/>
              </a:ext>
            </a:extLst>
          </p:cNvPr>
          <p:cNvSpPr txBox="1"/>
          <p:nvPr/>
        </p:nvSpPr>
        <p:spPr>
          <a:xfrm>
            <a:off x="10543032" y="2230120"/>
            <a:ext cx="1133856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 dirty="0">
                <a:solidFill>
                  <a:srgbClr val="5A6270"/>
                </a:solidFill>
                <a:latin typeface="Calibri" panose="020F0502020204030204" pitchFamily="34" charset="0"/>
              </a:rPr>
              <a:t>ele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276C109-A629-4AD3-B97C-832D38027386}"/>
              </a:ext>
            </a:extLst>
          </p:cNvPr>
          <p:cNvSpPr/>
          <p:nvPr/>
        </p:nvSpPr>
        <p:spPr>
          <a:xfrm>
            <a:off x="8275320" y="3677920"/>
            <a:ext cx="3401568" cy="609600"/>
          </a:xfrm>
          <a:prstGeom prst="rect">
            <a:avLst/>
          </a:prstGeom>
          <a:noFill/>
          <a:ln w="31750" cap="flat" cmpd="sng" algn="ctr">
            <a:solidFill>
              <a:srgbClr val="1B2A4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6E6599A-48C1-4A21-A0CF-43F1CC6967B2}"/>
              </a:ext>
            </a:extLst>
          </p:cNvPr>
          <p:cNvSpPr txBox="1"/>
          <p:nvPr/>
        </p:nvSpPr>
        <p:spPr>
          <a:xfrm>
            <a:off x="7452360" y="4480560"/>
            <a:ext cx="4233672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Cada linha soma 1 e cada posição recebe sua própria combinação.</a:t>
            </a:r>
          </a:p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Q, K e V vêm da mesma sequência.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AF3AC61-202A-499A-8AF9-B9D6F0767E32}"/>
              </a:ext>
            </a:extLst>
          </p:cNvPr>
          <p:cNvSpPr txBox="1"/>
          <p:nvPr/>
        </p:nvSpPr>
        <p:spPr>
          <a:xfrm>
            <a:off x="508000" y="5852160"/>
            <a:ext cx="102412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Exemplo didático construído para a apresentação (vetores escolhidos à mão; na matriz, só a linha “ele” foi calculada, as demais são ilustrativas)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34" name="Exemplo numérico (LaTeX)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81328"/>
            <a:ext cx="6563868" cy="404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3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9670151-11DB-4410-86B9-77EADBFF14F5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Multi-head attention: várias combinações em paralelo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796CD7-6CF0-4236-80A2-4466FE2BC04F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Cada cabeça tem projeções próprias; os resultados são concatenados.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2a">
            <a:extLst>
              <a:ext uri="{FF2B5EF4-FFF2-40B4-BE49-F238E27FC236}">
                <a16:creationId xmlns:a16="http://schemas.microsoft.com/office/drawing/2014/main" id="{6F3AFB59-DAA8-4A90-A16F-CB8001A72A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75" y="1371600"/>
            <a:ext cx="5486400" cy="36576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79E961D-10E7-48CA-BDF9-C5D62F9A10E6}"/>
              </a:ext>
            </a:extLst>
          </p:cNvPr>
          <p:cNvSpPr/>
          <p:nvPr/>
        </p:nvSpPr>
        <p:spPr>
          <a:xfrm>
            <a:off x="771444" y="1975104"/>
            <a:ext cx="1178169" cy="27432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CABEÇA 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2DE561-66A7-4365-88C7-51381A10675D}"/>
              </a:ext>
            </a:extLst>
          </p:cNvPr>
          <p:cNvSpPr/>
          <p:nvPr/>
        </p:nvSpPr>
        <p:spPr>
          <a:xfrm>
            <a:off x="3795998" y="1975104"/>
            <a:ext cx="1178169" cy="27432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CABEÇA 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7A3AE29-7BC1-49E9-A387-B2F81D57B3BC}"/>
              </a:ext>
            </a:extLst>
          </p:cNvPr>
          <p:cNvSpPr/>
          <p:nvPr/>
        </p:nvSpPr>
        <p:spPr>
          <a:xfrm>
            <a:off x="1900377" y="1600200"/>
            <a:ext cx="738554" cy="32355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3E7A45"/>
                </a:solidFill>
                <a:latin typeface="Calibri" panose="020F0502020204030204" pitchFamily="34" charset="0"/>
              </a:rPr>
              <a:t>tokens</a:t>
            </a:r>
          </a:p>
        </p:txBody>
      </p:sp>
      <p:pic>
        <p:nvPicPr>
          <p:cNvPr id="11" name="FIG_c22b">
            <a:extLst>
              <a:ext uri="{FF2B5EF4-FFF2-40B4-BE49-F238E27FC236}">
                <a16:creationId xmlns:a16="http://schemas.microsoft.com/office/drawing/2014/main" id="{5041C078-190E-416E-BA1B-0D9F84113B3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690" y="1468563"/>
            <a:ext cx="4824730" cy="310460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BC3A258-8447-456F-89D4-FF03EF7E9EBF}"/>
              </a:ext>
            </a:extLst>
          </p:cNvPr>
          <p:cNvSpPr/>
          <p:nvPr/>
        </p:nvSpPr>
        <p:spPr>
          <a:xfrm>
            <a:off x="6514690" y="1506115"/>
            <a:ext cx="818106" cy="369196"/>
          </a:xfrm>
          <a:prstGeom prst="rect">
            <a:avLst/>
          </a:prstGeom>
          <a:solidFill>
            <a:srgbClr val="FFFF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CABEÇA 0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4D9BF7C-B165-485D-90DE-32EEC1525D94}"/>
              </a:ext>
            </a:extLst>
          </p:cNvPr>
          <p:cNvSpPr/>
          <p:nvPr/>
        </p:nvSpPr>
        <p:spPr>
          <a:xfrm>
            <a:off x="7857224" y="1506115"/>
            <a:ext cx="818106" cy="369196"/>
          </a:xfrm>
          <a:prstGeom prst="rect">
            <a:avLst/>
          </a:prstGeom>
          <a:solidFill>
            <a:srgbClr val="FFFE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CABEÇA 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6D40E0-D303-4B22-B45B-5E65FEC4281C}"/>
              </a:ext>
            </a:extLst>
          </p:cNvPr>
          <p:cNvSpPr/>
          <p:nvPr/>
        </p:nvSpPr>
        <p:spPr>
          <a:xfrm>
            <a:off x="10500337" y="1506115"/>
            <a:ext cx="818106" cy="3691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CABEÇA 7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0862E77-282F-4AB2-A8BA-1B9471005DDF}"/>
              </a:ext>
            </a:extLst>
          </p:cNvPr>
          <p:cNvSpPr/>
          <p:nvPr/>
        </p:nvSpPr>
        <p:spPr>
          <a:xfrm>
            <a:off x="6640553" y="4254113"/>
            <a:ext cx="3356332" cy="27689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dirty="0">
                <a:solidFill>
                  <a:srgbClr val="1B2A41"/>
                </a:solidFill>
                <a:latin typeface="Calibri" panose="020F0502020204030204" pitchFamily="34" charset="0"/>
              </a:rPr>
              <a:t>m = h = número de </a:t>
            </a:r>
            <a:r>
              <a:rPr lang="es-ES" sz="1300" dirty="0" err="1">
                <a:solidFill>
                  <a:srgbClr val="1B2A41"/>
                </a:solidFill>
                <a:latin typeface="Calibri" panose="020F0502020204030204" pitchFamily="34" charset="0"/>
              </a:rPr>
              <a:t>cabeças</a:t>
            </a:r>
            <a:endParaRPr lang="es-ES" sz="13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D2D6937-5758-4EEE-BB6C-B33C4C87B1B2}"/>
              </a:ext>
            </a:extLst>
          </p:cNvPr>
          <p:cNvSpPr txBox="1"/>
          <p:nvPr/>
        </p:nvSpPr>
        <p:spPr>
          <a:xfrm>
            <a:off x="6493713" y="4726178"/>
            <a:ext cx="4824730" cy="5355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8 saídas Z concatenadas → × W</a:t>
            </a:r>
            <a:r>
              <a:rPr lang="pt-BR" sz="1500" baseline="30000" dirty="0">
                <a:solidFill>
                  <a:srgbClr val="5A6270"/>
                </a:solidFill>
                <a:latin typeface="Calibri" panose="020F0502020204030204" pitchFamily="34" charset="0"/>
              </a:rPr>
              <a:t>O</a:t>
            </a:r>
            <a:endParaRPr lang="es-ES" sz="1500" baseline="300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CC791E8-ED5D-4FAF-8563-4455E5478CB3}"/>
              </a:ext>
            </a:extLst>
          </p:cNvPr>
          <p:cNvSpPr txBox="1"/>
          <p:nvPr/>
        </p:nvSpPr>
        <p:spPr>
          <a:xfrm>
            <a:off x="508000" y="5138928"/>
            <a:ext cx="876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head</a:t>
            </a:r>
            <a:r>
              <a:rPr lang="es-E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</a:t>
            </a:r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 = Attention(XW</a:t>
            </a:r>
            <a:r>
              <a:rPr lang="es-E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</a:t>
            </a:r>
            <a:r>
              <a:rPr lang="es-ES" sz="1700" baseline="30000">
                <a:solidFill>
                  <a:srgbClr val="1B2A41"/>
                </a:solidFill>
                <a:latin typeface="Cambria Math" panose="02040503050406030204" pitchFamily="18" charset="0"/>
              </a:rPr>
              <a:t>Q</a:t>
            </a:r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, XW</a:t>
            </a:r>
            <a:r>
              <a:rPr lang="es-E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</a:t>
            </a:r>
            <a:r>
              <a:rPr lang="es-ES" sz="1700" baseline="30000">
                <a:solidFill>
                  <a:srgbClr val="1B2A41"/>
                </a:solidFill>
                <a:latin typeface="Cambria Math" panose="02040503050406030204" pitchFamily="18" charset="0"/>
              </a:rPr>
              <a:t>K</a:t>
            </a:r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, XW</a:t>
            </a:r>
            <a:r>
              <a:rPr lang="es-E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</a:t>
            </a:r>
            <a:r>
              <a:rPr lang="es-ES" sz="1700" baseline="30000">
                <a:solidFill>
                  <a:srgbClr val="1B2A41"/>
                </a:solidFill>
                <a:latin typeface="Cambria Math" panose="02040503050406030204" pitchFamily="18" charset="0"/>
              </a:rPr>
              <a:t>V</a:t>
            </a:r>
            <a:r>
              <a:rPr lang="es-ES" sz="1700">
                <a:solidFill>
                  <a:srgbClr val="1B2A41"/>
                </a:solidFill>
                <a:latin typeface="Cambria Math" panose="02040503050406030204" pitchFamily="18" charset="0"/>
              </a:rPr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8288AB5-27B1-4320-9B2D-89905CC0E990}"/>
              </a:ext>
            </a:extLst>
          </p:cNvPr>
          <p:cNvSpPr txBox="1"/>
          <p:nvPr/>
        </p:nvSpPr>
        <p:spPr>
          <a:xfrm>
            <a:off x="508000" y="5486400"/>
            <a:ext cx="876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>
                <a:solidFill>
                  <a:srgbClr val="1B2A41"/>
                </a:solidFill>
                <a:latin typeface="Cambria Math" panose="02040503050406030204" pitchFamily="18" charset="0"/>
              </a:rPr>
              <a:t>MultiHead(X) = Concat(head</a:t>
            </a:r>
            <a:r>
              <a:rPr lang="en-U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1</a:t>
            </a:r>
            <a:r>
              <a:rPr lang="en-US" sz="1700">
                <a:solidFill>
                  <a:srgbClr val="1B2A41"/>
                </a:solidFill>
                <a:latin typeface="Cambria Math" panose="02040503050406030204" pitchFamily="18" charset="0"/>
              </a:rPr>
              <a:t>, …, head</a:t>
            </a:r>
            <a:r>
              <a:rPr lang="en-U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h</a:t>
            </a:r>
            <a:r>
              <a:rPr lang="en-US" sz="1700">
                <a:solidFill>
                  <a:srgbClr val="1B2A41"/>
                </a:solidFill>
                <a:latin typeface="Cambria Math" panose="02040503050406030204" pitchFamily="18" charset="0"/>
              </a:rPr>
              <a:t>) W</a:t>
            </a:r>
            <a:r>
              <a:rPr lang="en-US" sz="1700" baseline="30000">
                <a:solidFill>
                  <a:srgbClr val="1B2A41"/>
                </a:solidFill>
                <a:latin typeface="Cambria Math" panose="02040503050406030204" pitchFamily="18" charset="0"/>
              </a:rPr>
              <a:t>O</a:t>
            </a:r>
            <a:r>
              <a:rPr lang="en-US" sz="1700">
                <a:solidFill>
                  <a:srgbClr val="1B2A41"/>
                </a:solidFill>
                <a:latin typeface="Cambria Math" panose="02040503050406030204" pitchFamily="18" charset="0"/>
              </a:rPr>
              <a:t>     h = 8,  d</a:t>
            </a:r>
            <a:r>
              <a:rPr lang="en-US" sz="17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k</a:t>
            </a:r>
            <a:r>
              <a:rPr lang="en-US" sz="1700">
                <a:solidFill>
                  <a:srgbClr val="1B2A41"/>
                </a:solidFill>
                <a:latin typeface="Cambria Math" panose="02040503050406030204" pitchFamily="18" charset="0"/>
              </a:rPr>
              <a:t> = 512/8 = 64</a:t>
            </a:r>
            <a:endParaRPr lang="es-ES" sz="1700">
              <a:solidFill>
                <a:srgbClr val="1B2A41"/>
              </a:solidFill>
              <a:latin typeface="Cambria Math" panose="020405030504060302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2B83546-E5F4-4AA2-958F-765D327279F3}"/>
              </a:ext>
            </a:extLst>
          </p:cNvPr>
          <p:cNvSpPr txBox="1"/>
          <p:nvPr/>
        </p:nvSpPr>
        <p:spPr>
          <a:xfrm>
            <a:off x="508000" y="5897880"/>
            <a:ext cx="876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O que cada cabeça aprende emerge do treino; não há uma função linguística fixa por cabeça.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382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71314DF-6434-487C-92D6-9633B96A7FE1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B2A41"/>
                </a:solidFill>
                <a:latin typeface="Cambria" panose="02040503050406030204" pitchFamily="18" charset="0"/>
              </a:rPr>
              <a:t>Feed-forward, Add &amp; Norm e o encoder completo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532CF5-D5FC-48FC-9AF0-FF454388AAF8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A atenção troca informação entre tokens; a feed-forward transforma cada token.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35">
            <a:extLst>
              <a:ext uri="{FF2B5EF4-FFF2-40B4-BE49-F238E27FC236}">
                <a16:creationId xmlns:a16="http://schemas.microsoft.com/office/drawing/2014/main" id="{2A654956-36E5-4C0A-8A64-8158FD4346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87" y="1396594"/>
            <a:ext cx="6096000" cy="200526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4FB3009-3E16-4C41-AEA8-451AA520FD56}"/>
              </a:ext>
            </a:extLst>
          </p:cNvPr>
          <p:cNvSpPr/>
          <p:nvPr/>
        </p:nvSpPr>
        <p:spPr>
          <a:xfrm>
            <a:off x="607451" y="2283562"/>
            <a:ext cx="2085473" cy="237744"/>
          </a:xfrm>
          <a:prstGeom prst="rect">
            <a:avLst/>
          </a:prstGeom>
          <a:solidFill>
            <a:srgbClr val="FFF3C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ativação ReLU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30B000-295D-4C40-905C-740D7767BDCB}"/>
              </a:ext>
            </a:extLst>
          </p:cNvPr>
          <p:cNvSpPr txBox="1"/>
          <p:nvPr/>
        </p:nvSpPr>
        <p:spPr>
          <a:xfrm>
            <a:off x="508000" y="3547872"/>
            <a:ext cx="6099048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Feed-</a:t>
            </a:r>
            <a:r>
              <a:rPr lang="pt-BR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forward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expande (512 → 2048), aplica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ReLU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e reduz (→ 512); mesma rede em cada posição.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AFB446A-FA82-40FE-822F-77822DF2F481}"/>
              </a:ext>
            </a:extLst>
          </p:cNvPr>
          <p:cNvSpPr txBox="1"/>
          <p:nvPr/>
        </p:nvSpPr>
        <p:spPr>
          <a:xfrm>
            <a:off x="7086600" y="3547872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Add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 &amp; Norm: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soma a entrada (residual) e normaliza.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DBA7CE5-FF34-4FB7-9DD6-70ED28E9F6A0}"/>
              </a:ext>
            </a:extLst>
          </p:cNvPr>
          <p:cNvSpPr/>
          <p:nvPr/>
        </p:nvSpPr>
        <p:spPr>
          <a:xfrm>
            <a:off x="508000" y="4370832"/>
            <a:ext cx="11173968" cy="18288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DCDC8EC-F6FC-4372-992E-674C982075BD}"/>
              </a:ext>
            </a:extLst>
          </p:cNvPr>
          <p:cNvSpPr txBox="1"/>
          <p:nvPr/>
        </p:nvSpPr>
        <p:spPr>
          <a:xfrm>
            <a:off x="736600" y="4553712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Encoder</a:t>
            </a:r>
            <a:r>
              <a:rPr lang="en-US" sz="1500" dirty="0">
                <a:solidFill>
                  <a:srgbClr val="1B2A41"/>
                </a:solidFill>
                <a:latin typeface="Calibri" panose="020F0502020204030204" pitchFamily="34" charset="0"/>
              </a:rPr>
              <a:t> = [ self-attention → Add &amp; Norm → FFN → Add &amp; Norm ] × 6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4592B68-BB7C-4EC8-964C-D7EF400F62B0}"/>
              </a:ext>
            </a:extLst>
          </p:cNvPr>
          <p:cNvSpPr txBox="1"/>
          <p:nvPr/>
        </p:nvSpPr>
        <p:spPr>
          <a:xfrm>
            <a:off x="736600" y="4956048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Mesma estrutura em cada camada, mas 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parâmetros diferentes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</a:p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Saída: um vetor contextualizado por token (n × 512), que segue para o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decoder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613FD55-2529-4A57-ACEB-2A187B3C1DD2}"/>
              </a:ext>
            </a:extLst>
          </p:cNvPr>
          <p:cNvSpPr txBox="1"/>
          <p:nvPr/>
        </p:nvSpPr>
        <p:spPr>
          <a:xfrm>
            <a:off x="736600" y="5687568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Original: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LayerNorm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(x + Subcamada(x)) (Post-LN). Muitas variantes atuais usam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Pre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-LN.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grpSp>
        <p:nvGrpSpPr>
          <p:cNvPr id="33" name="Esquema_AddNorm">
            <a:extLst>
              <a:ext uri="{FF2B5EF4-FFF2-40B4-BE49-F238E27FC236}">
                <a16:creationId xmlns:a16="http://schemas.microsoft.com/office/drawing/2014/main" id="{7AE7CCD4-17C1-46C0-B545-E6C15D4AA245}"/>
              </a:ext>
            </a:extLst>
          </p:cNvPr>
          <p:cNvGrpSpPr/>
          <p:nvPr/>
        </p:nvGrpSpPr>
        <p:grpSpPr>
          <a:xfrm>
            <a:off x="7010400" y="1625600"/>
            <a:ext cx="4673600" cy="1740932"/>
            <a:chOff x="7010400" y="1625600"/>
            <a:chExt cx="4673600" cy="1740932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1DF9C96E-C16E-4869-B4E5-7259E4B347B3}"/>
                </a:ext>
              </a:extLst>
            </p:cNvPr>
            <p:cNvSpPr/>
            <p:nvPr/>
          </p:nvSpPr>
          <p:spPr>
            <a:xfrm>
              <a:off x="7112000" y="2298700"/>
              <a:ext cx="381000" cy="381000"/>
            </a:xfrm>
            <a:prstGeom prst="ellipse">
              <a:avLst/>
            </a:prstGeom>
            <a:solidFill>
              <a:srgbClr val="E9EDF3"/>
            </a:solidFill>
            <a:ln w="15875">
              <a:solidFill>
                <a:srgbClr val="8A96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s-ES" sz="1300" b="1">
                  <a:solidFill>
                    <a:srgbClr val="1F2937"/>
                  </a:solidFill>
                  <a:latin typeface="Cambria Math" panose="02040503050406030204" pitchFamily="18" charset="0"/>
                </a:rPr>
                <a:t>x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CF93FAB-BCD6-4D5D-91FF-2D5141E148AD}"/>
                </a:ext>
              </a:extLst>
            </p:cNvPr>
            <p:cNvSpPr txBox="1"/>
            <p:nvPr/>
          </p:nvSpPr>
          <p:spPr>
            <a:xfrm>
              <a:off x="7010400" y="2717800"/>
              <a:ext cx="5842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entrada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14FAFC4-FC79-4D7A-8E49-C95FFA7C67D3}"/>
                </a:ext>
              </a:extLst>
            </p:cNvPr>
            <p:cNvCxnSpPr/>
            <p:nvPr/>
          </p:nvCxnSpPr>
          <p:spPr>
            <a:xfrm>
              <a:off x="7493000" y="2489200"/>
              <a:ext cx="177800" cy="0"/>
            </a:xfrm>
            <a:prstGeom prst="line">
              <a:avLst/>
            </a:prstGeom>
            <a:ln w="19050">
              <a:solidFill>
                <a:srgbClr val="1F29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955B8413-6FB7-4389-8BDD-0D567881A640}"/>
                </a:ext>
              </a:extLst>
            </p:cNvPr>
            <p:cNvSpPr/>
            <p:nvPr/>
          </p:nvSpPr>
          <p:spPr>
            <a:xfrm>
              <a:off x="7670800" y="2209800"/>
              <a:ext cx="1320800" cy="558800"/>
            </a:xfrm>
            <a:prstGeom prst="roundRect">
              <a:avLst>
                <a:gd name="adj" fmla="val 18000"/>
              </a:avLst>
            </a:prstGeom>
            <a:solidFill>
              <a:srgbClr val="FCE4D6"/>
            </a:solidFill>
            <a:ln w="15875">
              <a:solidFill>
                <a:srgbClr val="C973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s-ES" sz="1000">
                  <a:solidFill>
                    <a:srgbClr val="1F2937"/>
                  </a:solidFill>
                  <a:latin typeface="Calibri" panose="020F0502020204030204" pitchFamily="34" charset="0"/>
                </a:rPr>
                <a:t>Subcamada</a:t>
              </a:r>
            </a:p>
            <a:p>
              <a:pPr algn="ctr"/>
              <a:r>
                <a:rPr lang="es-ES" sz="1000">
                  <a:solidFill>
                    <a:srgbClr val="1F2937"/>
                  </a:solidFill>
                  <a:latin typeface="Calibri" panose="020F0502020204030204" pitchFamily="34" charset="0"/>
                </a:rPr>
                <a:t>(atenção ou FFN)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3EA7FC7-0928-4A54-83AE-18F0A760FCCB}"/>
                </a:ext>
              </a:extLst>
            </p:cNvPr>
            <p:cNvCxnSpPr/>
            <p:nvPr/>
          </p:nvCxnSpPr>
          <p:spPr>
            <a:xfrm>
              <a:off x="8991600" y="2489200"/>
              <a:ext cx="177800" cy="0"/>
            </a:xfrm>
            <a:prstGeom prst="line">
              <a:avLst/>
            </a:prstGeom>
            <a:ln w="19050">
              <a:solidFill>
                <a:srgbClr val="1F29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D1446F19-47AE-41B1-9E98-B056D23F61CA}"/>
                </a:ext>
              </a:extLst>
            </p:cNvPr>
            <p:cNvSpPr/>
            <p:nvPr/>
          </p:nvSpPr>
          <p:spPr>
            <a:xfrm>
              <a:off x="9169400" y="23368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F29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s-ES" sz="1400" b="1">
                  <a:solidFill>
                    <a:srgbClr val="1F2937"/>
                  </a:solidFill>
                  <a:latin typeface="Calibri" panose="020F0502020204030204" pitchFamily="34" charset="0"/>
                </a:rPr>
                <a:t>+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21F11FD-0965-406B-A724-605811C1B881}"/>
                </a:ext>
              </a:extLst>
            </p:cNvPr>
            <p:cNvSpPr txBox="1"/>
            <p:nvPr/>
          </p:nvSpPr>
          <p:spPr>
            <a:xfrm>
              <a:off x="9067800" y="2679700"/>
              <a:ext cx="50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/>
              <a:r>
                <a:rPr lang="es-ES" sz="1000" b="1">
                  <a:solidFill>
                    <a:srgbClr val="1F2937"/>
                  </a:solidFill>
                  <a:latin typeface="Calibri" panose="020F0502020204030204" pitchFamily="34" charset="0"/>
                </a:rPr>
                <a:t>Add</a:t>
              </a: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CA6AF510-0F68-4C22-9423-E96092FEF7B9}"/>
                </a:ext>
              </a:extLst>
            </p:cNvPr>
            <p:cNvCxnSpPr/>
            <p:nvPr/>
          </p:nvCxnSpPr>
          <p:spPr>
            <a:xfrm>
              <a:off x="9474200" y="2489200"/>
              <a:ext cx="177800" cy="0"/>
            </a:xfrm>
            <a:prstGeom prst="line">
              <a:avLst/>
            </a:prstGeom>
            <a:ln w="19050">
              <a:solidFill>
                <a:srgbClr val="1F29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070C722B-59B0-4B27-8F90-67B670234539}"/>
                </a:ext>
              </a:extLst>
            </p:cNvPr>
            <p:cNvSpPr/>
            <p:nvPr/>
          </p:nvSpPr>
          <p:spPr>
            <a:xfrm>
              <a:off x="9652000" y="2209800"/>
              <a:ext cx="1041400" cy="558800"/>
            </a:xfrm>
            <a:prstGeom prst="roundRect">
              <a:avLst>
                <a:gd name="adj" fmla="val 18000"/>
              </a:avLst>
            </a:prstGeom>
            <a:solidFill>
              <a:srgbClr val="FFF2CC"/>
            </a:solidFill>
            <a:ln w="15875">
              <a:solidFill>
                <a:srgbClr val="B59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s-ES" sz="1100">
                  <a:solidFill>
                    <a:srgbClr val="1F2937"/>
                  </a:solidFill>
                  <a:latin typeface="Calibri" panose="020F0502020204030204" pitchFamily="34" charset="0"/>
                </a:rPr>
                <a:t>LayerNorm</a:t>
              </a:r>
            </a:p>
            <a:p>
              <a:pPr algn="ctr"/>
              <a:r>
                <a:rPr lang="es-ES" sz="1100">
                  <a:solidFill>
                    <a:srgbClr val="1F2937"/>
                  </a:solidFill>
                  <a:latin typeface="Calibri" panose="020F0502020204030204" pitchFamily="34" charset="0"/>
                </a:rPr>
                <a:t>(Norm)</a:t>
              </a:r>
            </a:p>
          </p:txBody>
        </p: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8FB05A0-02BF-4504-932E-C3BCFF1D37BA}"/>
                </a:ext>
              </a:extLst>
            </p:cNvPr>
            <p:cNvCxnSpPr/>
            <p:nvPr/>
          </p:nvCxnSpPr>
          <p:spPr>
            <a:xfrm>
              <a:off x="10693400" y="2489200"/>
              <a:ext cx="203200" cy="0"/>
            </a:xfrm>
            <a:prstGeom prst="line">
              <a:avLst/>
            </a:prstGeom>
            <a:ln w="19050">
              <a:solidFill>
                <a:srgbClr val="1F29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B41EDAA5-B5A5-4FD4-A80C-6BA227E4291E}"/>
                </a:ext>
              </a:extLst>
            </p:cNvPr>
            <p:cNvSpPr txBox="1"/>
            <p:nvPr/>
          </p:nvSpPr>
          <p:spPr>
            <a:xfrm>
              <a:off x="10922000" y="2387600"/>
              <a:ext cx="5588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es-ES" sz="1100" b="1">
                  <a:solidFill>
                    <a:srgbClr val="1F2937"/>
                  </a:solidFill>
                  <a:latin typeface="Calibri" panose="020F0502020204030204" pitchFamily="34" charset="0"/>
                </a:rPr>
                <a:t>saída</a:t>
              </a: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91714A5E-4D28-44B2-A1C3-DF4BA35B6A2D}"/>
                </a:ext>
              </a:extLst>
            </p:cNvPr>
            <p:cNvCxnSpPr/>
            <p:nvPr/>
          </p:nvCxnSpPr>
          <p:spPr>
            <a:xfrm flipV="1">
              <a:off x="7302500" y="1828800"/>
              <a:ext cx="0" cy="469900"/>
            </a:xfrm>
            <a:prstGeom prst="line">
              <a:avLst/>
            </a:prstGeom>
            <a:ln w="22225">
              <a:solidFill>
                <a:srgbClr val="0E7C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B2D1AE4C-2040-4F59-8A92-475579DF2B09}"/>
                </a:ext>
              </a:extLst>
            </p:cNvPr>
            <p:cNvCxnSpPr/>
            <p:nvPr/>
          </p:nvCxnSpPr>
          <p:spPr>
            <a:xfrm>
              <a:off x="7302500" y="1828800"/>
              <a:ext cx="2019300" cy="0"/>
            </a:xfrm>
            <a:prstGeom prst="line">
              <a:avLst/>
            </a:prstGeom>
            <a:ln w="22225">
              <a:solidFill>
                <a:srgbClr val="0E7C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F57665F6-044F-41EA-8EAB-CEA6A5843E80}"/>
                </a:ext>
              </a:extLst>
            </p:cNvPr>
            <p:cNvCxnSpPr/>
            <p:nvPr/>
          </p:nvCxnSpPr>
          <p:spPr>
            <a:xfrm>
              <a:off x="9321800" y="1828800"/>
              <a:ext cx="0" cy="508000"/>
            </a:xfrm>
            <a:prstGeom prst="line">
              <a:avLst/>
            </a:prstGeom>
            <a:ln w="22225">
              <a:solidFill>
                <a:srgbClr val="0E7C8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B8DDC15D-C30A-4F10-AE90-99E4BB04FBA4}"/>
                </a:ext>
              </a:extLst>
            </p:cNvPr>
            <p:cNvSpPr txBox="1"/>
            <p:nvPr/>
          </p:nvSpPr>
          <p:spPr>
            <a:xfrm>
              <a:off x="7493000" y="16256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pt-BR" sz="1000" b="1">
                  <a:solidFill>
                    <a:srgbClr val="0E7C86"/>
                  </a:solidFill>
                  <a:latin typeface="Calibri" panose="020F0502020204030204" pitchFamily="34" charset="0"/>
                </a:rPr>
                <a:t>conexão residual: a entrada x pula a subcamada</a:t>
              </a:r>
              <a:endParaRPr lang="es-ES" sz="1000" b="1">
                <a:solidFill>
                  <a:srgbClr val="0E7C86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A9ECB086-8E59-433B-B28E-0B5C184AD7C5}"/>
                </a:ext>
              </a:extLst>
            </p:cNvPr>
            <p:cNvSpPr txBox="1"/>
            <p:nvPr/>
          </p:nvSpPr>
          <p:spPr>
            <a:xfrm>
              <a:off x="7086600" y="2997200"/>
              <a:ext cx="4597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r>
                <a:rPr lang="pt-BR" sz="1300">
                  <a:solidFill>
                    <a:srgbClr val="1F2937"/>
                  </a:solidFill>
                  <a:latin typeface="Cambria Math" panose="02040503050406030204" pitchFamily="18" charset="0"/>
                </a:rPr>
                <a:t>saída = LayerNorm(x + Subcamada(x))</a:t>
              </a:r>
              <a:endParaRPr lang="es-ES" sz="1300">
                <a:solidFill>
                  <a:srgbClr val="1F2937"/>
                </a:solidFill>
                <a:latin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45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5DE7E3-1650-4FC8-ADD9-6C8739E8F456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O </a:t>
            </a:r>
            <a:r>
              <a:rPr lang="pt-BR" sz="3000" b="1" dirty="0" err="1">
                <a:solidFill>
                  <a:srgbClr val="1B2A41"/>
                </a:solidFill>
                <a:latin typeface="Cambria" panose="02040503050406030204" pitchFamily="18" charset="0"/>
              </a:rPr>
              <a:t>decoder</a:t>
            </a:r>
            <a:r>
              <a:rPr lang="pt-BR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 e a máscara causal</a:t>
            </a:r>
            <a:endParaRPr lang="es-ES" sz="3000" b="1" dirty="0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E159BE-AD02-499D-813E-C305C9994C56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Ao prever o próximo token, cada posição consulta a si mesma e as posições anteriores.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41">
            <a:extLst>
              <a:ext uri="{FF2B5EF4-FFF2-40B4-BE49-F238E27FC236}">
                <a16:creationId xmlns:a16="http://schemas.microsoft.com/office/drawing/2014/main" id="{799A89CC-DC3A-4577-9EF5-0B52898406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68" y="1421668"/>
            <a:ext cx="5095240" cy="176373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D452171-7A31-44A9-95B3-74DA4BF8065C}"/>
              </a:ext>
            </a:extLst>
          </p:cNvPr>
          <p:cNvSpPr/>
          <p:nvPr/>
        </p:nvSpPr>
        <p:spPr>
          <a:xfrm>
            <a:off x="1123177" y="1488859"/>
            <a:ext cx="1847724" cy="27995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 err="1">
                <a:solidFill>
                  <a:srgbClr val="1B2A41"/>
                </a:solidFill>
                <a:latin typeface="Calibri" panose="020F0502020204030204" pitchFamily="34" charset="0"/>
              </a:rPr>
              <a:t>Self-attention</a:t>
            </a:r>
            <a:endParaRPr lang="es-ES" sz="1300" b="1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63368B6-C823-4471-8565-47E5347B0998}"/>
              </a:ext>
            </a:extLst>
          </p:cNvPr>
          <p:cNvSpPr/>
          <p:nvPr/>
        </p:nvSpPr>
        <p:spPr>
          <a:xfrm>
            <a:off x="3530818" y="1488859"/>
            <a:ext cx="1903715" cy="27995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Mascarada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525659-611B-4AF3-9DA0-B50C53AB8FD8}"/>
              </a:ext>
            </a:extLst>
          </p:cNvPr>
          <p:cNvSpPr txBox="1"/>
          <p:nvPr/>
        </p:nvSpPr>
        <p:spPr>
          <a:xfrm>
            <a:off x="507268" y="3459764"/>
            <a:ext cx="494538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O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decoder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gera “The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monkey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ate…” um token por vez.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0084D70-A5E5-4F44-B0A4-F9B178C091FF}"/>
              </a:ext>
            </a:extLst>
          </p:cNvPr>
          <p:cNvSpPr txBox="1"/>
          <p:nvPr/>
        </p:nvSpPr>
        <p:spPr>
          <a:xfrm>
            <a:off x="507268" y="4179092"/>
            <a:ext cx="494538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A máscara põe −∞ nas posições futuras 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antes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da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softmax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→ peso 0.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48E256-3931-4C5D-A502-C11EA2BD47EE}"/>
              </a:ext>
            </a:extLst>
          </p:cNvPr>
          <p:cNvSpPr txBox="1"/>
          <p:nvPr/>
        </p:nvSpPr>
        <p:spPr>
          <a:xfrm>
            <a:off x="507268" y="4898420"/>
            <a:ext cx="569468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Ex.: </a:t>
            </a:r>
          </a:p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“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monkey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” consulta &lt;início&gt;, </a:t>
            </a:r>
          </a:p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The e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monkey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mas não “ate”.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FC89BD-52BD-45F2-B005-EC2A0A0A7583}"/>
              </a:ext>
            </a:extLst>
          </p:cNvPr>
          <p:cNvSpPr txBox="1"/>
          <p:nvPr/>
        </p:nvSpPr>
        <p:spPr>
          <a:xfrm>
            <a:off x="5842284" y="1991136"/>
            <a:ext cx="1049020" cy="4358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&lt;início&gt;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73C5C8-0281-4D0B-BEFF-2A49CBA34EDD}"/>
              </a:ext>
            </a:extLst>
          </p:cNvPr>
          <p:cNvSpPr txBox="1"/>
          <p:nvPr/>
        </p:nvSpPr>
        <p:spPr>
          <a:xfrm>
            <a:off x="6981220" y="1691416"/>
            <a:ext cx="89916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&lt;início&gt;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D8CDFC-E3E5-4874-B208-899C85FE8B13}"/>
              </a:ext>
            </a:extLst>
          </p:cNvPr>
          <p:cNvSpPr/>
          <p:nvPr/>
        </p:nvSpPr>
        <p:spPr>
          <a:xfrm>
            <a:off x="6981220" y="1991136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7C38E5-FA86-4846-89CC-00F384D5E0BE}"/>
              </a:ext>
            </a:extLst>
          </p:cNvPr>
          <p:cNvSpPr/>
          <p:nvPr/>
        </p:nvSpPr>
        <p:spPr>
          <a:xfrm>
            <a:off x="7880380" y="1991136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DD3DA80-7F01-4CC4-8A38-E559F84216AF}"/>
              </a:ext>
            </a:extLst>
          </p:cNvPr>
          <p:cNvSpPr/>
          <p:nvPr/>
        </p:nvSpPr>
        <p:spPr>
          <a:xfrm>
            <a:off x="8779540" y="1991136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26884C7-2536-4F26-943B-CA6D9F28FE6B}"/>
              </a:ext>
            </a:extLst>
          </p:cNvPr>
          <p:cNvSpPr/>
          <p:nvPr/>
        </p:nvSpPr>
        <p:spPr>
          <a:xfrm>
            <a:off x="9678700" y="1991136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9909836-A393-4BAA-935F-3C9EA05BBD3E}"/>
              </a:ext>
            </a:extLst>
          </p:cNvPr>
          <p:cNvSpPr txBox="1"/>
          <p:nvPr/>
        </p:nvSpPr>
        <p:spPr>
          <a:xfrm>
            <a:off x="5842284" y="2680492"/>
            <a:ext cx="1049020" cy="4358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The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F0A85C7-E178-4294-ADC9-DA11F0DD3B01}"/>
              </a:ext>
            </a:extLst>
          </p:cNvPr>
          <p:cNvSpPr txBox="1"/>
          <p:nvPr/>
        </p:nvSpPr>
        <p:spPr>
          <a:xfrm>
            <a:off x="7880380" y="1691416"/>
            <a:ext cx="89916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The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0AB036-C8AB-49C0-9AA8-4BC5552E85AD}"/>
              </a:ext>
            </a:extLst>
          </p:cNvPr>
          <p:cNvSpPr/>
          <p:nvPr/>
        </p:nvSpPr>
        <p:spPr>
          <a:xfrm>
            <a:off x="6981220" y="2680492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39CC80B-08C4-4EC0-9592-2EC46754D577}"/>
              </a:ext>
            </a:extLst>
          </p:cNvPr>
          <p:cNvSpPr/>
          <p:nvPr/>
        </p:nvSpPr>
        <p:spPr>
          <a:xfrm>
            <a:off x="7880380" y="2680492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FBF7A59-7E48-4EA4-9466-6FF42EBEB5DA}"/>
              </a:ext>
            </a:extLst>
          </p:cNvPr>
          <p:cNvSpPr/>
          <p:nvPr/>
        </p:nvSpPr>
        <p:spPr>
          <a:xfrm>
            <a:off x="8779540" y="2680492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6B56C2-59DE-45EE-832D-85B868E3DE97}"/>
              </a:ext>
            </a:extLst>
          </p:cNvPr>
          <p:cNvSpPr/>
          <p:nvPr/>
        </p:nvSpPr>
        <p:spPr>
          <a:xfrm>
            <a:off x="9678700" y="2680492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32665AE-8D27-450E-8895-5D5B1A10F6DE}"/>
              </a:ext>
            </a:extLst>
          </p:cNvPr>
          <p:cNvSpPr txBox="1"/>
          <p:nvPr/>
        </p:nvSpPr>
        <p:spPr>
          <a:xfrm>
            <a:off x="5842284" y="3369848"/>
            <a:ext cx="1049020" cy="4358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monkey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42B3935-029C-483E-B3D3-09F5A29A6B92}"/>
              </a:ext>
            </a:extLst>
          </p:cNvPr>
          <p:cNvSpPr txBox="1"/>
          <p:nvPr/>
        </p:nvSpPr>
        <p:spPr>
          <a:xfrm>
            <a:off x="8779540" y="1691416"/>
            <a:ext cx="89916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monkey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017B04C-E785-47E3-9CA6-67390C373EEB}"/>
              </a:ext>
            </a:extLst>
          </p:cNvPr>
          <p:cNvSpPr/>
          <p:nvPr/>
        </p:nvSpPr>
        <p:spPr>
          <a:xfrm>
            <a:off x="6981220" y="3369848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972E54B-9E93-4923-AFA2-70B323EF5F62}"/>
              </a:ext>
            </a:extLst>
          </p:cNvPr>
          <p:cNvSpPr/>
          <p:nvPr/>
        </p:nvSpPr>
        <p:spPr>
          <a:xfrm>
            <a:off x="7880380" y="3369848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FCF36DC-2B7B-45AF-BAC6-25CF975E66C0}"/>
              </a:ext>
            </a:extLst>
          </p:cNvPr>
          <p:cNvSpPr/>
          <p:nvPr/>
        </p:nvSpPr>
        <p:spPr>
          <a:xfrm>
            <a:off x="8779540" y="3369848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628095A-3178-4C76-B18F-C04A2322F02A}"/>
              </a:ext>
            </a:extLst>
          </p:cNvPr>
          <p:cNvSpPr/>
          <p:nvPr/>
        </p:nvSpPr>
        <p:spPr>
          <a:xfrm>
            <a:off x="9678700" y="3369848"/>
            <a:ext cx="899160" cy="689356"/>
          </a:xfrm>
          <a:prstGeom prst="rect">
            <a:avLst/>
          </a:prstGeom>
          <a:solidFill>
            <a:srgbClr val="1B2A4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Cambria Math" panose="02040503050406030204" pitchFamily="18" charset="0"/>
              </a:rPr>
              <a:t>−∞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C4FF088-098F-4241-AB06-E4695AE5942C}"/>
              </a:ext>
            </a:extLst>
          </p:cNvPr>
          <p:cNvSpPr txBox="1"/>
          <p:nvPr/>
        </p:nvSpPr>
        <p:spPr>
          <a:xfrm>
            <a:off x="5842284" y="4059204"/>
            <a:ext cx="1049020" cy="43581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ate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3CC6099-186F-465D-8C12-4B9837358E40}"/>
              </a:ext>
            </a:extLst>
          </p:cNvPr>
          <p:cNvSpPr txBox="1"/>
          <p:nvPr/>
        </p:nvSpPr>
        <p:spPr>
          <a:xfrm>
            <a:off x="9678700" y="1691416"/>
            <a:ext cx="89916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300">
                <a:solidFill>
                  <a:srgbClr val="5A6270"/>
                </a:solidFill>
                <a:latin typeface="Calibri" panose="020F0502020204030204" pitchFamily="34" charset="0"/>
              </a:rPr>
              <a:t>ate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2202220-7E33-44D5-B955-AEE6B147A087}"/>
              </a:ext>
            </a:extLst>
          </p:cNvPr>
          <p:cNvSpPr/>
          <p:nvPr/>
        </p:nvSpPr>
        <p:spPr>
          <a:xfrm>
            <a:off x="6981220" y="4059204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4ACFE11-27C1-4871-A7BA-7C864CA340CB}"/>
              </a:ext>
            </a:extLst>
          </p:cNvPr>
          <p:cNvSpPr/>
          <p:nvPr/>
        </p:nvSpPr>
        <p:spPr>
          <a:xfrm>
            <a:off x="7880380" y="4059204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E1F6938-50EF-4FF1-8F0B-3252530EA8CE}"/>
              </a:ext>
            </a:extLst>
          </p:cNvPr>
          <p:cNvSpPr/>
          <p:nvPr/>
        </p:nvSpPr>
        <p:spPr>
          <a:xfrm>
            <a:off x="8779540" y="4059204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2874E08-8455-4408-9640-94B7F01B58B7}"/>
              </a:ext>
            </a:extLst>
          </p:cNvPr>
          <p:cNvSpPr/>
          <p:nvPr/>
        </p:nvSpPr>
        <p:spPr>
          <a:xfrm>
            <a:off x="9678700" y="4059204"/>
            <a:ext cx="899160" cy="689356"/>
          </a:xfrm>
          <a:prstGeom prst="rect">
            <a:avLst/>
          </a:prstGeom>
          <a:solidFill>
            <a:srgbClr val="E3F0F1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s-ES" sz="1500">
                <a:solidFill>
                  <a:srgbClr val="1B2A41"/>
                </a:solidFill>
                <a:latin typeface="Cambria Math" panose="02040503050406030204" pitchFamily="18" charset="0"/>
              </a:rPr>
              <a:t>s</a:t>
            </a:r>
            <a:r>
              <a:rPr lang="es-ES" sz="1500" baseline="-25000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0DAA3DD-913C-4B48-8829-E17B49F85672}"/>
              </a:ext>
            </a:extLst>
          </p:cNvPr>
          <p:cNvSpPr txBox="1"/>
          <p:nvPr/>
        </p:nvSpPr>
        <p:spPr>
          <a:xfrm>
            <a:off x="6201948" y="5002105"/>
            <a:ext cx="494538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dirty="0" err="1">
                <a:solidFill>
                  <a:srgbClr val="1B2A41"/>
                </a:solidFill>
                <a:latin typeface="Cambria Math" panose="02040503050406030204" pitchFamily="18" charset="0"/>
              </a:rPr>
              <a:t>softmax</a:t>
            </a:r>
            <a:r>
              <a:rPr lang="es-ES" sz="1500" dirty="0">
                <a:solidFill>
                  <a:srgbClr val="1B2A41"/>
                </a:solidFill>
                <a:latin typeface="Cambria Math" panose="02040503050406030204" pitchFamily="18" charset="0"/>
              </a:rPr>
              <a:t>(QK</a:t>
            </a:r>
            <a:r>
              <a:rPr lang="es-ES" sz="1500" baseline="30000" dirty="0">
                <a:solidFill>
                  <a:srgbClr val="1B2A41"/>
                </a:solidFill>
                <a:latin typeface="Cambria Math" panose="02040503050406030204" pitchFamily="18" charset="0"/>
              </a:rPr>
              <a:t>T</a:t>
            </a:r>
            <a:r>
              <a:rPr lang="es-ES" sz="1500" dirty="0">
                <a:solidFill>
                  <a:srgbClr val="1B2A41"/>
                </a:solidFill>
                <a:latin typeface="Cambria Math" panose="02040503050406030204" pitchFamily="18" charset="0"/>
              </a:rPr>
              <a:t>/√</a:t>
            </a:r>
            <a:r>
              <a:rPr lang="es-ES" sz="1500" dirty="0" err="1">
                <a:solidFill>
                  <a:srgbClr val="1B2A41"/>
                </a:solidFill>
                <a:latin typeface="Cambria Math" panose="02040503050406030204" pitchFamily="18" charset="0"/>
              </a:rPr>
              <a:t>d</a:t>
            </a:r>
            <a:r>
              <a:rPr lang="es-ES" sz="1500" baseline="-25000" dirty="0" err="1">
                <a:solidFill>
                  <a:srgbClr val="1B2A41"/>
                </a:solidFill>
                <a:latin typeface="Cambria Math" panose="02040503050406030204" pitchFamily="18" charset="0"/>
              </a:rPr>
              <a:t>k</a:t>
            </a:r>
            <a:r>
              <a:rPr lang="es-ES" sz="1500" dirty="0">
                <a:solidFill>
                  <a:srgbClr val="1B2A41"/>
                </a:solidFill>
                <a:latin typeface="Cambria Math" panose="02040503050406030204" pitchFamily="18" charset="0"/>
              </a:rPr>
              <a:t> + M),   </a:t>
            </a:r>
            <a:r>
              <a:rPr lang="es-ES" sz="1500" dirty="0" err="1">
                <a:solidFill>
                  <a:srgbClr val="1B2A41"/>
                </a:solidFill>
                <a:latin typeface="Cambria Math" panose="02040503050406030204" pitchFamily="18" charset="0"/>
              </a:rPr>
              <a:t>M</a:t>
            </a:r>
            <a:r>
              <a:rPr lang="es-ES" sz="1500" baseline="-25000" dirty="0" err="1">
                <a:solidFill>
                  <a:srgbClr val="1B2A41"/>
                </a:solidFill>
                <a:latin typeface="Cambria Math" panose="02040503050406030204" pitchFamily="18" charset="0"/>
              </a:rPr>
              <a:t>ij</a:t>
            </a:r>
            <a:r>
              <a:rPr lang="es-ES" sz="1500" dirty="0">
                <a:solidFill>
                  <a:srgbClr val="1B2A41"/>
                </a:solidFill>
                <a:latin typeface="Cambria Math" panose="02040503050406030204" pitchFamily="18" charset="0"/>
              </a:rPr>
              <a:t> = −∞ se j &gt; 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C4A2A2B-467A-4C7D-A3DD-7E57052274D7}"/>
              </a:ext>
            </a:extLst>
          </p:cNvPr>
          <p:cNvSpPr txBox="1"/>
          <p:nvPr/>
        </p:nvSpPr>
        <p:spPr>
          <a:xfrm>
            <a:off x="6366794" y="5546177"/>
            <a:ext cx="4945380" cy="4358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linhas: quem consulta · colunas: quem é consultado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439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F93CBB4-154D-4328-947A-DD7CE8864FD4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B2A41"/>
                </a:solidFill>
                <a:latin typeface="Cambria" panose="02040503050406030204" pitchFamily="18" charset="0"/>
              </a:rPr>
              <a:t>Cross-attention: conectar encoder e decoder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2A8119-655F-4BED-A2B0-987AA1EAC6B0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Q vem da representação intermediária do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decoder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. K e V vêm da saída do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encoder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43">
            <a:extLst>
              <a:ext uri="{FF2B5EF4-FFF2-40B4-BE49-F238E27FC236}">
                <a16:creationId xmlns:a16="http://schemas.microsoft.com/office/drawing/2014/main" id="{F5B90B7C-FFA9-4A5E-9553-80CA39C106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12" y="1346444"/>
            <a:ext cx="7112000" cy="351817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96603E1-6EC9-4064-B7F1-80DEB5EBBF98}"/>
              </a:ext>
            </a:extLst>
          </p:cNvPr>
          <p:cNvSpPr/>
          <p:nvPr/>
        </p:nvSpPr>
        <p:spPr>
          <a:xfrm>
            <a:off x="817716" y="1962745"/>
            <a:ext cx="1371600" cy="256032"/>
          </a:xfrm>
          <a:prstGeom prst="rect">
            <a:avLst/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Saída do encoder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F8A1234-733A-4DB4-9BE9-7BB8EB83E657}"/>
              </a:ext>
            </a:extLst>
          </p:cNvPr>
          <p:cNvSpPr/>
          <p:nvPr/>
        </p:nvSpPr>
        <p:spPr>
          <a:xfrm>
            <a:off x="817716" y="3173299"/>
            <a:ext cx="1371600" cy="256032"/>
          </a:xfrm>
          <a:prstGeom prst="rect">
            <a:avLst/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Saída do decoder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2AB3CF2-53E0-462E-9C00-16660C4AC272}"/>
              </a:ext>
            </a:extLst>
          </p:cNvPr>
          <p:cNvSpPr/>
          <p:nvPr/>
        </p:nvSpPr>
        <p:spPr>
          <a:xfrm>
            <a:off x="6280338" y="1860605"/>
            <a:ext cx="1417320" cy="256032"/>
          </a:xfrm>
          <a:prstGeom prst="rect">
            <a:avLst/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Pesos de atenção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B159D8-1114-4E06-ABD0-35432953FC51}"/>
              </a:ext>
            </a:extLst>
          </p:cNvPr>
          <p:cNvSpPr/>
          <p:nvPr/>
        </p:nvSpPr>
        <p:spPr>
          <a:xfrm>
            <a:off x="6484619" y="4539278"/>
            <a:ext cx="870085" cy="181582"/>
          </a:xfrm>
          <a:prstGeom prst="rect">
            <a:avLst/>
          </a:prstGeom>
          <a:solidFill>
            <a:srgbClr val="F5F5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Saída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BBEC81-B3AD-4545-8ADA-E3EC54037179}"/>
              </a:ext>
            </a:extLst>
          </p:cNvPr>
          <p:cNvSpPr txBox="1"/>
          <p:nvPr/>
        </p:nvSpPr>
        <p:spPr>
          <a:xfrm>
            <a:off x="8001000" y="1463040"/>
            <a:ext cx="3657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Ao gerar “monkey”, a query do decoder procura “macaco” na frase de origem.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F3D78E6-63E2-40C1-8933-D0D8ABC80BF8}"/>
              </a:ext>
            </a:extLst>
          </p:cNvPr>
          <p:cNvSpPr/>
          <p:nvPr/>
        </p:nvSpPr>
        <p:spPr>
          <a:xfrm>
            <a:off x="508000" y="5029200"/>
            <a:ext cx="11173968" cy="123444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8FEDAB-27A2-4725-95FA-7BC1525B4CD7}"/>
              </a:ext>
            </a:extLst>
          </p:cNvPr>
          <p:cNvSpPr txBox="1"/>
          <p:nvPr/>
        </p:nvSpPr>
        <p:spPr>
          <a:xfrm>
            <a:off x="736600" y="5175504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Self-attention: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Q, K e V vêm da </a:t>
            </a:r>
            <a:r>
              <a:rPr lang="pt-BR" sz="1500">
                <a:solidFill>
                  <a:srgbClr val="0E7C86"/>
                </a:solidFill>
                <a:latin typeface="Calibri" panose="020F0502020204030204" pitchFamily="34" charset="0"/>
              </a:rPr>
              <a:t>mesma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sequência.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FF5603-F13E-48EA-817C-4A99E04A9480}"/>
              </a:ext>
            </a:extLst>
          </p:cNvPr>
          <p:cNvSpPr txBox="1"/>
          <p:nvPr/>
        </p:nvSpPr>
        <p:spPr>
          <a:xfrm>
            <a:off x="736600" y="5486400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Cross-attention: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pt-BR" sz="1500">
                <a:solidFill>
                  <a:srgbClr val="74508F"/>
                </a:solidFill>
                <a:latin typeface="Calibri" panose="020F0502020204030204" pitchFamily="34" charset="0"/>
              </a:rPr>
              <a:t>Q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vem do </a:t>
            </a:r>
            <a:r>
              <a:rPr lang="pt-BR" sz="1500">
                <a:solidFill>
                  <a:srgbClr val="0E7C86"/>
                </a:solidFill>
                <a:latin typeface="Calibri" panose="020F0502020204030204" pitchFamily="34" charset="0"/>
              </a:rPr>
              <a:t>decoder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; </a:t>
            </a:r>
            <a:r>
              <a:rPr lang="pt-BR" sz="1500">
                <a:solidFill>
                  <a:srgbClr val="A0561F"/>
                </a:solidFill>
                <a:latin typeface="Calibri" panose="020F0502020204030204" pitchFamily="34" charset="0"/>
              </a:rPr>
              <a:t>K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e </a:t>
            </a:r>
            <a:r>
              <a:rPr lang="pt-BR" sz="1500">
                <a:solidFill>
                  <a:srgbClr val="3A6597"/>
                </a:solidFill>
                <a:latin typeface="Calibri" panose="020F0502020204030204" pitchFamily="34" charset="0"/>
              </a:rPr>
              <a:t>V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vêm do </a:t>
            </a:r>
            <a:r>
              <a:rPr lang="pt-BR" sz="1500">
                <a:solidFill>
                  <a:srgbClr val="0E7C86"/>
                </a:solidFill>
                <a:latin typeface="Calibri" panose="020F0502020204030204" pitchFamily="34" charset="0"/>
              </a:rPr>
              <a:t>encoder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2C332D4-10B7-46AF-8B40-49791BA8D673}"/>
              </a:ext>
            </a:extLst>
          </p:cNvPr>
          <p:cNvSpPr txBox="1"/>
          <p:nvPr/>
        </p:nvSpPr>
        <p:spPr>
          <a:xfrm>
            <a:off x="736600" y="5815584"/>
            <a:ext cx="1069848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Mesma fórmula: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Attention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(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Q</a:t>
            </a:r>
            <a:r>
              <a:rPr lang="pt-BR" sz="1500" baseline="-25000" dirty="0" err="1">
                <a:solidFill>
                  <a:srgbClr val="5A6270"/>
                </a:solidFill>
                <a:latin typeface="Calibri" panose="020F0502020204030204" pitchFamily="34" charset="0"/>
              </a:rPr>
              <a:t>dec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,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K</a:t>
            </a:r>
            <a:r>
              <a:rPr lang="pt-BR" sz="1500" baseline="-25000" dirty="0" err="1">
                <a:solidFill>
                  <a:srgbClr val="5A6270"/>
                </a:solidFill>
                <a:latin typeface="Calibri" panose="020F0502020204030204" pitchFamily="34" charset="0"/>
              </a:rPr>
              <a:t>enc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,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V</a:t>
            </a:r>
            <a:r>
              <a:rPr lang="pt-BR" sz="1500" baseline="-25000" dirty="0" err="1">
                <a:solidFill>
                  <a:srgbClr val="5A6270"/>
                </a:solidFill>
                <a:latin typeface="Calibri" panose="020F0502020204030204" pitchFamily="34" charset="0"/>
              </a:rPr>
              <a:t>enc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). Cumpre o papel da atenção de </a:t>
            </a:r>
            <a:r>
              <a:rPr lang="pt-BR" sz="1500" dirty="0" err="1">
                <a:solidFill>
                  <a:srgbClr val="5A6270"/>
                </a:solidFill>
                <a:latin typeface="Calibri" panose="020F0502020204030204" pitchFamily="34" charset="0"/>
              </a:rPr>
              <a:t>Bahdanau</a:t>
            </a:r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, mas com produto escalar e sem RNN.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12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392D5E5-A320-4452-9387-1C1483E30600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Da representação ao próximo token, e como o modelo aprende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61100D-3BD6-4823-860A-65E8372072FF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Linear + softmax sobre o vocabulário; a perda compara a previsão com o token correto.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44">
            <a:extLst>
              <a:ext uri="{FF2B5EF4-FFF2-40B4-BE49-F238E27FC236}">
                <a16:creationId xmlns:a16="http://schemas.microsoft.com/office/drawing/2014/main" id="{077A9AE4-D954-4AFA-98C1-A06670E328D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97000"/>
            <a:ext cx="4826000" cy="189127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C4D81B2-2023-441D-9B71-4D7A51195810}"/>
              </a:ext>
            </a:extLst>
          </p:cNvPr>
          <p:cNvSpPr/>
          <p:nvPr/>
        </p:nvSpPr>
        <p:spPr>
          <a:xfrm>
            <a:off x="540608" y="2212203"/>
            <a:ext cx="1385845" cy="73368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pt-BR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vetor de</a:t>
            </a:r>
          </a:p>
          <a:p>
            <a:pPr algn="ctr"/>
            <a:r>
              <a:rPr lang="pt-BR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contexto</a:t>
            </a:r>
          </a:p>
          <a:p>
            <a:pPr algn="ctr"/>
            <a:r>
              <a:rPr lang="pt-BR" sz="1300" b="1" dirty="0">
                <a:solidFill>
                  <a:srgbClr val="1B2A41"/>
                </a:solidFill>
                <a:latin typeface="Calibri" panose="020F0502020204030204" pitchFamily="34" charset="0"/>
              </a:rPr>
              <a:t>(d = 512)</a:t>
            </a:r>
            <a:endParaRPr lang="es-ES" sz="1300" b="1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AA21F5C-AAAD-45D3-B48E-C23B37929DAA}"/>
              </a:ext>
            </a:extLst>
          </p:cNvPr>
          <p:cNvSpPr/>
          <p:nvPr/>
        </p:nvSpPr>
        <p:spPr>
          <a:xfrm>
            <a:off x="2560320" y="2375243"/>
            <a:ext cx="566928" cy="456514"/>
          </a:xfrm>
          <a:prstGeom prst="rect">
            <a:avLst/>
          </a:prstGeom>
          <a:solidFill>
            <a:srgbClr val="DDF2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camada</a:t>
            </a:r>
          </a:p>
          <a:p>
            <a:pPr algn="ctr"/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linear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582391E-4AD7-4551-A3BC-2D0A67F8F814}"/>
              </a:ext>
            </a:extLst>
          </p:cNvPr>
          <p:cNvSpPr txBox="1"/>
          <p:nvPr/>
        </p:nvSpPr>
        <p:spPr>
          <a:xfrm>
            <a:off x="508000" y="3327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Softmax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de saída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: distribuição sobre |V| ≈ 37 mil tokens na configuração EN→DE do artigo (diferente da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softmax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dentro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da atenção).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5A6A2CB-1641-4F25-91D4-D5F5A72A61A9}"/>
              </a:ext>
            </a:extLst>
          </p:cNvPr>
          <p:cNvSpPr/>
          <p:nvPr/>
        </p:nvSpPr>
        <p:spPr>
          <a:xfrm>
            <a:off x="508000" y="4318000"/>
            <a:ext cx="2489200" cy="43180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Previsão</a:t>
            </a:r>
            <a:endParaRPr lang="es-ES" sz="1500" b="1" dirty="0">
              <a:solidFill>
                <a:srgbClr val="0E7C86"/>
              </a:solidFill>
              <a:latin typeface="Calibri" panose="020F0502020204030204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E78F178-059E-4DB1-BE43-C12BFE1C369B}"/>
              </a:ext>
            </a:extLst>
          </p:cNvPr>
          <p:cNvCxnSpPr/>
          <p:nvPr/>
        </p:nvCxnSpPr>
        <p:spPr>
          <a:xfrm>
            <a:off x="2997200" y="4533900"/>
            <a:ext cx="330200" cy="0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66BA5A5-8AC8-4516-BDD9-34D70CB49298}"/>
              </a:ext>
            </a:extLst>
          </p:cNvPr>
          <p:cNvSpPr/>
          <p:nvPr/>
        </p:nvSpPr>
        <p:spPr>
          <a:xfrm>
            <a:off x="3327400" y="4318000"/>
            <a:ext cx="2489200" cy="43180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Perda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 (</a:t>
            </a:r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entropia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 cruzada)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F8D51F2-549D-452E-A809-359D098EE1A5}"/>
              </a:ext>
            </a:extLst>
          </p:cNvPr>
          <p:cNvCxnSpPr/>
          <p:nvPr/>
        </p:nvCxnSpPr>
        <p:spPr>
          <a:xfrm>
            <a:off x="5816600" y="4533900"/>
            <a:ext cx="330200" cy="0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E933FEE-2C2A-486F-9DC5-163BCF59EBC3}"/>
              </a:ext>
            </a:extLst>
          </p:cNvPr>
          <p:cNvSpPr/>
          <p:nvPr/>
        </p:nvSpPr>
        <p:spPr>
          <a:xfrm>
            <a:off x="6146800" y="4318000"/>
            <a:ext cx="2489200" cy="43180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Gradientes (</a:t>
            </a:r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backprop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91FCCF5-C7F6-4546-9B8F-DF0F6D8B6AD7}"/>
              </a:ext>
            </a:extLst>
          </p:cNvPr>
          <p:cNvCxnSpPr/>
          <p:nvPr/>
        </p:nvCxnSpPr>
        <p:spPr>
          <a:xfrm>
            <a:off x="8636000" y="4533900"/>
            <a:ext cx="330200" cy="0"/>
          </a:xfrm>
          <a:prstGeom prst="line">
            <a:avLst/>
          </a:prstGeom>
          <a:ln w="25400">
            <a:solidFill>
              <a:srgbClr val="0E7C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0847EAE8-490C-4E72-85A0-F4F3725388F5}"/>
              </a:ext>
            </a:extLst>
          </p:cNvPr>
          <p:cNvSpPr/>
          <p:nvPr/>
        </p:nvSpPr>
        <p:spPr>
          <a:xfrm>
            <a:off x="8966200" y="4318000"/>
            <a:ext cx="2489200" cy="431800"/>
          </a:xfrm>
          <a:prstGeom prst="roundRect">
            <a:avLst>
              <a:gd name="adj" fmla="val 15000"/>
            </a:avLst>
          </a:prstGeom>
          <a:solidFill>
            <a:srgbClr val="E3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500" b="1" dirty="0" err="1">
                <a:solidFill>
                  <a:srgbClr val="0E7C86"/>
                </a:solidFill>
                <a:latin typeface="Calibri" panose="020F0502020204030204" pitchFamily="34" charset="0"/>
              </a:rPr>
              <a:t>Atualização</a:t>
            </a:r>
            <a:r>
              <a:rPr lang="es-ES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 (Adam)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71CEE82-760C-4DE1-B96A-719A5E017223}"/>
              </a:ext>
            </a:extLst>
          </p:cNvPr>
          <p:cNvSpPr txBox="1"/>
          <p:nvPr/>
        </p:nvSpPr>
        <p:spPr>
          <a:xfrm>
            <a:off x="508000" y="4953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Entrada deslocada: &lt;início&gt; The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monkey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…   →   alvo: The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monkey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ate …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A38B573-B5C1-4B11-BA67-5DC61CD895DF}"/>
              </a:ext>
            </a:extLst>
          </p:cNvPr>
          <p:cNvSpPr txBox="1"/>
          <p:nvPr/>
        </p:nvSpPr>
        <p:spPr>
          <a:xfrm>
            <a:off x="508000" y="5308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Aprendidos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no treino: W</a:t>
            </a:r>
            <a:r>
              <a:rPr lang="pt-BR" sz="1500" baseline="-25000" dirty="0">
                <a:solidFill>
                  <a:srgbClr val="1B2A41"/>
                </a:solidFill>
                <a:latin typeface="Calibri" panose="020F0502020204030204" pitchFamily="34" charset="0"/>
              </a:rPr>
              <a:t>Q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W</a:t>
            </a:r>
            <a:r>
              <a:rPr lang="pt-BR" sz="1500" baseline="-25000" dirty="0">
                <a:solidFill>
                  <a:srgbClr val="1B2A41"/>
                </a:solidFill>
                <a:latin typeface="Calibri" panose="020F0502020204030204" pitchFamily="34" charset="0"/>
              </a:rPr>
              <a:t>K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W</a:t>
            </a:r>
            <a:r>
              <a:rPr lang="pt-BR" sz="1500" baseline="-25000" dirty="0">
                <a:solidFill>
                  <a:srgbClr val="1B2A41"/>
                </a:solidFill>
                <a:latin typeface="Calibri" panose="020F0502020204030204" pitchFamily="34" charset="0"/>
              </a:rPr>
              <a:t>V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W</a:t>
            </a:r>
            <a:r>
              <a:rPr lang="pt-BR" sz="1500" baseline="30000" dirty="0">
                <a:solidFill>
                  <a:srgbClr val="1B2A41"/>
                </a:solidFill>
                <a:latin typeface="Calibri" panose="020F0502020204030204" pitchFamily="34" charset="0"/>
              </a:rPr>
              <a:t>O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FFN,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embeddings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.   </a:t>
            </a:r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Calculados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a cada entrada: os pesos de atenção.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grpSp>
        <p:nvGrpSpPr>
          <p:cNvPr id="117" name="Exemplo_treino_macaco">
            <a:extLst>
              <a:ext uri="{FF2B5EF4-FFF2-40B4-BE49-F238E27FC236}">
                <a16:creationId xmlns:a16="http://schemas.microsoft.com/office/drawing/2014/main" id="{A800D782-7B68-4B4A-A89B-F7A17D7B0C5A}"/>
              </a:ext>
            </a:extLst>
          </p:cNvPr>
          <p:cNvGrpSpPr/>
          <p:nvPr/>
        </p:nvGrpSpPr>
        <p:grpSpPr>
          <a:xfrm>
            <a:off x="5588000" y="1320800"/>
            <a:ext cx="6096000" cy="2501900"/>
            <a:chOff x="5588000" y="1320800"/>
            <a:chExt cx="6096000" cy="2501900"/>
          </a:xfrm>
        </p:grpSpPr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F2577F3F-443E-4B8D-8A6D-7F9CB197C7A6}"/>
                </a:ext>
              </a:extLst>
            </p:cNvPr>
            <p:cNvSpPr txBox="1"/>
            <p:nvPr/>
          </p:nvSpPr>
          <p:spPr>
            <a:xfrm>
              <a:off x="5588000" y="1625600"/>
              <a:ext cx="1117600" cy="254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1000" b="1">
                  <a:solidFill>
                    <a:srgbClr val="1F2937"/>
                  </a:solidFill>
                  <a:latin typeface="Calibri" panose="020F0502020204030204" pitchFamily="34" charset="0"/>
                </a:rPr>
                <a:t>Exemplo de treino:</a:t>
              </a:r>
            </a:p>
          </p:txBody>
        </p:sp>
        <p:sp>
          <p:nvSpPr>
            <p:cNvPr id="73" name="Rectángulo: esquinas redondeadas 72">
              <a:extLst>
                <a:ext uri="{FF2B5EF4-FFF2-40B4-BE49-F238E27FC236}">
                  <a16:creationId xmlns:a16="http://schemas.microsoft.com/office/drawing/2014/main" id="{CAEE7C61-98A8-487D-821A-4BB41712BA7E}"/>
                </a:ext>
              </a:extLst>
            </p:cNvPr>
            <p:cNvSpPr/>
            <p:nvPr/>
          </p:nvSpPr>
          <p:spPr>
            <a:xfrm>
              <a:off x="6756400" y="1625600"/>
              <a:ext cx="558800" cy="254000"/>
            </a:xfrm>
            <a:prstGeom prst="roundRect">
              <a:avLst>
                <a:gd name="adj" fmla="val 20000"/>
              </a:avLst>
            </a:prstGeom>
            <a:solidFill>
              <a:srgbClr val="E9EDF3"/>
            </a:solidFill>
            <a:ln w="12700">
              <a:solidFill>
                <a:srgbClr val="8A96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1F2937"/>
                  </a:solidFill>
                  <a:latin typeface="Calibri" panose="020F0502020204030204" pitchFamily="34" charset="0"/>
                </a:rPr>
                <a:t>&lt;início&gt;</a:t>
              </a:r>
            </a:p>
          </p:txBody>
        </p:sp>
        <p:sp>
          <p:nvSpPr>
            <p:cNvPr id="74" name="Rectángulo: esquinas redondeadas 73">
              <a:extLst>
                <a:ext uri="{FF2B5EF4-FFF2-40B4-BE49-F238E27FC236}">
                  <a16:creationId xmlns:a16="http://schemas.microsoft.com/office/drawing/2014/main" id="{8F46871A-C12E-4692-AB39-09B143849E4F}"/>
                </a:ext>
              </a:extLst>
            </p:cNvPr>
            <p:cNvSpPr/>
            <p:nvPr/>
          </p:nvSpPr>
          <p:spPr>
            <a:xfrm>
              <a:off x="7366000" y="1625600"/>
              <a:ext cx="381000" cy="254000"/>
            </a:xfrm>
            <a:prstGeom prst="roundRect">
              <a:avLst>
                <a:gd name="adj" fmla="val 20000"/>
              </a:avLst>
            </a:prstGeom>
            <a:solidFill>
              <a:srgbClr val="E9EDF3"/>
            </a:solidFill>
            <a:ln w="12700">
              <a:solidFill>
                <a:srgbClr val="8A96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1F2937"/>
                  </a:solidFill>
                  <a:latin typeface="Calibri" panose="020F0502020204030204" pitchFamily="34" charset="0"/>
                </a:rPr>
                <a:t>The</a:t>
              </a:r>
            </a:p>
          </p:txBody>
        </p:sp>
        <p:sp>
          <p:nvSpPr>
            <p:cNvPr id="75" name="Rectángulo: esquinas redondeadas 74">
              <a:extLst>
                <a:ext uri="{FF2B5EF4-FFF2-40B4-BE49-F238E27FC236}">
                  <a16:creationId xmlns:a16="http://schemas.microsoft.com/office/drawing/2014/main" id="{7200095A-1720-4E02-AF8C-2AD936CF7B6B}"/>
                </a:ext>
              </a:extLst>
            </p:cNvPr>
            <p:cNvSpPr/>
            <p:nvPr/>
          </p:nvSpPr>
          <p:spPr>
            <a:xfrm>
              <a:off x="7797800" y="1625600"/>
              <a:ext cx="584200" cy="254000"/>
            </a:xfrm>
            <a:prstGeom prst="roundRect">
              <a:avLst>
                <a:gd name="adj" fmla="val 20000"/>
              </a:avLst>
            </a:prstGeom>
            <a:solidFill>
              <a:srgbClr val="E9EDF3"/>
            </a:solidFill>
            <a:ln w="12700">
              <a:solidFill>
                <a:srgbClr val="8A96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1F2937"/>
                  </a:solidFill>
                  <a:latin typeface="Calibri" panose="020F0502020204030204" pitchFamily="34" charset="0"/>
                </a:rPr>
                <a:t>monkey</a:t>
              </a:r>
            </a:p>
          </p:txBody>
        </p:sp>
        <p:sp>
          <p:nvSpPr>
            <p:cNvPr id="76" name="Rectángulo: esquinas redondeadas 75">
              <a:extLst>
                <a:ext uri="{FF2B5EF4-FFF2-40B4-BE49-F238E27FC236}">
                  <a16:creationId xmlns:a16="http://schemas.microsoft.com/office/drawing/2014/main" id="{BD7B6C77-1101-46BE-9005-095CEE804B50}"/>
                </a:ext>
              </a:extLst>
            </p:cNvPr>
            <p:cNvSpPr/>
            <p:nvPr/>
          </p:nvSpPr>
          <p:spPr>
            <a:xfrm>
              <a:off x="8432800" y="1625600"/>
              <a:ext cx="406400" cy="254000"/>
            </a:xfrm>
            <a:prstGeom prst="roundRect">
              <a:avLst>
                <a:gd name="adj" fmla="val 20000"/>
              </a:avLst>
            </a:prstGeom>
            <a:solidFill>
              <a:srgbClr val="DDF2D3"/>
            </a:solidFill>
            <a:ln w="12700">
              <a:solidFill>
                <a:srgbClr val="3F8F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 b="1">
                  <a:solidFill>
                    <a:srgbClr val="3F8F1F"/>
                  </a:solidFill>
                  <a:latin typeface="Calibri" panose="020F0502020204030204" pitchFamily="34" charset="0"/>
                </a:rPr>
                <a:t>ate</a:t>
              </a:r>
            </a:p>
          </p:txBody>
        </p:sp>
        <p:sp>
          <p:nvSpPr>
            <p:cNvPr id="77" name="Rectángulo: esquinas redondeadas 76">
              <a:extLst>
                <a:ext uri="{FF2B5EF4-FFF2-40B4-BE49-F238E27FC236}">
                  <a16:creationId xmlns:a16="http://schemas.microsoft.com/office/drawing/2014/main" id="{D5D7CC83-473D-437E-97EB-C690D1CAA80E}"/>
                </a:ext>
              </a:extLst>
            </p:cNvPr>
            <p:cNvSpPr/>
            <p:nvPr/>
          </p:nvSpPr>
          <p:spPr>
            <a:xfrm>
              <a:off x="8890000" y="1625600"/>
              <a:ext cx="355600" cy="25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B8BEC8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9AA3AF"/>
                  </a:solidFill>
                  <a:latin typeface="Calibri" panose="020F0502020204030204" pitchFamily="34" charset="0"/>
                </a:rPr>
                <a:t>the</a:t>
              </a:r>
            </a:p>
          </p:txBody>
        </p:sp>
        <p:sp>
          <p:nvSpPr>
            <p:cNvPr id="78" name="Rectángulo: esquinas redondeadas 77">
              <a:extLst>
                <a:ext uri="{FF2B5EF4-FFF2-40B4-BE49-F238E27FC236}">
                  <a16:creationId xmlns:a16="http://schemas.microsoft.com/office/drawing/2014/main" id="{5C295694-7D46-4428-8B35-60EB92DE8855}"/>
                </a:ext>
              </a:extLst>
            </p:cNvPr>
            <p:cNvSpPr/>
            <p:nvPr/>
          </p:nvSpPr>
          <p:spPr>
            <a:xfrm>
              <a:off x="9296400" y="1625600"/>
              <a:ext cx="558800" cy="25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B8BEC8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9AA3AF"/>
                  </a:solidFill>
                  <a:latin typeface="Calibri" panose="020F0502020204030204" pitchFamily="34" charset="0"/>
                </a:rPr>
                <a:t>banana</a:t>
              </a:r>
            </a:p>
          </p:txBody>
        </p:sp>
        <p:sp>
          <p:nvSpPr>
            <p:cNvPr id="79" name="Rectángulo: esquinas redondeadas 78">
              <a:extLst>
                <a:ext uri="{FF2B5EF4-FFF2-40B4-BE49-F238E27FC236}">
                  <a16:creationId xmlns:a16="http://schemas.microsoft.com/office/drawing/2014/main" id="{AF85ABEC-4914-4B6E-95AB-7665FE0DFCCB}"/>
                </a:ext>
              </a:extLst>
            </p:cNvPr>
            <p:cNvSpPr/>
            <p:nvPr/>
          </p:nvSpPr>
          <p:spPr>
            <a:xfrm>
              <a:off x="9906000" y="1625600"/>
              <a:ext cx="431800" cy="254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2700">
              <a:solidFill>
                <a:srgbClr val="B8BEC8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1000">
                  <a:solidFill>
                    <a:srgbClr val="9AA3AF"/>
                  </a:solidFill>
                  <a:latin typeface="Calibri" panose="020F0502020204030204" pitchFamily="34" charset="0"/>
                </a:rPr>
                <a:t>&lt;fim&gt;</a:t>
              </a: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9E6C53CF-CFE6-4EC6-86EB-335EE9B92E06}"/>
                </a:ext>
              </a:extLst>
            </p:cNvPr>
            <p:cNvSpPr txBox="1"/>
            <p:nvPr/>
          </p:nvSpPr>
          <p:spPr>
            <a:xfrm>
              <a:off x="7620000" y="1320800"/>
              <a:ext cx="2032000" cy="1651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pt-BR" sz="900" b="1">
                  <a:solidFill>
                    <a:srgbClr val="3F8F1F"/>
                  </a:solidFill>
                  <a:latin typeface="Calibri" panose="020F0502020204030204" pitchFamily="34" charset="0"/>
                </a:rPr>
                <a:t>queremos que o modelo preveja isto</a:t>
              </a:r>
              <a:endParaRPr lang="es-ES" sz="900" b="1">
                <a:solidFill>
                  <a:srgbClr val="3F8F1F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DF85A8DD-6CE6-4ED6-B2A9-F9AFB677F325}"/>
                </a:ext>
              </a:extLst>
            </p:cNvPr>
            <p:cNvCxnSpPr/>
            <p:nvPr/>
          </p:nvCxnSpPr>
          <p:spPr>
            <a:xfrm>
              <a:off x="8636000" y="1485900"/>
              <a:ext cx="0" cy="127000"/>
            </a:xfrm>
            <a:prstGeom prst="line">
              <a:avLst/>
            </a:prstGeom>
            <a:ln w="15875">
              <a:solidFill>
                <a:srgbClr val="3F8F1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30CB8AB3-9BA4-4E14-8AE6-4A2D85C79E5C}"/>
                </a:ext>
              </a:extLst>
            </p:cNvPr>
            <p:cNvSpPr txBox="1"/>
            <p:nvPr/>
          </p:nvSpPr>
          <p:spPr>
            <a:xfrm>
              <a:off x="6756400" y="1905000"/>
              <a:ext cx="16256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ES" sz="800">
                  <a:solidFill>
                    <a:srgbClr val="5B6475"/>
                  </a:solidFill>
                  <a:latin typeface="Calibri" panose="020F0502020204030204" pitchFamily="34" charset="0"/>
                </a:rPr>
                <a:t>contexto (visível)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CA99C7E1-C09B-4F46-A1D8-521E1138049F}"/>
                </a:ext>
              </a:extLst>
            </p:cNvPr>
            <p:cNvSpPr txBox="1"/>
            <p:nvPr/>
          </p:nvSpPr>
          <p:spPr>
            <a:xfrm>
              <a:off x="8864600" y="1905000"/>
              <a:ext cx="14478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ES" sz="800">
                  <a:solidFill>
                    <a:srgbClr val="5B6475"/>
                  </a:solidFill>
                  <a:latin typeface="Calibri" panose="020F0502020204030204" pitchFamily="34" charset="0"/>
                </a:rPr>
                <a:t>futuro (mascarado)</a:t>
              </a:r>
            </a:p>
          </p:txBody>
        </p:sp>
        <p:sp>
          <p:nvSpPr>
            <p:cNvPr id="84" name="CuadroTexto 83">
              <a:extLst>
                <a:ext uri="{FF2B5EF4-FFF2-40B4-BE49-F238E27FC236}">
                  <a16:creationId xmlns:a16="http://schemas.microsoft.com/office/drawing/2014/main" id="{1B5F3B26-1649-4D32-8283-9222B3D898FB}"/>
                </a:ext>
              </a:extLst>
            </p:cNvPr>
            <p:cNvSpPr txBox="1"/>
            <p:nvPr/>
          </p:nvSpPr>
          <p:spPr>
            <a:xfrm>
              <a:off x="5588000" y="2159000"/>
              <a:ext cx="2286000" cy="1651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900" b="1">
                  <a:solidFill>
                    <a:srgbClr val="1F2937"/>
                  </a:solidFill>
                  <a:latin typeface="Calibri" panose="020F0502020204030204" pitchFamily="34" charset="0"/>
                </a:rPr>
                <a:t>Previsão: p( · | &lt;início&gt; The monkey )</a:t>
              </a:r>
              <a:endParaRPr lang="es-ES" sz="900" b="1">
                <a:solidFill>
                  <a:srgbClr val="1F2937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891933DD-2975-4307-BAFB-E32725903475}"/>
                </a:ext>
              </a:extLst>
            </p:cNvPr>
            <p:cNvSpPr txBox="1"/>
            <p:nvPr/>
          </p:nvSpPr>
          <p:spPr>
            <a:xfrm>
              <a:off x="5588000" y="23749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 b="1">
                  <a:solidFill>
                    <a:srgbClr val="3F8F1F"/>
                  </a:solidFill>
                  <a:latin typeface="Calibri" panose="020F0502020204030204" pitchFamily="34" charset="0"/>
                </a:rPr>
                <a:t>ate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BF9F4A24-54F0-4AF9-8B93-A9D3E79CA087}"/>
                </a:ext>
              </a:extLst>
            </p:cNvPr>
            <p:cNvSpPr/>
            <p:nvPr/>
          </p:nvSpPr>
          <p:spPr>
            <a:xfrm>
              <a:off x="6223000" y="2400300"/>
              <a:ext cx="1016000" cy="127000"/>
            </a:xfrm>
            <a:prstGeom prst="rect">
              <a:avLst/>
            </a:prstGeom>
            <a:solidFill>
              <a:srgbClr val="3F8F1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3A94CCDA-1887-453B-A2FA-38596524BCBF}"/>
                </a:ext>
              </a:extLst>
            </p:cNvPr>
            <p:cNvSpPr txBox="1"/>
            <p:nvPr/>
          </p:nvSpPr>
          <p:spPr>
            <a:xfrm>
              <a:off x="7289800" y="23749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0,35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86061B99-F75B-4BD7-9493-4667E99CFDA5}"/>
                </a:ext>
              </a:extLst>
            </p:cNvPr>
            <p:cNvSpPr/>
            <p:nvPr/>
          </p:nvSpPr>
          <p:spPr>
            <a:xfrm>
              <a:off x="7975600" y="2387600"/>
              <a:ext cx="228600" cy="165100"/>
            </a:xfrm>
            <a:prstGeom prst="rect">
              <a:avLst/>
            </a:prstGeom>
            <a:solidFill>
              <a:srgbClr val="DDF2D3"/>
            </a:solidFill>
            <a:ln w="12700">
              <a:solidFill>
                <a:srgbClr val="3F8F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700" tIns="0" rIns="12700" bIns="0" rtlCol="0" anchor="ctr"/>
            <a:lstStyle/>
            <a:p>
              <a:pPr algn="ctr"/>
              <a:r>
                <a:rPr lang="es-ES" sz="900" b="1">
                  <a:solidFill>
                    <a:srgbClr val="3F8F1F"/>
                  </a:solidFill>
                  <a:latin typeface="Calibri" panose="020F0502020204030204" pitchFamily="34" charset="0"/>
                </a:rPr>
                <a:t>1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918E63E8-CAA4-4330-A9D5-620E23DCFED4}"/>
                </a:ext>
              </a:extLst>
            </p:cNvPr>
            <p:cNvSpPr txBox="1"/>
            <p:nvPr/>
          </p:nvSpPr>
          <p:spPr>
            <a:xfrm>
              <a:off x="5588000" y="25908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>
                  <a:solidFill>
                    <a:srgbClr val="1F2937"/>
                  </a:solidFill>
                  <a:latin typeface="Calibri" panose="020F0502020204030204" pitchFamily="34" charset="0"/>
                </a:rPr>
                <a:t>is</a:t>
              </a:r>
            </a:p>
          </p:txBody>
        </p:sp>
        <p:sp>
          <p:nvSpPr>
            <p:cNvPr id="90" name="Rectángulo 89">
              <a:extLst>
                <a:ext uri="{FF2B5EF4-FFF2-40B4-BE49-F238E27FC236}">
                  <a16:creationId xmlns:a16="http://schemas.microsoft.com/office/drawing/2014/main" id="{67BCC112-0278-4210-81B9-1E24A02A1BB0}"/>
                </a:ext>
              </a:extLst>
            </p:cNvPr>
            <p:cNvSpPr/>
            <p:nvPr/>
          </p:nvSpPr>
          <p:spPr>
            <a:xfrm>
              <a:off x="6223000" y="2616200"/>
              <a:ext cx="584200" cy="127000"/>
            </a:xfrm>
            <a:prstGeom prst="rect">
              <a:avLst/>
            </a:prstGeom>
            <a:solidFill>
              <a:srgbClr val="A3ADB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271E237A-35F1-46C9-97EE-9A27B2B5CC83}"/>
                </a:ext>
              </a:extLst>
            </p:cNvPr>
            <p:cNvSpPr txBox="1"/>
            <p:nvPr/>
          </p:nvSpPr>
          <p:spPr>
            <a:xfrm>
              <a:off x="6858000" y="25908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0,20</a:t>
              </a:r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BECC27F-D21E-4627-98CB-CC43B6096AAC}"/>
                </a:ext>
              </a:extLst>
            </p:cNvPr>
            <p:cNvSpPr/>
            <p:nvPr/>
          </p:nvSpPr>
          <p:spPr>
            <a:xfrm>
              <a:off x="7975600" y="2603500"/>
              <a:ext cx="228600" cy="1651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2FBF72C4-8BF0-4B58-A774-EC2333855031}"/>
                </a:ext>
              </a:extLst>
            </p:cNvPr>
            <p:cNvSpPr txBox="1"/>
            <p:nvPr/>
          </p:nvSpPr>
          <p:spPr>
            <a:xfrm>
              <a:off x="5588000" y="28067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>
                  <a:solidFill>
                    <a:srgbClr val="1F2937"/>
                  </a:solidFill>
                  <a:latin typeface="Calibri" panose="020F0502020204030204" pitchFamily="34" charset="0"/>
                </a:rPr>
                <a:t>eats</a:t>
              </a:r>
            </a:p>
          </p:txBody>
        </p: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8BE0A9FD-E6B1-4017-A9A4-6B6A8F8B4AA1}"/>
                </a:ext>
              </a:extLst>
            </p:cNvPr>
            <p:cNvSpPr/>
            <p:nvPr/>
          </p:nvSpPr>
          <p:spPr>
            <a:xfrm>
              <a:off x="6223000" y="2832100"/>
              <a:ext cx="431800" cy="127000"/>
            </a:xfrm>
            <a:prstGeom prst="rect">
              <a:avLst/>
            </a:prstGeom>
            <a:solidFill>
              <a:srgbClr val="A3ADB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F146BDAB-397D-4808-95A9-018024C59D48}"/>
                </a:ext>
              </a:extLst>
            </p:cNvPr>
            <p:cNvSpPr txBox="1"/>
            <p:nvPr/>
          </p:nvSpPr>
          <p:spPr>
            <a:xfrm>
              <a:off x="6705600" y="28067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0,15</a:t>
              </a:r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0261A347-666E-46BD-B5BC-2A787E79276F}"/>
                </a:ext>
              </a:extLst>
            </p:cNvPr>
            <p:cNvSpPr/>
            <p:nvPr/>
          </p:nvSpPr>
          <p:spPr>
            <a:xfrm>
              <a:off x="7975600" y="2819400"/>
              <a:ext cx="228600" cy="1651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C71CACD1-B181-4FC9-A142-8295D443DF3E}"/>
                </a:ext>
              </a:extLst>
            </p:cNvPr>
            <p:cNvSpPr txBox="1"/>
            <p:nvPr/>
          </p:nvSpPr>
          <p:spPr>
            <a:xfrm>
              <a:off x="5588000" y="30226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>
                  <a:solidFill>
                    <a:srgbClr val="1F2937"/>
                  </a:solidFill>
                  <a:latin typeface="Calibri" panose="020F0502020204030204" pitchFamily="34" charset="0"/>
                </a:rPr>
                <a:t>the</a:t>
              </a:r>
            </a:p>
          </p:txBody>
        </p:sp>
        <p:sp>
          <p:nvSpPr>
            <p:cNvPr id="98" name="Rectángulo 97">
              <a:extLst>
                <a:ext uri="{FF2B5EF4-FFF2-40B4-BE49-F238E27FC236}">
                  <a16:creationId xmlns:a16="http://schemas.microsoft.com/office/drawing/2014/main" id="{CAE81E0F-B406-473A-9413-89DBA3302185}"/>
                </a:ext>
              </a:extLst>
            </p:cNvPr>
            <p:cNvSpPr/>
            <p:nvPr/>
          </p:nvSpPr>
          <p:spPr>
            <a:xfrm>
              <a:off x="6223000" y="3048000"/>
              <a:ext cx="292100" cy="127000"/>
            </a:xfrm>
            <a:prstGeom prst="rect">
              <a:avLst/>
            </a:prstGeom>
            <a:solidFill>
              <a:srgbClr val="A3ADB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04CCD9AE-70A1-4CB7-ACFE-D2E1A6314805}"/>
                </a:ext>
              </a:extLst>
            </p:cNvPr>
            <p:cNvSpPr txBox="1"/>
            <p:nvPr/>
          </p:nvSpPr>
          <p:spPr>
            <a:xfrm>
              <a:off x="6565900" y="30226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0,10</a:t>
              </a:r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A6D107F8-B1F5-4FC2-900A-1E07D39FE03F}"/>
                </a:ext>
              </a:extLst>
            </p:cNvPr>
            <p:cNvSpPr/>
            <p:nvPr/>
          </p:nvSpPr>
          <p:spPr>
            <a:xfrm>
              <a:off x="7975600" y="3035300"/>
              <a:ext cx="228600" cy="1651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91471E0D-D0CE-4981-BA3F-AE5657407D56}"/>
                </a:ext>
              </a:extLst>
            </p:cNvPr>
            <p:cNvSpPr txBox="1"/>
            <p:nvPr/>
          </p:nvSpPr>
          <p:spPr>
            <a:xfrm>
              <a:off x="5588000" y="32385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>
                  <a:solidFill>
                    <a:srgbClr val="1F2937"/>
                  </a:solidFill>
                  <a:latin typeface="Calibri" panose="020F0502020204030204" pitchFamily="34" charset="0"/>
                </a:rPr>
                <a:t>banana</a:t>
              </a:r>
            </a:p>
          </p:txBody>
        </p: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CD55E8DB-F5F1-4443-8C88-6006E819472A}"/>
                </a:ext>
              </a:extLst>
            </p:cNvPr>
            <p:cNvSpPr/>
            <p:nvPr/>
          </p:nvSpPr>
          <p:spPr>
            <a:xfrm>
              <a:off x="6223000" y="3263900"/>
              <a:ext cx="228600" cy="127000"/>
            </a:xfrm>
            <a:prstGeom prst="rect">
              <a:avLst/>
            </a:prstGeom>
            <a:solidFill>
              <a:srgbClr val="A3ADB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8080C038-168C-43BE-BDB9-6AAFBFF21CC4}"/>
                </a:ext>
              </a:extLst>
            </p:cNvPr>
            <p:cNvSpPr txBox="1"/>
            <p:nvPr/>
          </p:nvSpPr>
          <p:spPr>
            <a:xfrm>
              <a:off x="6502400" y="32385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0,08</a:t>
              </a:r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B2D5DC30-6609-4BAA-9DA2-EEF8CDAAB1E9}"/>
                </a:ext>
              </a:extLst>
            </p:cNvPr>
            <p:cNvSpPr/>
            <p:nvPr/>
          </p:nvSpPr>
          <p:spPr>
            <a:xfrm>
              <a:off x="7975600" y="3251200"/>
              <a:ext cx="228600" cy="1651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05" name="CuadroTexto 104">
              <a:extLst>
                <a:ext uri="{FF2B5EF4-FFF2-40B4-BE49-F238E27FC236}">
                  <a16:creationId xmlns:a16="http://schemas.microsoft.com/office/drawing/2014/main" id="{A216BA06-58F2-4D8C-9C20-365D0F914FB4}"/>
                </a:ext>
              </a:extLst>
            </p:cNvPr>
            <p:cNvSpPr txBox="1"/>
            <p:nvPr/>
          </p:nvSpPr>
          <p:spPr>
            <a:xfrm>
              <a:off x="5588000" y="3454400"/>
              <a:ext cx="55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s-ES" sz="900">
                  <a:solidFill>
                    <a:srgbClr val="1F2937"/>
                  </a:solidFill>
                  <a:latin typeface="Calibri" panose="020F0502020204030204" pitchFamily="34" charset="0"/>
                </a:rPr>
                <a:t>…</a:t>
              </a:r>
            </a:p>
          </p:txBody>
        </p:sp>
        <p:sp>
          <p:nvSpPr>
            <p:cNvPr id="106" name="Rectángulo 105">
              <a:extLst>
                <a:ext uri="{FF2B5EF4-FFF2-40B4-BE49-F238E27FC236}">
                  <a16:creationId xmlns:a16="http://schemas.microsoft.com/office/drawing/2014/main" id="{49758F07-90A9-404C-82E7-E62CF271582F}"/>
                </a:ext>
              </a:extLst>
            </p:cNvPr>
            <p:cNvSpPr/>
            <p:nvPr/>
          </p:nvSpPr>
          <p:spPr>
            <a:xfrm>
              <a:off x="6223000" y="3479800"/>
              <a:ext cx="355600" cy="127000"/>
            </a:xfrm>
            <a:prstGeom prst="rect">
              <a:avLst/>
            </a:prstGeom>
            <a:solidFill>
              <a:srgbClr val="A3ADB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endParaRPr lang="es-ES"/>
            </a:p>
          </p:txBody>
        </p: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0683D62E-2617-4FB1-B728-907A53A576D3}"/>
                </a:ext>
              </a:extLst>
            </p:cNvPr>
            <p:cNvSpPr txBox="1"/>
            <p:nvPr/>
          </p:nvSpPr>
          <p:spPr>
            <a:xfrm>
              <a:off x="6629400" y="3454400"/>
              <a:ext cx="3810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0,12</a:t>
              </a:r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32F9988B-D9A8-4ED8-8216-8ECB96B4A837}"/>
                </a:ext>
              </a:extLst>
            </p:cNvPr>
            <p:cNvSpPr/>
            <p:nvPr/>
          </p:nvSpPr>
          <p:spPr>
            <a:xfrm>
              <a:off x="7975600" y="3467100"/>
              <a:ext cx="228600" cy="1651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700" tIns="0" rIns="12700" bIns="0" rtlCol="0" anchor="ctr"/>
            <a:lstStyle/>
            <a:p>
              <a:pPr algn="ctr"/>
              <a:r>
                <a:rPr lang="es-ES" sz="900">
                  <a:solidFill>
                    <a:srgbClr val="5B6475"/>
                  </a:solidFill>
                  <a:latin typeface="Calibri" panose="020F0502020204030204" pitchFamily="34" charset="0"/>
                </a:rPr>
                <a:t>0</a:t>
              </a:r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AA9EBD15-3774-4C97-BBB2-927A23CF6418}"/>
                </a:ext>
              </a:extLst>
            </p:cNvPr>
            <p:cNvSpPr txBox="1"/>
            <p:nvPr/>
          </p:nvSpPr>
          <p:spPr>
            <a:xfrm>
              <a:off x="7899400" y="2159000"/>
              <a:ext cx="381000" cy="1651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ES" sz="900" b="1">
                  <a:solidFill>
                    <a:srgbClr val="1F2937"/>
                  </a:solidFill>
                  <a:latin typeface="Calibri" panose="020F0502020204030204" pitchFamily="34" charset="0"/>
                </a:rPr>
                <a:t>Alvo</a:t>
              </a:r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1901C29A-D7F2-483C-8C7A-F7C997D46B0C}"/>
                </a:ext>
              </a:extLst>
            </p:cNvPr>
            <p:cNvSpPr txBox="1"/>
            <p:nvPr/>
          </p:nvSpPr>
          <p:spPr>
            <a:xfrm>
              <a:off x="5588000" y="3683000"/>
              <a:ext cx="1778000" cy="139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800">
                  <a:solidFill>
                    <a:srgbClr val="5B6475"/>
                  </a:solidFill>
                  <a:latin typeface="Calibri" panose="020F0502020204030204" pitchFamily="34" charset="0"/>
                </a:rPr>
                <a:t>valores ilustrativos</a:t>
              </a:r>
            </a:p>
          </p:txBody>
        </p: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61942E7A-5772-4F33-BD82-875EF5FAD463}"/>
                </a:ext>
              </a:extLst>
            </p:cNvPr>
            <p:cNvSpPr txBox="1"/>
            <p:nvPr/>
          </p:nvSpPr>
          <p:spPr>
            <a:xfrm>
              <a:off x="8585200" y="2159000"/>
              <a:ext cx="3098800" cy="1651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1000" b="1">
                  <a:solidFill>
                    <a:srgbClr val="1F2937"/>
                  </a:solidFill>
                  <a:latin typeface="Calibri" panose="020F0502020204030204" pitchFamily="34" charset="0"/>
                </a:rPr>
                <a:t>Perda (entropia cruzada)</a:t>
              </a:r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FC9CFA01-46E2-4385-959A-7DB4E867D3C3}"/>
                </a:ext>
              </a:extLst>
            </p:cNvPr>
            <p:cNvSpPr txBox="1"/>
            <p:nvPr/>
          </p:nvSpPr>
          <p:spPr>
            <a:xfrm>
              <a:off x="8585200" y="2387600"/>
              <a:ext cx="30988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1300">
                  <a:solidFill>
                    <a:srgbClr val="1F2937"/>
                  </a:solidFill>
                  <a:latin typeface="Cambria Math" panose="02040503050406030204" pitchFamily="18" charset="0"/>
                </a:rPr>
                <a:t>L = −log p(ate)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92E480B4-39DE-40BA-951B-A75A7D65519C}"/>
                </a:ext>
              </a:extLst>
            </p:cNvPr>
            <p:cNvSpPr txBox="1"/>
            <p:nvPr/>
          </p:nvSpPr>
          <p:spPr>
            <a:xfrm>
              <a:off x="8585200" y="2641600"/>
              <a:ext cx="30988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1300">
                  <a:solidFill>
                    <a:srgbClr val="1F2937"/>
                  </a:solidFill>
                  <a:latin typeface="Cambria Math" panose="02040503050406030204" pitchFamily="18" charset="0"/>
                </a:rPr>
                <a:t>= −log 0,35 ≈ 1,05  →  mín</a:t>
              </a:r>
            </a:p>
          </p:txBody>
        </p:sp>
        <p:sp>
          <p:nvSpPr>
            <p:cNvPr id="114" name="CuadroTexto 113">
              <a:extLst>
                <a:ext uri="{FF2B5EF4-FFF2-40B4-BE49-F238E27FC236}">
                  <a16:creationId xmlns:a16="http://schemas.microsoft.com/office/drawing/2014/main" id="{C500BD7C-29DC-4463-B5B7-5A458A9DA39E}"/>
                </a:ext>
              </a:extLst>
            </p:cNvPr>
            <p:cNvSpPr txBox="1"/>
            <p:nvPr/>
          </p:nvSpPr>
          <p:spPr>
            <a:xfrm>
              <a:off x="8585200" y="2959100"/>
              <a:ext cx="309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s-ES" sz="1000" b="1">
                  <a:solidFill>
                    <a:srgbClr val="3F8F1F"/>
                  </a:solidFill>
                  <a:latin typeface="Calibri" panose="020F0502020204030204" pitchFamily="34" charset="0"/>
                </a:rPr>
                <a:t>▲ aumenta p(ate)</a:t>
              </a:r>
            </a:p>
          </p:txBody>
        </p:sp>
        <p:sp>
          <p:nvSpPr>
            <p:cNvPr id="115" name="CuadroTexto 114">
              <a:extLst>
                <a:ext uri="{FF2B5EF4-FFF2-40B4-BE49-F238E27FC236}">
                  <a16:creationId xmlns:a16="http://schemas.microsoft.com/office/drawing/2014/main" id="{237801F8-447D-4E8C-88E8-FC5B0DCBD929}"/>
                </a:ext>
              </a:extLst>
            </p:cNvPr>
            <p:cNvSpPr txBox="1"/>
            <p:nvPr/>
          </p:nvSpPr>
          <p:spPr>
            <a:xfrm>
              <a:off x="8585200" y="3162300"/>
              <a:ext cx="3098800" cy="177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1000" b="1">
                  <a:solidFill>
                    <a:srgbClr val="5B6475"/>
                  </a:solidFill>
                  <a:latin typeface="Calibri" panose="020F0502020204030204" pitchFamily="34" charset="0"/>
                </a:rPr>
                <a:t>▼ diminui a probabilidade dos demais</a:t>
              </a:r>
              <a:endParaRPr lang="es-ES" sz="1000" b="1">
                <a:solidFill>
                  <a:srgbClr val="5B6475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6" name="CuadroTexto 115">
              <a:extLst>
                <a:ext uri="{FF2B5EF4-FFF2-40B4-BE49-F238E27FC236}">
                  <a16:creationId xmlns:a16="http://schemas.microsoft.com/office/drawing/2014/main" id="{D077B5B4-DA6D-4629-B9B7-4C3FDB943CA3}"/>
                </a:ext>
              </a:extLst>
            </p:cNvPr>
            <p:cNvSpPr txBox="1"/>
            <p:nvPr/>
          </p:nvSpPr>
          <p:spPr>
            <a:xfrm>
              <a:off x="8585200" y="3429000"/>
              <a:ext cx="3098800" cy="330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pt-BR" sz="900">
                  <a:solidFill>
                    <a:srgbClr val="5B6475"/>
                  </a:solidFill>
                  <a:latin typeface="Calibri" panose="020F0502020204030204" pitchFamily="34" charset="0"/>
                </a:rPr>
                <a:t>Na frase toda: média de −log p sobre os m tokens do alvo</a:t>
              </a:r>
              <a:endParaRPr lang="es-ES" sz="900">
                <a:solidFill>
                  <a:srgbClr val="5B6475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4794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2F2E8F9-6506-4E71-9A0B-CAAE37436CA3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Como o modelo gera uma sequência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2D4547-188E-4EEE-B101-47A0F7FCF58E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Um token por vez: cada token gerado volta como entrada do decoder.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o 22"/>
          <p:cNvSpPr txBox="1">
            <a:spLocks/>
          </p:cNvSpPr>
          <p:nvPr/>
        </p:nvSpPr>
        <p:spPr>
          <a:xfrm>
            <a:off x="512064" y="1417320"/>
            <a:ext cx="543153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Greedy (guloso)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 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The nice woman:  0,5 × 0,4 = 0,20</a:t>
            </a:r>
          </a:p>
        </p:txBody>
      </p:sp>
      <p:pic>
        <p:nvPicPr>
          <p:cNvPr id="23" name="Greedy (guloso)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810512"/>
            <a:ext cx="4558284" cy="2898648"/>
          </a:xfrm>
          <a:prstGeom prst="rect">
            <a:avLst/>
          </a:prstGeom>
        </p:spPr>
      </p:pic>
      <p:sp>
        <p:nvSpPr>
          <p:cNvPr id="24" name="Texto 24"/>
          <p:cNvSpPr txBox="1">
            <a:spLocks/>
          </p:cNvSpPr>
          <p:nvPr/>
        </p:nvSpPr>
        <p:spPr>
          <a:xfrm>
            <a:off x="512064" y="4754880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Escolhe sempre o token mais provável em cada passo.</a:t>
            </a:r>
          </a:p>
        </p:txBody>
      </p:sp>
      <p:sp>
        <p:nvSpPr>
          <p:cNvPr id="25" name="Texto 25"/>
          <p:cNvSpPr txBox="1">
            <a:spLocks/>
          </p:cNvSpPr>
          <p:nvPr/>
        </p:nvSpPr>
        <p:spPr>
          <a:xfrm>
            <a:off x="6254496" y="1417320"/>
            <a:ext cx="5431536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Beam search (k = 2)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 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The dog has:  0,4 × 0,9 = 0,36</a:t>
            </a:r>
          </a:p>
        </p:txBody>
      </p:sp>
      <p:pic>
        <p:nvPicPr>
          <p:cNvPr id="26" name="Beam search (k = 2)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810512"/>
            <a:ext cx="4514088" cy="2898648"/>
          </a:xfrm>
          <a:prstGeom prst="rect">
            <a:avLst/>
          </a:prstGeom>
        </p:spPr>
      </p:pic>
      <p:sp>
        <p:nvSpPr>
          <p:cNvPr id="27" name="Texto 27"/>
          <p:cNvSpPr txBox="1">
            <a:spLocks/>
          </p:cNvSpPr>
          <p:nvPr/>
        </p:nvSpPr>
        <p:spPr>
          <a:xfrm>
            <a:off x="6254496" y="4754880"/>
            <a:ext cx="543153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Mantém as k melhores sequências parciais.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5138928"/>
            <a:ext cx="11173968" cy="1143000"/>
          </a:xfrm>
          <a:prstGeom prst="roundRect">
            <a:avLst>
              <a:gd name="adj" fmla="val 12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o 29"/>
          <p:cNvSpPr txBox="1">
            <a:spLocks/>
          </p:cNvSpPr>
          <p:nvPr/>
        </p:nvSpPr>
        <p:spPr>
          <a:xfrm>
            <a:off x="777240" y="5303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Geração token a token: 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&lt;início&gt;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→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The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→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monkey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→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ate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→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…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  →  </a:t>
            </a:r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&lt;fim&gt;</a:t>
            </a:r>
          </a:p>
        </p:txBody>
      </p:sp>
      <p:sp>
        <p:nvSpPr>
          <p:cNvPr id="30" name="Texto 30"/>
          <p:cNvSpPr txBox="1">
            <a:spLocks/>
          </p:cNvSpPr>
          <p:nvPr/>
        </p:nvSpPr>
        <p:spPr>
          <a:xfrm>
            <a:off x="777240" y="56875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Termina ao gerar &lt;fim&gt; ou ao atingir o comprimento máximo (entrada + 50 tokens). </a:t>
            </a:r>
            <a:r>
              <a:rPr lang="pt-BR" sz="1500" b="1" dirty="0">
                <a:solidFill>
                  <a:srgbClr val="1B2A41"/>
                </a:solidFill>
                <a:latin typeface="Calibri"/>
                <a:cs typeface="Calibri"/>
              </a:rPr>
              <a:t>No artigo: 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beam search com k = 4 e α = 0,6. </a:t>
            </a:r>
            <a:r>
              <a:rPr lang="pt-BR" sz="1500" b="1" dirty="0">
                <a:solidFill>
                  <a:srgbClr val="1B2A41"/>
                </a:solidFill>
                <a:latin typeface="Calibri"/>
                <a:cs typeface="Calibri"/>
              </a:rPr>
              <a:t>Amostragem / temperatura: </a:t>
            </a:r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comum em LLMs; o artigo não usa.</a:t>
            </a:r>
          </a:p>
        </p:txBody>
      </p:sp>
    </p:spTree>
    <p:extLst>
      <p:ext uri="{BB962C8B-B14F-4D97-AF65-F5344CB8AC3E}">
        <p14:creationId xmlns:p14="http://schemas.microsoft.com/office/powerpoint/2010/main" val="29934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45272AB-798F-4A0C-8C77-034F1021943E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RESULTADOS · TABELA 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299BF7-00A3-4B01-8F72-B80EE64799C7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Dados e resultados: Tabela 2 do artigo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3090DD-312E-4ADA-93AE-AA14B5DD6341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5A6270"/>
                </a:solidFill>
                <a:latin typeface="Calibri" panose="020F0502020204030204" pitchFamily="34" charset="0"/>
              </a:rPr>
              <a:t>O Transformer big alcançou resultados de referência em tradução, com menor custo de treino que vários sistemas anteriores</a:t>
            </a:r>
            <a:endParaRPr lang="es-ES" sz="15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53">
            <a:extLst>
              <a:ext uri="{FF2B5EF4-FFF2-40B4-BE49-F238E27FC236}">
                <a16:creationId xmlns:a16="http://schemas.microsoft.com/office/drawing/2014/main" id="{B52F74F9-66BB-4CD3-88FD-FD0897BE168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97000"/>
            <a:ext cx="7493000" cy="302037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DD29090-438A-4FE2-BA5A-C13D8868A78B}"/>
              </a:ext>
            </a:extLst>
          </p:cNvPr>
          <p:cNvSpPr/>
          <p:nvPr/>
        </p:nvSpPr>
        <p:spPr>
          <a:xfrm>
            <a:off x="1048732" y="1644192"/>
            <a:ext cx="656603" cy="22401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Modelo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C8D25F-013E-4563-8B45-CE2D7E3B0398}"/>
              </a:ext>
            </a:extLst>
          </p:cNvPr>
          <p:cNvSpPr/>
          <p:nvPr/>
        </p:nvSpPr>
        <p:spPr>
          <a:xfrm>
            <a:off x="5818760" y="1451073"/>
            <a:ext cx="2066369" cy="27809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Custo de treino (FLOPs)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430C050-9F2F-4D98-8829-E6F840EEE893}"/>
              </a:ext>
            </a:extLst>
          </p:cNvPr>
          <p:cNvSpPr/>
          <p:nvPr/>
        </p:nvSpPr>
        <p:spPr>
          <a:xfrm>
            <a:off x="990796" y="3830294"/>
            <a:ext cx="6952268" cy="521420"/>
          </a:xfrm>
          <a:prstGeom prst="roundRect">
            <a:avLst>
              <a:gd name="adj" fmla="val 15000"/>
            </a:avLst>
          </a:prstGeom>
          <a:noFill/>
          <a:ln w="31750" cap="flat" cmpd="sng" algn="ctr">
            <a:solidFill>
              <a:srgbClr val="0E7C8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76061AA-4955-4F58-A95C-CFDED4592E99}"/>
              </a:ext>
            </a:extLst>
          </p:cNvPr>
          <p:cNvSpPr/>
          <p:nvPr/>
        </p:nvSpPr>
        <p:spPr>
          <a:xfrm>
            <a:off x="8331200" y="1422400"/>
            <a:ext cx="3352800" cy="6858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WMT 2014 EN→DE</a:t>
            </a:r>
          </a:p>
          <a:p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4,5 M pares de frases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9BCDF18-5134-4A71-8D90-63FD45A644E0}"/>
              </a:ext>
            </a:extLst>
          </p:cNvPr>
          <p:cNvSpPr/>
          <p:nvPr/>
        </p:nvSpPr>
        <p:spPr>
          <a:xfrm>
            <a:off x="8331200" y="2209800"/>
            <a:ext cx="3352800" cy="6858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r>
              <a:rPr lang="es-ES" sz="1300" b="1">
                <a:solidFill>
                  <a:srgbClr val="1B2A41"/>
                </a:solidFill>
                <a:latin typeface="Calibri" panose="020F0502020204030204" pitchFamily="34" charset="0"/>
              </a:rPr>
              <a:t>WMT 2014 EN→FR</a:t>
            </a:r>
          </a:p>
          <a:p>
            <a:r>
              <a:rPr lang="es-ES" sz="1300">
                <a:solidFill>
                  <a:srgbClr val="1B2A41"/>
                </a:solidFill>
                <a:latin typeface="Calibri" panose="020F0502020204030204" pitchFamily="34" charset="0"/>
              </a:rPr>
              <a:t>36 M pares de frases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20310B8-AF3C-4CBD-B155-07DA253C3BD0}"/>
              </a:ext>
            </a:extLst>
          </p:cNvPr>
          <p:cNvSpPr/>
          <p:nvPr/>
        </p:nvSpPr>
        <p:spPr>
          <a:xfrm>
            <a:off x="8331200" y="2997200"/>
            <a:ext cx="3352800" cy="6858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r>
              <a:rPr lang="pt-BR" sz="1300" b="1">
                <a:solidFill>
                  <a:srgbClr val="1B2A41"/>
                </a:solidFill>
                <a:latin typeface="Calibri" panose="020F0502020204030204" pitchFamily="34" charset="0"/>
              </a:rPr>
              <a:t>8 GPUs P100</a:t>
            </a:r>
          </a:p>
          <a:p>
            <a:r>
              <a:rPr lang="pt-BR" sz="1300">
                <a:solidFill>
                  <a:srgbClr val="1B2A41"/>
                </a:solidFill>
                <a:latin typeface="Calibri" panose="020F0502020204030204" pitchFamily="34" charset="0"/>
              </a:rPr>
              <a:t>base: 12 h · big: 3,5 dias</a:t>
            </a:r>
            <a:endParaRPr lang="es-ES" sz="13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DA53FC-AC96-4210-81FF-09C40E42892A}"/>
              </a:ext>
            </a:extLst>
          </p:cNvPr>
          <p:cNvSpPr txBox="1"/>
          <p:nvPr/>
        </p:nvSpPr>
        <p:spPr>
          <a:xfrm>
            <a:off x="8331200" y="38862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600" b="1">
                <a:solidFill>
                  <a:srgbClr val="0E7C86"/>
                </a:solidFill>
                <a:latin typeface="Cambria" panose="02040503050406030204" pitchFamily="18" charset="0"/>
              </a:rPr>
              <a:t>+2,0 BLEU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6ED014-336D-47FA-A239-788D15477BFE}"/>
              </a:ext>
            </a:extLst>
          </p:cNvPr>
          <p:cNvSpPr txBox="1"/>
          <p:nvPr/>
        </p:nvSpPr>
        <p:spPr>
          <a:xfrm>
            <a:off x="8331200" y="4343400"/>
            <a:ext cx="335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>
                <a:solidFill>
                  <a:srgbClr val="1B2A41"/>
                </a:solidFill>
                <a:latin typeface="Calibri" panose="020F0502020204030204" pitchFamily="34" charset="0"/>
              </a:rPr>
              <a:t>sobre o melhor ensemble anterior (EN→DE)</a:t>
            </a:r>
            <a:endParaRPr lang="es-ES" sz="13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F9C1031-5B5D-4FB1-B9CA-827047B9B35C}"/>
              </a:ext>
            </a:extLst>
          </p:cNvPr>
          <p:cNvSpPr txBox="1"/>
          <p:nvPr/>
        </p:nvSpPr>
        <p:spPr>
          <a:xfrm>
            <a:off x="508000" y="482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Funcionou: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estado da arte em EN→DE (28,4) e EN→FR (41,8); o modelo base é o mais barato da tabela (3,3·10</a:t>
            </a:r>
            <a:r>
              <a:rPr lang="pt-BR" sz="1500" baseline="30000">
                <a:solidFill>
                  <a:srgbClr val="1B2A41"/>
                </a:solidFill>
                <a:latin typeface="Calibri" panose="020F0502020204030204" pitchFamily="34" charset="0"/>
              </a:rPr>
              <a:t>18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FLOPs).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4864A4-D851-48A5-96EB-25A2A891F036}"/>
              </a:ext>
            </a:extLst>
          </p:cNvPr>
          <p:cNvSpPr txBox="1"/>
          <p:nvPr/>
        </p:nvSpPr>
        <p:spPr>
          <a:xfrm>
            <a:off x="508000" y="5435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 dirty="0">
                <a:solidFill>
                  <a:srgbClr val="1B2A41"/>
                </a:solidFill>
                <a:latin typeface="Calibri" panose="020F0502020204030204" pitchFamily="34" charset="0"/>
              </a:rPr>
              <a:t>Ressalva: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 o modelo base fica abaixo dos anteriores em EN→FR (38,1).   Teste: newstest2014 · métrica: BLEU.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11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CC3F5A-AC00-4E47-816D-CE9DE5AEA9C8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RESULTADOS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69B03F-0F9A-4CCA-B10B-CBA97E614C46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Reprodução: o Transformer supera o LSTM</a:t>
            </a:r>
            <a:endParaRPr lang="es-ES" sz="3000" b="1" dirty="0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557970-8CA6-4455-BB9C-82987190FCAB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Multi30k alemão → inglês (29 mil pares) · Google Colab, GPU T4 · mesma tokenização BPE e 15 épocas para todos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4" name="Tabela_resultados">
            <a:extLst>
              <a:ext uri="{FF2B5EF4-FFF2-40B4-BE49-F238E27FC236}">
                <a16:creationId xmlns:a16="http://schemas.microsoft.com/office/drawing/2014/main" id="{E3575FD2-04B9-4F09-87BB-DFD7F960A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32731"/>
              </p:ext>
            </p:extLst>
          </p:nvPr>
        </p:nvGraphicFramePr>
        <p:xfrm>
          <a:off x="508000" y="1473200"/>
          <a:ext cx="60960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265632977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2298043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353436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Medida</a:t>
                      </a:r>
                    </a:p>
                  </a:txBody>
                  <a:tcPr marL="88900" marR="635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Artigo (WMT14)</a:t>
                      </a:r>
                    </a:p>
                  </a:txBody>
                  <a:tcPr marL="88900" marR="63500" marT="25400" marB="254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Reprodução</a:t>
                      </a:r>
                    </a:p>
                  </a:txBody>
                  <a:tcPr marL="88900" marR="63500" marT="25400" marB="254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162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BLEU Transformer (8 cabeças)</a:t>
                      </a: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27,3</a:t>
                      </a: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38,2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2882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BLEU LSTM + atenção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24,6 (GNMT+RL)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35,8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32334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Tempo de </a:t>
                      </a:r>
                      <a:r>
                        <a:rPr lang="es-ES" sz="1300" b="0" dirty="0" err="1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treino</a:t>
                      </a:r>
                      <a:endParaRPr lang="es-ES" sz="1300" b="0" dirty="0">
                        <a:solidFill>
                          <a:srgbClr val="1F2937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12 h no total · 8 GPUs</a:t>
                      </a:r>
                      <a:endParaRPr lang="es-ES" sz="1300" b="0">
                        <a:solidFill>
                          <a:srgbClr val="1F2937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21,9 s</a:t>
                      </a:r>
                      <a:r>
                        <a:rPr lang="es-ES" sz="13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 vs. 58,0 s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758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Parâmetros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65 M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7,6 M</a:t>
                      </a:r>
                      <a:r>
                        <a:rPr lang="es-ES" sz="13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 vs. 27,1 M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412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1 cabeça vs. 8 cabeças</a:t>
                      </a:r>
                      <a:endParaRPr lang="es-ES" sz="1300" b="0">
                        <a:solidFill>
                          <a:srgbClr val="1F2937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−0,9 BLEU</a:t>
                      </a:r>
                    </a:p>
                  </a:txBody>
                  <a:tcPr marL="88900" marR="63500" marT="25400" marB="254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−1,5 BLEU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241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s-ES" sz="1300" b="0" dirty="0" err="1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Sem</a:t>
                      </a:r>
                      <a:r>
                        <a:rPr lang="es-ES" sz="1300" b="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300" b="0" dirty="0" err="1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positional</a:t>
                      </a:r>
                      <a:r>
                        <a:rPr lang="es-ES" sz="1300" b="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ES" sz="1300" b="0" dirty="0" err="1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encoding</a:t>
                      </a:r>
                      <a:endParaRPr lang="es-ES" sz="1300" b="0" dirty="0">
                        <a:solidFill>
                          <a:srgbClr val="1F2937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</a:rPr>
                        <a:t>não testado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300" b="1" dirty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−7,5 BLEU</a:t>
                      </a:r>
                    </a:p>
                  </a:txBody>
                  <a:tcPr marL="88900" marR="63500" marT="25400" marB="25400" anchor="ctr">
                    <a:solidFill>
                      <a:srgbClr val="DD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73325"/>
                  </a:ext>
                </a:extLst>
              </a:tr>
            </a:tbl>
          </a:graphicData>
        </a:graphic>
      </p:graphicFrame>
      <p:pic>
        <p:nvPicPr>
          <p:cNvPr id="16" name="Grafico_BLEU">
            <a:extLst>
              <a:ext uri="{FF2B5EF4-FFF2-40B4-BE49-F238E27FC236}">
                <a16:creationId xmlns:a16="http://schemas.microsoft.com/office/drawing/2014/main" id="{1AB23AF1-8DCD-4C99-A86C-2A11BB0D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1422400"/>
            <a:ext cx="4902200" cy="2818765"/>
          </a:xfrm>
          <a:prstGeom prst="rect">
            <a:avLst/>
          </a:prstGeom>
        </p:spPr>
      </p:pic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D226E2E-161C-4E88-8A4C-30299EF5A8A5}"/>
              </a:ext>
            </a:extLst>
          </p:cNvPr>
          <p:cNvSpPr/>
          <p:nvPr/>
        </p:nvSpPr>
        <p:spPr>
          <a:xfrm>
            <a:off x="508000" y="4978400"/>
            <a:ext cx="11176000" cy="635000"/>
          </a:xfrm>
          <a:prstGeom prst="roundRect">
            <a:avLst>
              <a:gd name="adj" fmla="val 12000"/>
            </a:avLst>
          </a:prstGeom>
          <a:solidFill>
            <a:srgbClr val="DDF0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5E2A47-275A-415B-99B5-A357F926A88B}"/>
              </a:ext>
            </a:extLst>
          </p:cNvPr>
          <p:cNvSpPr txBox="1"/>
          <p:nvPr/>
        </p:nvSpPr>
        <p:spPr>
          <a:xfrm>
            <a:off x="711200" y="50546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pt-BR" sz="1500" b="1" dirty="0">
                <a:solidFill>
                  <a:srgbClr val="0E7C86"/>
                </a:solidFill>
                <a:latin typeface="Calibri" panose="020F0502020204030204" pitchFamily="34" charset="0"/>
              </a:rPr>
              <a:t>Tendências reproduzidas:</a:t>
            </a:r>
            <a:r>
              <a:rPr lang="pt-BR" sz="1500" dirty="0">
                <a:solidFill>
                  <a:srgbClr val="1F2937"/>
                </a:solidFill>
                <a:latin typeface="Calibri" panose="020F0502020204030204" pitchFamily="34" charset="0"/>
              </a:rPr>
              <a:t> Nesta execução, o Transformer obteve maior BLEU, com menor tempo por época e menos parâmetros que o LSTM avaliado; múltiplas cabeças e o </a:t>
            </a:r>
            <a:r>
              <a:rPr lang="pt-BR" sz="1500" dirty="0" err="1">
                <a:solidFill>
                  <a:srgbClr val="1F2937"/>
                </a:solidFill>
                <a:latin typeface="Calibri" panose="020F0502020204030204" pitchFamily="34" charset="0"/>
              </a:rPr>
              <a:t>positional</a:t>
            </a:r>
            <a:r>
              <a:rPr lang="pt-BR" sz="15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pt-BR" sz="1500" dirty="0" err="1">
                <a:solidFill>
                  <a:srgbClr val="1F2937"/>
                </a:solidFill>
                <a:latin typeface="Calibri" panose="020F0502020204030204" pitchFamily="34" charset="0"/>
              </a:rPr>
              <a:t>encoding</a:t>
            </a:r>
            <a:r>
              <a:rPr lang="pt-BR" sz="1500" dirty="0">
                <a:solidFill>
                  <a:srgbClr val="1F2937"/>
                </a:solidFill>
                <a:latin typeface="Calibri" panose="020F0502020204030204" pitchFamily="34" charset="0"/>
              </a:rPr>
              <a:t> ajudaram.</a:t>
            </a:r>
            <a:endParaRPr lang="es-ES" sz="1500" dirty="0">
              <a:solidFill>
                <a:srgbClr val="1F2937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EFC7C5-250D-41D6-AAD0-A39A110917AC}"/>
              </a:ext>
            </a:extLst>
          </p:cNvPr>
          <p:cNvSpPr txBox="1"/>
          <p:nvPr/>
        </p:nvSpPr>
        <p:spPr>
          <a:xfrm>
            <a:off x="508000" y="5740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dirty="0">
                <a:solidFill>
                  <a:srgbClr val="5B6475"/>
                </a:solidFill>
                <a:latin typeface="Calibri" panose="020F0502020204030204" pitchFamily="34" charset="0"/>
              </a:rPr>
              <a:t>Multi30k ≠ WMT14: os valores absolutos de BLEU não são comparáveis com os do artigo. Uma única execução (</a:t>
            </a:r>
            <a:r>
              <a:rPr lang="pt-BR" sz="1300" dirty="0" err="1">
                <a:solidFill>
                  <a:srgbClr val="5B6475"/>
                </a:solidFill>
                <a:latin typeface="Calibri" panose="020F0502020204030204" pitchFamily="34" charset="0"/>
              </a:rPr>
              <a:t>seed</a:t>
            </a:r>
            <a:r>
              <a:rPr lang="pt-BR" sz="1300" dirty="0">
                <a:solidFill>
                  <a:srgbClr val="5B6475"/>
                </a:solidFill>
                <a:latin typeface="Calibri" panose="020F0502020204030204" pitchFamily="34" charset="0"/>
              </a:rPr>
              <a:t> 42), decodificação </a:t>
            </a:r>
            <a:r>
              <a:rPr lang="pt-BR" sz="1300" dirty="0" err="1">
                <a:solidFill>
                  <a:srgbClr val="5B6475"/>
                </a:solidFill>
                <a:latin typeface="Calibri" panose="020F0502020204030204" pitchFamily="34" charset="0"/>
              </a:rPr>
              <a:t>greedy</a:t>
            </a:r>
            <a:r>
              <a:rPr lang="pt-BR" sz="1300" dirty="0">
                <a:solidFill>
                  <a:srgbClr val="5B6475"/>
                </a:solidFill>
                <a:latin typeface="Calibri" panose="020F0502020204030204" pitchFamily="34" charset="0"/>
              </a:rPr>
              <a:t>, modelo pequeno (N = 3, </a:t>
            </a:r>
            <a:r>
              <a:rPr lang="pt-BR" sz="1300" dirty="0" err="1">
                <a:solidFill>
                  <a:srgbClr val="5B6475"/>
                </a:solidFill>
                <a:latin typeface="Calibri" panose="020F0502020204030204" pitchFamily="34" charset="0"/>
              </a:rPr>
              <a:t>d_model</a:t>
            </a:r>
            <a:r>
              <a:rPr lang="pt-BR" sz="1300" dirty="0">
                <a:solidFill>
                  <a:srgbClr val="5B6475"/>
                </a:solidFill>
                <a:latin typeface="Calibri" panose="020F0502020204030204" pitchFamily="34" charset="0"/>
              </a:rPr>
              <a:t> = 256).</a:t>
            </a:r>
            <a:endParaRPr lang="es-ES" sz="1300" dirty="0">
              <a:solidFill>
                <a:srgbClr val="5B6475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51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CC3F5A-AC00-4E47-816D-CE9DE5AEA9C8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 dirty="0">
                <a:solidFill>
                  <a:srgbClr val="0E7C86"/>
                </a:solidFill>
                <a:latin typeface="Calibri" panose="020F0502020204030204" pitchFamily="34" charset="0"/>
              </a:rPr>
              <a:t>RESULTADOS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69B03F-0F9A-4CCA-B10B-CBA97E614C46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Por que o Transformer vence: velocidade e aprendizado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557970-8CA6-4455-BB9C-82987190FCAB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Mesmos dados e mesma GPU: o Transformer treina mais rápido e continua aprendendo por mais tempo.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15" name="Grafico_curvas">
            <a:extLst>
              <a:ext uri="{FF2B5EF4-FFF2-40B4-BE49-F238E27FC236}">
                <a16:creationId xmlns:a16="http://schemas.microsoft.com/office/drawing/2014/main" id="{02E80840-DFA3-4AC2-8F1D-56697FD5A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7000"/>
            <a:ext cx="6604000" cy="3522134"/>
          </a:xfrm>
          <a:prstGeom prst="rect">
            <a:avLst/>
          </a:prstGeom>
        </p:spPr>
      </p:pic>
      <p:pic>
        <p:nvPicPr>
          <p:cNvPr id="17" name="Grafico_velocidade">
            <a:extLst>
              <a:ext uri="{FF2B5EF4-FFF2-40B4-BE49-F238E27FC236}">
                <a16:creationId xmlns:a16="http://schemas.microsoft.com/office/drawing/2014/main" id="{F5404AA7-7C8F-4F42-A7DA-5E951833E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400" y="1397000"/>
            <a:ext cx="4470400" cy="1676400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0AFD0EBA-F925-46CB-8964-C8D49994C194}"/>
              </a:ext>
            </a:extLst>
          </p:cNvPr>
          <p:cNvSpPr/>
          <p:nvPr/>
        </p:nvSpPr>
        <p:spPr>
          <a:xfrm>
            <a:off x="7264400" y="3352800"/>
            <a:ext cx="101600" cy="1016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BFBCEF7-AAB7-494F-84BE-62CB1A421EF2}"/>
              </a:ext>
            </a:extLst>
          </p:cNvPr>
          <p:cNvSpPr txBox="1"/>
          <p:nvPr/>
        </p:nvSpPr>
        <p:spPr>
          <a:xfrm>
            <a:off x="7467600" y="32766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 dirty="0">
                <a:solidFill>
                  <a:srgbClr val="0E7C86"/>
                </a:solidFill>
                <a:latin typeface="Calibri" panose="020F0502020204030204" pitchFamily="34" charset="0"/>
              </a:rPr>
              <a:t>2,6× mais rápido por época:</a:t>
            </a:r>
            <a:r>
              <a:rPr lang="pt-BR" sz="1400" dirty="0">
                <a:solidFill>
                  <a:srgbClr val="1F2937"/>
                </a:solidFill>
                <a:latin typeface="Calibri" panose="020F0502020204030204" pitchFamily="34" charset="0"/>
              </a:rPr>
              <a:t> contribuem o paralelismo das posições e o modelo menor; o LSTM avança palavra por palavra.</a:t>
            </a:r>
            <a:endParaRPr lang="es-ES" sz="1400" dirty="0">
              <a:solidFill>
                <a:srgbClr val="1F2937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4581E11-51DF-4259-9297-C958663D12E7}"/>
              </a:ext>
            </a:extLst>
          </p:cNvPr>
          <p:cNvSpPr/>
          <p:nvPr/>
        </p:nvSpPr>
        <p:spPr>
          <a:xfrm>
            <a:off x="7264400" y="4089400"/>
            <a:ext cx="101600" cy="101600"/>
          </a:xfrm>
          <a:prstGeom prst="ellipse">
            <a:avLst/>
          </a:prstGeom>
          <a:solidFill>
            <a:srgbClr val="C260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B65AE2E-7347-4DE7-A597-35973C11636B}"/>
              </a:ext>
            </a:extLst>
          </p:cNvPr>
          <p:cNvSpPr txBox="1"/>
          <p:nvPr/>
        </p:nvSpPr>
        <p:spPr>
          <a:xfrm>
            <a:off x="7467600" y="4013200"/>
            <a:ext cx="426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b="1" dirty="0">
                <a:solidFill>
                  <a:srgbClr val="C2600C"/>
                </a:solidFill>
                <a:latin typeface="Calibri" panose="020F0502020204030204" pitchFamily="34" charset="0"/>
              </a:rPr>
              <a:t>LSTM estabiliza na época 8</a:t>
            </a:r>
            <a:r>
              <a:rPr lang="pt-BR" sz="1400" dirty="0">
                <a:solidFill>
                  <a:srgbClr val="1F2937"/>
                </a:solidFill>
                <a:latin typeface="Calibri" panose="020F0502020204030204" pitchFamily="34" charset="0"/>
              </a:rPr>
              <a:t> (perplexidade 7,7); o Transformer cruza na época 5 e chega a 5,8.</a:t>
            </a:r>
            <a:endParaRPr lang="es-ES" sz="1400" dirty="0">
              <a:solidFill>
                <a:srgbClr val="1F2937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4D14AA-5295-4C0F-82C8-9A87444D1797}"/>
              </a:ext>
            </a:extLst>
          </p:cNvPr>
          <p:cNvSpPr/>
          <p:nvPr/>
        </p:nvSpPr>
        <p:spPr>
          <a:xfrm>
            <a:off x="508000" y="4978400"/>
            <a:ext cx="11176000" cy="1219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59A9DAD-0E00-44A7-AC57-2A45EA4DBCFB}"/>
              </a:ext>
            </a:extLst>
          </p:cNvPr>
          <p:cNvSpPr txBox="1"/>
          <p:nvPr/>
        </p:nvSpPr>
        <p:spPr>
          <a:xfrm>
            <a:off x="711200" y="50800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dirty="0" err="1">
                <a:solidFill>
                  <a:srgbClr val="1F2937"/>
                </a:solidFill>
                <a:latin typeface="Calibri" panose="020F0502020204030204" pitchFamily="34" charset="0"/>
              </a:rPr>
              <a:t>Exemplo</a:t>
            </a:r>
            <a:r>
              <a:rPr lang="en-US" sz="1400" b="1" dirty="0">
                <a:solidFill>
                  <a:srgbClr val="1F2937"/>
                </a:solidFill>
                <a:latin typeface="Calibri" panose="020F0502020204030204" pitchFamily="34" charset="0"/>
              </a:rPr>
              <a:t> do teste: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“Leute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reparieren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das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Dach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eines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Hauses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.” → Transformer: </a:t>
            </a:r>
            <a:r>
              <a:rPr lang="en-US" sz="1400" dirty="0">
                <a:solidFill>
                  <a:srgbClr val="0E7C86"/>
                </a:solidFill>
                <a:latin typeface="Calibri" panose="020F0502020204030204" pitchFamily="34" charset="0"/>
              </a:rPr>
              <a:t>“people are fixing the roof of a house.”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(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igual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à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referência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) · LSTM: “people repairing the roof of a house.”</a:t>
            </a:r>
            <a:endParaRPr lang="es-ES" sz="1400" dirty="0">
              <a:solidFill>
                <a:srgbClr val="1F2937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451568-B7D7-4815-BABC-6A48EC088501}"/>
              </a:ext>
            </a:extLst>
          </p:cNvPr>
          <p:cNvSpPr txBox="1"/>
          <p:nvPr/>
        </p:nvSpPr>
        <p:spPr>
          <a:xfrm>
            <a:off x="711200" y="56388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 dirty="0" err="1">
                <a:solidFill>
                  <a:srgbClr val="1F2937"/>
                </a:solidFill>
                <a:latin typeface="Calibri" panose="020F0502020204030204" pitchFamily="34" charset="0"/>
              </a:rPr>
              <a:t>Limite</a:t>
            </a:r>
            <a:r>
              <a:rPr lang="en-US" sz="1400" b="1" dirty="0">
                <a:solidFill>
                  <a:srgbClr val="1F2937"/>
                </a:solidFill>
                <a:latin typeface="Calibri" panose="020F0502020204030204" pitchFamily="34" charset="0"/>
              </a:rPr>
              <a:t>: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“Der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Affe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isst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die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Banane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weil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er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hungrig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ist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.” → </a:t>
            </a:r>
            <a:r>
              <a:rPr lang="en-US" sz="1400" dirty="0">
                <a:solidFill>
                  <a:srgbClr val="C2600C"/>
                </a:solidFill>
                <a:latin typeface="Calibri" panose="020F0502020204030204" pitchFamily="34" charset="0"/>
              </a:rPr>
              <a:t>“the monkey is eating the bananas who is also is </a:t>
            </a:r>
            <a:r>
              <a:rPr lang="en-US" sz="1400" dirty="0" err="1">
                <a:solidFill>
                  <a:srgbClr val="C2600C"/>
                </a:solidFill>
                <a:latin typeface="Calibri" panose="020F0502020204030204" pitchFamily="34" charset="0"/>
              </a:rPr>
              <a:t>weigased</a:t>
            </a:r>
            <a:r>
              <a:rPr lang="en-US" sz="1400" dirty="0">
                <a:solidFill>
                  <a:srgbClr val="C2600C"/>
                </a:solidFill>
                <a:latin typeface="Calibri" panose="020F0502020204030204" pitchFamily="34" charset="0"/>
              </a:rPr>
              <a:t>.”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Acerta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quem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come o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quê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, mas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erra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 </a:t>
            </a:r>
            <a:r>
              <a:rPr lang="pt-BR" sz="1400" dirty="0">
                <a:solidFill>
                  <a:srgbClr val="1F2937"/>
                </a:solidFill>
                <a:latin typeface="Calibri" panose="020F0502020204030204" pitchFamily="34" charset="0"/>
              </a:rPr>
              <a:t>o final da frase.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no Multi30k (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Affe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</a:rPr>
              <a:t>hungrig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</a:rPr>
              <a:t>).</a:t>
            </a:r>
            <a:endParaRPr lang="es-ES" sz="1400" dirty="0">
              <a:solidFill>
                <a:srgbClr val="1F2937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77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A5BEBF-C720-4AFB-BC3F-FF004C974744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ANÁLISE CRÍTICA DO TRABALHO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64FFF3-9EC0-4925-A6AF-4D890ABAB1B6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B2A41"/>
                </a:solidFill>
                <a:latin typeface="Cambria" panose="02040503050406030204" pitchFamily="18" charset="0"/>
              </a:rPr>
              <a:t>Pontos fortes, limitações e melhorias</a:t>
            </a:r>
            <a:endParaRPr lang="es-ES" sz="3000" b="1">
              <a:solidFill>
                <a:srgbClr val="1B2A41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5FFB-2F11-4D9F-BE17-B5F5AA470FE3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A atenção total explica tanto a força quanto o principal limite.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D94C2F-3DFA-4DB3-8CE3-A282D308022E}"/>
              </a:ext>
            </a:extLst>
          </p:cNvPr>
          <p:cNvSpPr txBox="1"/>
          <p:nvPr/>
        </p:nvSpPr>
        <p:spPr>
          <a:xfrm>
            <a:off x="508000" y="142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0E7C86"/>
                </a:solidFill>
                <a:latin typeface="Calibri" panose="020F0502020204030204" pitchFamily="34" charset="0"/>
              </a:rPr>
              <a:t>Pontos fortes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B771B11-22C5-4180-A82A-A47D9F4A67A8}"/>
              </a:ext>
            </a:extLst>
          </p:cNvPr>
          <p:cNvSpPr/>
          <p:nvPr/>
        </p:nvSpPr>
        <p:spPr>
          <a:xfrm>
            <a:off x="558800" y="18542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D07CEC-4710-46CD-8501-DDC68114BA1E}"/>
              </a:ext>
            </a:extLst>
          </p:cNvPr>
          <p:cNvSpPr txBox="1"/>
          <p:nvPr/>
        </p:nvSpPr>
        <p:spPr>
          <a:xfrm>
            <a:off x="787400" y="1778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Processamento paralelo das posições durante o treino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CA8D1EB-9AEC-4311-9DE2-14367E61703C}"/>
              </a:ext>
            </a:extLst>
          </p:cNvPr>
          <p:cNvSpPr/>
          <p:nvPr/>
        </p:nvSpPr>
        <p:spPr>
          <a:xfrm>
            <a:off x="558800" y="22352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3F514C-69AC-4AFB-B247-670ABAA86ADE}"/>
              </a:ext>
            </a:extLst>
          </p:cNvPr>
          <p:cNvSpPr txBox="1"/>
          <p:nvPr/>
        </p:nvSpPr>
        <p:spPr>
          <a:xfrm>
            <a:off x="787400" y="2159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No </a:t>
            </a:r>
            <a:r>
              <a:rPr lang="pt-BR" sz="1500" dirty="0" err="1">
                <a:solidFill>
                  <a:srgbClr val="1B2A41"/>
                </a:solidFill>
                <a:latin typeface="Calibri" panose="020F0502020204030204" pitchFamily="34" charset="0"/>
              </a:rPr>
              <a:t>encoder</a:t>
            </a:r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, cada token pode consultar todos os tokens válidos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BB1968BC-40C6-43C6-88AF-25D15E66DF28}"/>
              </a:ext>
            </a:extLst>
          </p:cNvPr>
          <p:cNvSpPr/>
          <p:nvPr/>
        </p:nvSpPr>
        <p:spPr>
          <a:xfrm>
            <a:off x="558800" y="26162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ADD4323-3DC4-4E19-B3C8-B3896E9E9A45}"/>
              </a:ext>
            </a:extLst>
          </p:cNvPr>
          <p:cNvSpPr txBox="1"/>
          <p:nvPr/>
        </p:nvSpPr>
        <p:spPr>
          <a:xfrm>
            <a:off x="787400" y="2540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Bloco genérico: base de BERT, GPT, T5 e ViT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62542D4-7726-44EB-AF8E-540DA3C65BF1}"/>
              </a:ext>
            </a:extLst>
          </p:cNvPr>
          <p:cNvSpPr txBox="1"/>
          <p:nvPr/>
        </p:nvSpPr>
        <p:spPr>
          <a:xfrm>
            <a:off x="508000" y="3048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Limitações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1BB0E71-6E60-4C81-8BB6-5C7BE23E8AFB}"/>
              </a:ext>
            </a:extLst>
          </p:cNvPr>
          <p:cNvSpPr/>
          <p:nvPr/>
        </p:nvSpPr>
        <p:spPr>
          <a:xfrm>
            <a:off x="558800" y="3479800"/>
            <a:ext cx="114300" cy="114300"/>
          </a:xfrm>
          <a:prstGeom prst="ellipse">
            <a:avLst/>
          </a:prstGeom>
          <a:solidFill>
            <a:srgbClr val="1B2A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7CBD414-C6E6-4395-BB2D-311DE2FE46B1}"/>
              </a:ext>
            </a:extLst>
          </p:cNvPr>
          <p:cNvSpPr txBox="1"/>
          <p:nvPr/>
        </p:nvSpPr>
        <p:spPr>
          <a:xfrm>
            <a:off x="787400" y="3403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Custo O(n</a:t>
            </a:r>
            <a:r>
              <a:rPr lang="pt-BR" sz="1500" baseline="30000">
                <a:solidFill>
                  <a:srgbClr val="1B2A41"/>
                </a:solidFill>
                <a:latin typeface="Calibri" panose="020F0502020204030204" pitchFamily="34" charset="0"/>
              </a:rPr>
              <a:t>2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·d): cresce com o quadrado do comprimento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F66CB98-3209-4B7E-96B6-4BB38F7D3B56}"/>
              </a:ext>
            </a:extLst>
          </p:cNvPr>
          <p:cNvSpPr/>
          <p:nvPr/>
        </p:nvSpPr>
        <p:spPr>
          <a:xfrm>
            <a:off x="558800" y="3860800"/>
            <a:ext cx="114300" cy="114300"/>
          </a:xfrm>
          <a:prstGeom prst="ellipse">
            <a:avLst/>
          </a:prstGeom>
          <a:solidFill>
            <a:srgbClr val="1B2A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521CD9-6152-4EF2-B8EB-922EE78C2FF2}"/>
              </a:ext>
            </a:extLst>
          </p:cNvPr>
          <p:cNvSpPr txBox="1"/>
          <p:nvPr/>
        </p:nvSpPr>
        <p:spPr>
          <a:xfrm>
            <a:off x="787400" y="3784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dirty="0">
                <a:solidFill>
                  <a:srgbClr val="1B2A41"/>
                </a:solidFill>
                <a:latin typeface="Calibri" panose="020F0502020204030204" pitchFamily="34" charset="0"/>
              </a:rPr>
              <a:t>A avaliação da tradução enfatiza BLEU e não inclui avaliação humana</a:t>
            </a:r>
            <a:endParaRPr lang="es-ES" sz="1500" dirty="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B6C23CC1-BE5F-42CB-A323-84F62301C4E4}"/>
              </a:ext>
            </a:extLst>
          </p:cNvPr>
          <p:cNvSpPr/>
          <p:nvPr/>
        </p:nvSpPr>
        <p:spPr>
          <a:xfrm>
            <a:off x="558800" y="4432816"/>
            <a:ext cx="114300" cy="114300"/>
          </a:xfrm>
          <a:prstGeom prst="ellipse">
            <a:avLst/>
          </a:prstGeom>
          <a:solidFill>
            <a:srgbClr val="1B2A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0A44026-DD5A-4003-9B2E-B50C2F93E933}"/>
              </a:ext>
            </a:extLst>
          </p:cNvPr>
          <p:cNvSpPr txBox="1"/>
          <p:nvPr/>
        </p:nvSpPr>
        <p:spPr>
          <a:xfrm>
            <a:off x="787400" y="4369832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Geração ainda token a token; o cache de K/V cresce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3248BF5-6B52-4DDF-84EB-8014A5B298AB}"/>
              </a:ext>
            </a:extLst>
          </p:cNvPr>
          <p:cNvSpPr txBox="1"/>
          <p:nvPr/>
        </p:nvSpPr>
        <p:spPr>
          <a:xfrm>
            <a:off x="508000" y="4826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Aplicações práticas: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tradução, LLMs (GPT), busca (BERT), visão (ViT), fala (Whisper).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pic>
        <p:nvPicPr>
          <p:cNvPr id="21" name="FIG_c57">
            <a:extLst>
              <a:ext uri="{FF2B5EF4-FFF2-40B4-BE49-F238E27FC236}">
                <a16:creationId xmlns:a16="http://schemas.microsoft.com/office/drawing/2014/main" id="{7DB380EC-49FF-4B96-83F6-6C0DA83D8A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422400"/>
            <a:ext cx="5461000" cy="1750855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4614E4C8-5268-4863-96E0-FF090905E9A1}"/>
              </a:ext>
            </a:extLst>
          </p:cNvPr>
          <p:cNvSpPr txBox="1"/>
          <p:nvPr/>
        </p:nvSpPr>
        <p:spPr>
          <a:xfrm>
            <a:off x="6223000" y="32512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 dirty="0">
                <a:solidFill>
                  <a:srgbClr val="5A6270"/>
                </a:solidFill>
                <a:latin typeface="Calibri" panose="020F0502020204030204" pitchFamily="34" charset="0"/>
              </a:rPr>
              <a:t>Melhoria: compartilhar K/V entre cabeças (</a:t>
            </a:r>
            <a:r>
              <a:rPr lang="pt-BR" sz="1400" dirty="0" err="1">
                <a:solidFill>
                  <a:srgbClr val="5A6270"/>
                </a:solidFill>
                <a:latin typeface="Calibri" panose="020F0502020204030204" pitchFamily="34" charset="0"/>
              </a:rPr>
              <a:t>multi-query</a:t>
            </a:r>
            <a:r>
              <a:rPr lang="pt-BR" sz="1400" dirty="0">
                <a:solidFill>
                  <a:srgbClr val="5A6270"/>
                </a:solidFill>
                <a:latin typeface="Calibri" panose="020F0502020204030204" pitchFamily="34" charset="0"/>
              </a:rPr>
              <a:t> / </a:t>
            </a:r>
            <a:r>
              <a:rPr lang="pt-BR" sz="1400" dirty="0" err="1">
                <a:solidFill>
                  <a:srgbClr val="5A6270"/>
                </a:solidFill>
                <a:latin typeface="Calibri" panose="020F0502020204030204" pitchFamily="34" charset="0"/>
              </a:rPr>
              <a:t>grouped</a:t>
            </a:r>
            <a:r>
              <a:rPr lang="pt-BR" sz="1400" dirty="0">
                <a:solidFill>
                  <a:srgbClr val="5A6270"/>
                </a:solidFill>
                <a:latin typeface="Calibri" panose="020F0502020204030204" pitchFamily="34" charset="0"/>
              </a:rPr>
              <a:t>-query) reduz a memória na inferência.</a:t>
            </a:r>
            <a:endParaRPr lang="es-ES" sz="1400" dirty="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F8A4CD5-EE58-42B6-B8F3-7AD6C04FD276}"/>
              </a:ext>
            </a:extLst>
          </p:cNvPr>
          <p:cNvSpPr txBox="1"/>
          <p:nvPr/>
        </p:nvSpPr>
        <p:spPr>
          <a:xfrm>
            <a:off x="6223000" y="38608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 b="1">
                <a:solidFill>
                  <a:srgbClr val="0E7C86"/>
                </a:solidFill>
                <a:latin typeface="Calibri" panose="020F0502020204030204" pitchFamily="34" charset="0"/>
              </a:rPr>
              <a:t>Outras melhorias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07B03CD-E73D-423B-81BF-021798DDA515}"/>
              </a:ext>
            </a:extLst>
          </p:cNvPr>
          <p:cNvSpPr/>
          <p:nvPr/>
        </p:nvSpPr>
        <p:spPr>
          <a:xfrm>
            <a:off x="6273800" y="42926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1CA6486-65FB-47B7-B886-856F2AA29AAB}"/>
              </a:ext>
            </a:extLst>
          </p:cNvPr>
          <p:cNvSpPr txBox="1"/>
          <p:nvPr/>
        </p:nvSpPr>
        <p:spPr>
          <a:xfrm>
            <a:off x="6502400" y="42164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Atenção eficiente para textos longos (esparsa, FlashAttention)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936FAF10-3CF8-4C01-A7DF-8D3E9CFD9FEA}"/>
              </a:ext>
            </a:extLst>
          </p:cNvPr>
          <p:cNvSpPr/>
          <p:nvPr/>
        </p:nvSpPr>
        <p:spPr>
          <a:xfrm>
            <a:off x="6273800" y="46736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74C0EC8-7010-410B-93C7-2DC1DD406484}"/>
              </a:ext>
            </a:extLst>
          </p:cNvPr>
          <p:cNvSpPr txBox="1"/>
          <p:nvPr/>
        </p:nvSpPr>
        <p:spPr>
          <a:xfrm>
            <a:off x="6502400" y="45974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Posição relativa ou rotacional (RoPE)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8C6D411B-D1A3-4272-81F8-877EA35645DD}"/>
              </a:ext>
            </a:extLst>
          </p:cNvPr>
          <p:cNvSpPr/>
          <p:nvPr/>
        </p:nvSpPr>
        <p:spPr>
          <a:xfrm>
            <a:off x="6273800" y="50546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DE1D047-4078-49C0-831D-720415B77B0D}"/>
              </a:ext>
            </a:extLst>
          </p:cNvPr>
          <p:cNvSpPr txBox="1"/>
          <p:nvPr/>
        </p:nvSpPr>
        <p:spPr>
          <a:xfrm>
            <a:off x="6502400" y="4978400"/>
            <a:ext cx="520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Pre-LN para treinar modelos profundos com estabilidade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01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927A61-FE43-45BD-BF2F-515DF7CB7A6F}"/>
              </a:ext>
            </a:extLst>
          </p:cNvPr>
          <p:cNvSpPr txBox="1"/>
          <p:nvPr/>
        </p:nvSpPr>
        <p:spPr>
          <a:xfrm>
            <a:off x="508000" y="25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CONCLUSÃO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BB8CEE-598B-4228-BD6F-95D2FCB38E5C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>
                <a:solidFill>
                  <a:srgbClr val="1B2A41"/>
                </a:solidFill>
                <a:latin typeface="Cambria" panose="02040503050406030204" pitchFamily="18" charset="0"/>
              </a:rPr>
              <a:t>O percurso completo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754113-B5CA-458E-8CEF-5E62B2DB095F}"/>
              </a:ext>
            </a:extLst>
          </p:cNvPr>
          <p:cNvSpPr txBox="1"/>
          <p:nvPr/>
        </p:nvSpPr>
        <p:spPr>
          <a:xfrm>
            <a:off x="508000" y="990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5A6270"/>
                </a:solidFill>
                <a:latin typeface="Calibri" panose="020F0502020204030204" pitchFamily="34" charset="0"/>
              </a:rPr>
              <a:t>Do texto à tradução, e três perguntas para checar o entendimento.</a:t>
            </a:r>
            <a:endParaRPr lang="es-ES" sz="15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FIG_c26a">
            <a:extLst>
              <a:ext uri="{FF2B5EF4-FFF2-40B4-BE49-F238E27FC236}">
                <a16:creationId xmlns:a16="http://schemas.microsoft.com/office/drawing/2014/main" id="{2A6CC191-DAD3-4DBA-9412-3DFF8E11B7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371600"/>
            <a:ext cx="3519237" cy="49530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EE531EBC-3264-4279-A79D-E15C1476989F}"/>
              </a:ext>
            </a:extLst>
          </p:cNvPr>
          <p:cNvSpPr/>
          <p:nvPr/>
        </p:nvSpPr>
        <p:spPr>
          <a:xfrm>
            <a:off x="768684" y="5458995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A446D7E-D3CF-44F9-AE81-AE62BA099E01}"/>
              </a:ext>
            </a:extLst>
          </p:cNvPr>
          <p:cNvSpPr/>
          <p:nvPr/>
        </p:nvSpPr>
        <p:spPr>
          <a:xfrm>
            <a:off x="768684" y="4385845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8710A25-114C-4379-83DF-9D830E300944}"/>
              </a:ext>
            </a:extLst>
          </p:cNvPr>
          <p:cNvSpPr/>
          <p:nvPr/>
        </p:nvSpPr>
        <p:spPr>
          <a:xfrm>
            <a:off x="3766553" y="2478505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86F283D-BF9C-495F-928C-589FA998490A}"/>
              </a:ext>
            </a:extLst>
          </p:cNvPr>
          <p:cNvSpPr/>
          <p:nvPr/>
        </p:nvSpPr>
        <p:spPr>
          <a:xfrm>
            <a:off x="768684" y="3569034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75EB3F09-0D2C-445A-8F29-7BDDD70BC7C9}"/>
              </a:ext>
            </a:extLst>
          </p:cNvPr>
          <p:cNvSpPr/>
          <p:nvPr/>
        </p:nvSpPr>
        <p:spPr>
          <a:xfrm>
            <a:off x="3766553" y="4320674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916C348-4519-4A69-9180-CC5DF736BCE4}"/>
              </a:ext>
            </a:extLst>
          </p:cNvPr>
          <p:cNvSpPr/>
          <p:nvPr/>
        </p:nvSpPr>
        <p:spPr>
          <a:xfrm>
            <a:off x="3766553" y="3264903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294F9C-E152-444E-94D0-707ED08609B4}"/>
              </a:ext>
            </a:extLst>
          </p:cNvPr>
          <p:cNvSpPr/>
          <p:nvPr/>
        </p:nvSpPr>
        <p:spPr>
          <a:xfrm>
            <a:off x="3766553" y="1918034"/>
            <a:ext cx="254000" cy="2540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2DEB8B7-7585-41A7-B6E3-D0842146527B}"/>
              </a:ext>
            </a:extLst>
          </p:cNvPr>
          <p:cNvSpPr/>
          <p:nvPr/>
        </p:nvSpPr>
        <p:spPr>
          <a:xfrm>
            <a:off x="4191000" y="15240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3566A12-63B1-470B-8E2A-4334C052CF75}"/>
              </a:ext>
            </a:extLst>
          </p:cNvPr>
          <p:cNvSpPr txBox="1"/>
          <p:nvPr/>
        </p:nvSpPr>
        <p:spPr>
          <a:xfrm>
            <a:off x="4419600" y="1447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(1) Tokens → embeddings + posição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42703F4-D2DE-4A36-8982-3B59914B640D}"/>
              </a:ext>
            </a:extLst>
          </p:cNvPr>
          <p:cNvSpPr/>
          <p:nvPr/>
        </p:nvSpPr>
        <p:spPr>
          <a:xfrm>
            <a:off x="4191000" y="18796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F1916-8500-4E8A-B78A-AD10EA0AA89F}"/>
              </a:ext>
            </a:extLst>
          </p:cNvPr>
          <p:cNvSpPr txBox="1"/>
          <p:nvPr/>
        </p:nvSpPr>
        <p:spPr>
          <a:xfrm>
            <a:off x="4419600" y="1803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(2) Self-attention: cada token consulta os demais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93717F2-B8DC-4571-A40C-995050B535EA}"/>
              </a:ext>
            </a:extLst>
          </p:cNvPr>
          <p:cNvSpPr/>
          <p:nvPr/>
        </p:nvSpPr>
        <p:spPr>
          <a:xfrm>
            <a:off x="4191000" y="22352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BDD3278-2FAA-4707-A048-91CDBAEF3874}"/>
              </a:ext>
            </a:extLst>
          </p:cNvPr>
          <p:cNvSpPr txBox="1"/>
          <p:nvPr/>
        </p:nvSpPr>
        <p:spPr>
          <a:xfrm>
            <a:off x="4419600" y="2159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(3–4) Add &amp; Norm + FFN, × 6 → vetores contextualizados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8FDB388-08E6-4A9F-B45A-AB886CF94B21}"/>
              </a:ext>
            </a:extLst>
          </p:cNvPr>
          <p:cNvSpPr/>
          <p:nvPr/>
        </p:nvSpPr>
        <p:spPr>
          <a:xfrm>
            <a:off x="4191000" y="25908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DCF760D-D398-4AA2-8250-1352B846F822}"/>
              </a:ext>
            </a:extLst>
          </p:cNvPr>
          <p:cNvSpPr txBox="1"/>
          <p:nvPr/>
        </p:nvSpPr>
        <p:spPr>
          <a:xfrm>
            <a:off x="4419600" y="2514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(5) Decoder mascarado consulta o próprio prefixo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FAB4AE3-8E00-4E8E-9C5A-80CE65D357E1}"/>
              </a:ext>
            </a:extLst>
          </p:cNvPr>
          <p:cNvSpPr/>
          <p:nvPr/>
        </p:nvSpPr>
        <p:spPr>
          <a:xfrm>
            <a:off x="4191000" y="29464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6A25BD7-440E-4197-90B5-DFBB5741854E}"/>
              </a:ext>
            </a:extLst>
          </p:cNvPr>
          <p:cNvSpPr txBox="1"/>
          <p:nvPr/>
        </p:nvSpPr>
        <p:spPr>
          <a:xfrm>
            <a:off x="4419600" y="2870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(6) Cross-attention consulta o encoder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1AFDEA0-8357-4C84-AC18-778B876A4AC9}"/>
              </a:ext>
            </a:extLst>
          </p:cNvPr>
          <p:cNvSpPr/>
          <p:nvPr/>
        </p:nvSpPr>
        <p:spPr>
          <a:xfrm>
            <a:off x="4191000" y="3302000"/>
            <a:ext cx="114300" cy="114300"/>
          </a:xfrm>
          <a:prstGeom prst="ellipse">
            <a:avLst/>
          </a:prstGeom>
          <a:solidFill>
            <a:srgbClr val="0E7C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7810BD5-0E11-4067-A7E8-5F78CACDB187}"/>
              </a:ext>
            </a:extLst>
          </p:cNvPr>
          <p:cNvSpPr txBox="1"/>
          <p:nvPr/>
        </p:nvSpPr>
        <p:spPr>
          <a:xfrm>
            <a:off x="4419600" y="32258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(7) Linear + softmax → próximo token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8D9977-3D4B-4EAF-B592-9F8CDCB1B30E}"/>
              </a:ext>
            </a:extLst>
          </p:cNvPr>
          <p:cNvSpPr txBox="1"/>
          <p:nvPr/>
        </p:nvSpPr>
        <p:spPr>
          <a:xfrm>
            <a:off x="4191000" y="36830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300" b="1">
                <a:solidFill>
                  <a:srgbClr val="5A6270"/>
                </a:solidFill>
                <a:latin typeface="Calibri" panose="020F0502020204030204" pitchFamily="34" charset="0"/>
              </a:rPr>
              <a:t>Treino:</a:t>
            </a:r>
            <a:r>
              <a:rPr lang="pt-BR" sz="1300">
                <a:solidFill>
                  <a:srgbClr val="5A6270"/>
                </a:solidFill>
                <a:latin typeface="Calibri" panose="020F0502020204030204" pitchFamily="34" charset="0"/>
              </a:rPr>
              <a:t> alvo conhecido, todas as posições em paralelo.   </a:t>
            </a:r>
            <a:r>
              <a:rPr lang="pt-BR" sz="1300" b="1">
                <a:solidFill>
                  <a:srgbClr val="5A6270"/>
                </a:solidFill>
                <a:latin typeface="Calibri" panose="020F0502020204030204" pitchFamily="34" charset="0"/>
              </a:rPr>
              <a:t>Inferência:</a:t>
            </a:r>
            <a:r>
              <a:rPr lang="pt-BR" sz="1300">
                <a:solidFill>
                  <a:srgbClr val="5A6270"/>
                </a:solidFill>
                <a:latin typeface="Calibri" panose="020F0502020204030204" pitchFamily="34" charset="0"/>
              </a:rPr>
              <a:t> um token por vez.</a:t>
            </a:r>
            <a:endParaRPr lang="es-ES" sz="1300">
              <a:solidFill>
                <a:srgbClr val="5A627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BE3137B-A259-494D-8A49-650884F3E778}"/>
              </a:ext>
            </a:extLst>
          </p:cNvPr>
          <p:cNvSpPr/>
          <p:nvPr/>
        </p:nvSpPr>
        <p:spPr>
          <a:xfrm>
            <a:off x="4191000" y="4089400"/>
            <a:ext cx="7493000" cy="215900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8329289-5CFA-4332-B06F-2A303C717893}"/>
              </a:ext>
            </a:extLst>
          </p:cNvPr>
          <p:cNvSpPr txBox="1"/>
          <p:nvPr/>
        </p:nvSpPr>
        <p:spPr>
          <a:xfrm>
            <a:off x="4445000" y="4241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 b="1">
                <a:solidFill>
                  <a:srgbClr val="0E7C86"/>
                </a:solidFill>
                <a:latin typeface="Calibri" panose="020F0502020204030204" pitchFamily="34" charset="0"/>
              </a:rPr>
              <a:t>PARA CHECAR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649997F-78DD-43A9-B8EC-619D712E10DA}"/>
              </a:ext>
            </a:extLst>
          </p:cNvPr>
          <p:cNvSpPr txBox="1"/>
          <p:nvPr/>
        </p:nvSpPr>
        <p:spPr>
          <a:xfrm>
            <a:off x="4445000" y="4521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1. Qual a diferença entre os parâmetros W</a:t>
            </a:r>
            <a:r>
              <a:rPr lang="pt-BR" sz="1500" baseline="-25000">
                <a:solidFill>
                  <a:srgbClr val="1B2A41"/>
                </a:solidFill>
                <a:latin typeface="Calibri" panose="020F0502020204030204" pitchFamily="34" charset="0"/>
              </a:rPr>
              <a:t>Q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e os pesos de atenção?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2. Por que a máscara é aplicada antes da softmax?</a:t>
            </a:r>
          </a:p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3. De onde vêm Q, K e V na cross-attention?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343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83C8866-7C75-4A4F-A469-DC0F3B649612}"/>
              </a:ext>
            </a:extLst>
          </p:cNvPr>
          <p:cNvSpPr txBox="1"/>
          <p:nvPr/>
        </p:nvSpPr>
        <p:spPr>
          <a:xfrm>
            <a:off x="508000" y="45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 b="1" dirty="0">
                <a:solidFill>
                  <a:srgbClr val="1B2A41"/>
                </a:solidFill>
                <a:latin typeface="Cambria" panose="02040503050406030204" pitchFamily="18" charset="0"/>
              </a:rPr>
              <a:t>Referências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237D29-BFB9-48B9-8FC7-A162C475500E}"/>
              </a:ext>
            </a:extLst>
          </p:cNvPr>
          <p:cNvSpPr txBox="1"/>
          <p:nvPr/>
        </p:nvSpPr>
        <p:spPr>
          <a:xfrm>
            <a:off x="508000" y="1397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Vaswani, A. et al. </a:t>
            </a:r>
            <a:r>
              <a:rPr lang="en-US" sz="1500" b="1">
                <a:solidFill>
                  <a:srgbClr val="1B2A41"/>
                </a:solidFill>
                <a:latin typeface="Calibri" panose="020F0502020204030204" pitchFamily="34" charset="0"/>
              </a:rPr>
              <a:t>Attention Is All You Need.</a:t>
            </a:r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 NeurIPS, 2017. arXiv:1706.03762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ADC0E6-57CB-436C-A721-08D9DCBA768D}"/>
              </a:ext>
            </a:extLst>
          </p:cNvPr>
          <p:cNvSpPr txBox="1"/>
          <p:nvPr/>
        </p:nvSpPr>
        <p:spPr>
          <a:xfrm>
            <a:off x="508000" y="2006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Agrawal, S. </a:t>
            </a:r>
            <a:r>
              <a:rPr lang="pt-BR" sz="1500" b="1">
                <a:solidFill>
                  <a:srgbClr val="1B2A41"/>
                </a:solidFill>
                <a:latin typeface="Calibri" panose="020F0502020204030204" pitchFamily="34" charset="0"/>
              </a:rPr>
              <a:t>Transformers</a:t>
            </a:r>
            <a:r>
              <a:rPr lang="pt-BR" sz="1500">
                <a:solidFill>
                  <a:srgbClr val="1B2A41"/>
                </a:solidFill>
                <a:latin typeface="Calibri" panose="020F0502020204030204" pitchFamily="34" charset="0"/>
              </a:rPr>
              <a:t> (slides, Google). Material de apoio, figuras e créditos indicados em cada slide.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997A672-992D-49CC-B5FB-66D5B5F43283}"/>
              </a:ext>
            </a:extLst>
          </p:cNvPr>
          <p:cNvSpPr txBox="1"/>
          <p:nvPr/>
        </p:nvSpPr>
        <p:spPr>
          <a:xfrm>
            <a:off x="508000" y="2616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Alammar, J. </a:t>
            </a:r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The Illustrated Transformer.</a:t>
            </a:r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 2018. jalammar.github.io/illustrated-transformer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B8E57D-63DF-421E-A7B2-C0DAF8078751}"/>
              </a:ext>
            </a:extLst>
          </p:cNvPr>
          <p:cNvSpPr txBox="1"/>
          <p:nvPr/>
        </p:nvSpPr>
        <p:spPr>
          <a:xfrm>
            <a:off x="508000" y="32258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Rush, A. (2018); Huang, A. et al. (2022). </a:t>
            </a:r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The Annotated Transformer.</a:t>
            </a:r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 Harvard NLP.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71C03B-FDFE-4AB2-9C17-89760B5B711F}"/>
              </a:ext>
            </a:extLst>
          </p:cNvPr>
          <p:cNvSpPr txBox="1"/>
          <p:nvPr/>
        </p:nvSpPr>
        <p:spPr>
          <a:xfrm>
            <a:off x="508000" y="3835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Zhang, A. et al. </a:t>
            </a:r>
            <a:r>
              <a:rPr lang="en-US" sz="1500" b="1">
                <a:solidFill>
                  <a:srgbClr val="1B2A41"/>
                </a:solidFill>
                <a:latin typeface="Calibri" panose="020F0502020204030204" pitchFamily="34" charset="0"/>
              </a:rPr>
              <a:t>Dive into Deep Learning</a:t>
            </a:r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, cap. 11. d2l.ai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89E142-8544-4594-8E29-0858BB6EA83A}"/>
              </a:ext>
            </a:extLst>
          </p:cNvPr>
          <p:cNvSpPr txBox="1"/>
          <p:nvPr/>
        </p:nvSpPr>
        <p:spPr>
          <a:xfrm>
            <a:off x="508000" y="4445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Hugging Face. </a:t>
            </a:r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Curso de NLP</a:t>
            </a:r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, cap. 1.4 (pt). huggingface.co/docs/course/pt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0509EFF-F7A2-4331-AF9E-2CB02A8F2350}"/>
              </a:ext>
            </a:extLst>
          </p:cNvPr>
          <p:cNvSpPr txBox="1"/>
          <p:nvPr/>
        </p:nvSpPr>
        <p:spPr>
          <a:xfrm>
            <a:off x="508000" y="5054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von Platen, P. </a:t>
            </a:r>
            <a:r>
              <a:rPr lang="es-ES" sz="1500" b="1">
                <a:solidFill>
                  <a:srgbClr val="1B2A41"/>
                </a:solidFill>
                <a:latin typeface="Calibri" panose="020F0502020204030204" pitchFamily="34" charset="0"/>
              </a:rPr>
              <a:t>Transformers-based Encoder-Decoder Models.</a:t>
            </a:r>
            <a:r>
              <a:rPr lang="es-ES" sz="1500">
                <a:solidFill>
                  <a:srgbClr val="1B2A41"/>
                </a:solidFill>
                <a:latin typeface="Calibri" panose="020F0502020204030204" pitchFamily="34" charset="0"/>
              </a:rPr>
              <a:t> Hugging Face Blog, 2020.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A8C8C2-1289-46F4-8646-747146F4A3F9}"/>
              </a:ext>
            </a:extLst>
          </p:cNvPr>
          <p:cNvSpPr txBox="1"/>
          <p:nvPr/>
        </p:nvSpPr>
        <p:spPr>
          <a:xfrm>
            <a:off x="508000" y="5664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Roitman, H. </a:t>
            </a:r>
            <a:r>
              <a:rPr lang="en-US" sz="1500" b="1">
                <a:solidFill>
                  <a:srgbClr val="1B2A41"/>
                </a:solidFill>
                <a:latin typeface="Calibri" panose="020F0502020204030204" pitchFamily="34" charset="0"/>
              </a:rPr>
              <a:t>The Hitchhiker's Guide to Agentic AI.</a:t>
            </a:r>
            <a:r>
              <a:rPr lang="en-US" sz="1500">
                <a:solidFill>
                  <a:srgbClr val="1B2A41"/>
                </a:solidFill>
                <a:latin typeface="Calibri" panose="020F0502020204030204" pitchFamily="34" charset="0"/>
              </a:rPr>
              <a:t> arXiv:2606.24937, 2026.</a:t>
            </a:r>
            <a:endParaRPr lang="es-ES" sz="1500">
              <a:solidFill>
                <a:srgbClr val="1B2A4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Kicker 13"/>
          <p:cNvSpPr txBox="1">
            <a:spLocks/>
          </p:cNvSpPr>
          <p:nvPr/>
        </p:nvSpPr>
        <p:spPr>
          <a:xfrm>
            <a:off x="512064" y="256032"/>
            <a:ext cx="1117396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300" b="1" dirty="0">
                <a:solidFill>
                  <a:srgbClr val="0E7C86"/>
                </a:solidFill>
                <a:latin typeface="Calibri"/>
                <a:cs typeface="Calibri"/>
              </a:rPr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1545467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AE5017B-57FB-C6AD-2B56-D41299E2DA62}"/>
              </a:ext>
            </a:extLst>
          </p:cNvPr>
          <p:cNvSpPr txBox="1"/>
          <p:nvPr/>
        </p:nvSpPr>
        <p:spPr>
          <a:xfrm>
            <a:off x="5120640" y="3429000"/>
            <a:ext cx="6565392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l"/>
            <a:r>
              <a:rPr lang="pt-BR" sz="2000" b="1" dirty="0">
                <a:solidFill>
                  <a:srgbClr val="0E7C86"/>
                </a:solidFill>
                <a:latin typeface="Calibri" panose="020F0502020204030204" pitchFamily="34" charset="0"/>
                <a:hlinkClick r:id="rId3"/>
              </a:rPr>
              <a:t>https://forms.gle/8gPrqnk9qUkxrnb28</a:t>
            </a:r>
            <a:r>
              <a:rPr lang="pt-BR" sz="2000" b="1" dirty="0">
                <a:solidFill>
                  <a:srgbClr val="0E7C86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9" name="Kicker 9"/>
          <p:cNvSpPr txBox="1">
            <a:spLocks/>
          </p:cNvSpPr>
          <p:nvPr/>
        </p:nvSpPr>
        <p:spPr>
          <a:xfrm>
            <a:off x="512064" y="256032"/>
            <a:ext cx="1117396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300" b="1" dirty="0">
                <a:solidFill>
                  <a:srgbClr val="0E7C86"/>
                </a:solidFill>
                <a:latin typeface="Calibri"/>
                <a:cs typeface="Calibri"/>
              </a:rPr>
              <a:t>ENCERRAMENTO · QUIZ</a:t>
            </a:r>
          </a:p>
        </p:txBody>
      </p:sp>
      <p:sp>
        <p:nvSpPr>
          <p:cNvPr id="10" name="Titulo 10"/>
          <p:cNvSpPr txBox="1">
            <a:spLocks/>
          </p:cNvSpPr>
          <p:nvPr/>
        </p:nvSpPr>
        <p:spPr>
          <a:xfrm>
            <a:off x="512064" y="457200"/>
            <a:ext cx="1117396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3000" b="1" dirty="0">
                <a:solidFill>
                  <a:srgbClr val="1B2A41"/>
                </a:solidFill>
                <a:latin typeface="Cambria"/>
                <a:cs typeface="Cambria"/>
              </a:rPr>
              <a:t>Quiz</a:t>
            </a:r>
          </a:p>
        </p:txBody>
      </p:sp>
      <p:sp>
        <p:nvSpPr>
          <p:cNvPr id="11" name="Subtitulo 11"/>
          <p:cNvSpPr txBox="1">
            <a:spLocks/>
          </p:cNvSpPr>
          <p:nvPr/>
        </p:nvSpPr>
        <p:spPr>
          <a:xfrm>
            <a:off x="512064" y="987552"/>
            <a:ext cx="11173968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Escaneie o código com o celular ou acesse o link.</a:t>
            </a:r>
          </a:p>
        </p:txBody>
      </p:sp>
      <p:pic>
        <p:nvPicPr>
          <p:cNvPr id="12" name="QR code do quiz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600200"/>
            <a:ext cx="4023360" cy="4023360"/>
          </a:xfrm>
          <a:prstGeom prst="rect">
            <a:avLst/>
          </a:prstGeom>
        </p:spPr>
      </p:pic>
      <p:sp>
        <p:nvSpPr>
          <p:cNvPr id="13" name="Texto 13"/>
          <p:cNvSpPr txBox="1">
            <a:spLocks/>
          </p:cNvSpPr>
          <p:nvPr/>
        </p:nvSpPr>
        <p:spPr>
          <a:xfrm>
            <a:off x="5120640" y="2971800"/>
            <a:ext cx="656539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Link do formulário</a:t>
            </a:r>
          </a:p>
        </p:txBody>
      </p:sp>
    </p:spTree>
    <p:extLst>
      <p:ext uri="{BB962C8B-B14F-4D97-AF65-F5344CB8AC3E}">
        <p14:creationId xmlns:p14="http://schemas.microsoft.com/office/powerpoint/2010/main" val="1118539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>
            <a:spLocks/>
          </p:cNvSpPr>
          <p:nvPr/>
        </p:nvSpPr>
        <p:spPr>
          <a:xfrm>
            <a:off x="512064" y="2103120"/>
            <a:ext cx="11173968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500" b="1" dirty="0">
                <a:solidFill>
                  <a:srgbClr val="0E7C86"/>
                </a:solidFill>
                <a:latin typeface="Calibri"/>
                <a:cs typeface="Calibri"/>
              </a:rPr>
              <a:t>ENCERRAMENTO</a:t>
            </a:r>
          </a:p>
        </p:txBody>
      </p:sp>
      <p:sp>
        <p:nvSpPr>
          <p:cNvPr id="3" name="Texto 3"/>
          <p:cNvSpPr txBox="1">
            <a:spLocks/>
          </p:cNvSpPr>
          <p:nvPr/>
        </p:nvSpPr>
        <p:spPr>
          <a:xfrm>
            <a:off x="512064" y="2468880"/>
            <a:ext cx="11173968" cy="1005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6000" b="1" dirty="0">
                <a:solidFill>
                  <a:srgbClr val="1B2A41"/>
                </a:solidFill>
                <a:latin typeface="Cambria"/>
                <a:cs typeface="Cambria"/>
              </a:rPr>
              <a:t>Obrigado!</a:t>
            </a:r>
          </a:p>
        </p:txBody>
      </p:sp>
      <p:sp>
        <p:nvSpPr>
          <p:cNvPr id="4" name="Texto 4"/>
          <p:cNvSpPr txBox="1">
            <a:spLocks/>
          </p:cNvSpPr>
          <p:nvPr/>
        </p:nvSpPr>
        <p:spPr>
          <a:xfrm>
            <a:off x="512064" y="3520440"/>
            <a:ext cx="1117396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2000" dirty="0">
                <a:solidFill>
                  <a:srgbClr val="5A6270"/>
                </a:solidFill>
                <a:latin typeface="Calibri"/>
                <a:cs typeface="Calibri"/>
              </a:rPr>
              <a:t>Perguntas e comentários são bem-vindos.</a:t>
            </a:r>
          </a:p>
        </p:txBody>
      </p:sp>
      <p:sp>
        <p:nvSpPr>
          <p:cNvPr id="5" name="Texto 5"/>
          <p:cNvSpPr txBox="1">
            <a:spLocks/>
          </p:cNvSpPr>
          <p:nvPr/>
        </p:nvSpPr>
        <p:spPr>
          <a:xfrm>
            <a:off x="512064" y="4343400"/>
            <a:ext cx="676656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pt-BR" sz="1700" b="1" dirty="0">
                <a:solidFill>
                  <a:srgbClr val="1B2A41"/>
                </a:solidFill>
                <a:latin typeface="Calibri"/>
                <a:cs typeface="Calibri"/>
              </a:rPr>
              <a:t>Bryan Fernando Sarango Rodriguez</a:t>
            </a:r>
          </a:p>
          <a:p>
            <a:pPr algn="l"/>
            <a:r>
              <a:rPr lang="pt-BR" sz="1500" dirty="0">
                <a:solidFill>
                  <a:srgbClr val="5A6270"/>
                </a:solidFill>
                <a:latin typeface="Calibri"/>
                <a:cs typeface="Calibri"/>
              </a:rPr>
              <a:t>bryan.rodriguez@dtel.Inatel.br</a:t>
            </a:r>
          </a:p>
        </p:txBody>
      </p:sp>
      <p:pic>
        <p:nvPicPr>
          <p:cNvPr id="6" name="Logo Inat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5806440"/>
            <a:ext cx="1737360" cy="122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B2A41"/>
      </a:dk2>
      <a:lt2>
        <a:srgbClr val="E7E6E6"/>
      </a:lt2>
      <a:accent1>
        <a:srgbClr val="0E7C86"/>
      </a:accent1>
      <a:accent2>
        <a:srgbClr val="1B2A41"/>
      </a:accent2>
      <a:accent3>
        <a:srgbClr val="5A6270"/>
      </a:accent3>
      <a:accent4>
        <a:srgbClr val="FFC000"/>
      </a:accent4>
      <a:accent5>
        <a:srgbClr val="5B9BD5"/>
      </a:accent5>
      <a:accent6>
        <a:srgbClr val="70AD47"/>
      </a:accent6>
      <a:hlink>
        <a:srgbClr val="0E7C8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B2A41"/>
      </a:dk2>
      <a:lt2>
        <a:srgbClr val="E7E6E6"/>
      </a:lt2>
      <a:accent1>
        <a:srgbClr val="0E7C86"/>
      </a:accent1>
      <a:accent2>
        <a:srgbClr val="1B2A41"/>
      </a:accent2>
      <a:accent3>
        <a:srgbClr val="5A6270"/>
      </a:accent3>
      <a:accent4>
        <a:srgbClr val="FFC000"/>
      </a:accent4>
      <a:accent5>
        <a:srgbClr val="5B9BD5"/>
      </a:accent5>
      <a:accent6>
        <a:srgbClr val="70AD47"/>
      </a:accent6>
      <a:hlink>
        <a:srgbClr val="0E7C8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7511</Words>
  <Application>Microsoft Office PowerPoint</Application>
  <PresentationFormat>Panorámica</PresentationFormat>
  <Paragraphs>554</Paragraphs>
  <Slides>24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-apple-system-body</vt:lpstr>
      <vt:lpstr>Arial</vt:lpstr>
      <vt:lpstr>Calibri</vt:lpstr>
      <vt:lpstr>Calibri Light</vt:lpstr>
      <vt:lpstr>Cambria</vt:lpstr>
      <vt:lpstr>Cambria Math</vt:lpstr>
      <vt:lpstr>Consolas</vt:lpstr>
      <vt:lpstr>Tema de Office</vt:lpstr>
      <vt:lpstr>TP558 - Tópicos avançados em Machine Learning: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Bryan Fernando Sarango Rodriguez</dc:creator>
  <cp:lastModifiedBy>Bryan Fernando Sarango Rodriguez</cp:lastModifiedBy>
  <cp:revision>8</cp:revision>
  <dcterms:created xsi:type="dcterms:W3CDTF">2026-10-03T21:54:37Z</dcterms:created>
  <dcterms:modified xsi:type="dcterms:W3CDTF">2026-10-08T20:46:41Z</dcterms:modified>
</cp:coreProperties>
</file>