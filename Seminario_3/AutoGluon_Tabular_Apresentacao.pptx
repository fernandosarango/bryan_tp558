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1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2" r:id="rId14"/>
    <p:sldId id="270" r:id="rId15"/>
    <p:sldId id="271" r:id="rId16"/>
    <p:sldId id="272" r:id="rId17"/>
    <p:sldId id="274" r:id="rId18"/>
    <p:sldId id="277" r:id="rId19"/>
    <p:sldId id="282" r:id="rId20"/>
    <p:sldId id="283" r:id="rId21"/>
    <p:sldId id="278" r:id="rId22"/>
    <p:sldId id="279" r:id="rId23"/>
    <p:sldId id="280" r:id="rId24"/>
    <p:sldId id="275" r:id="rId25"/>
    <p:sldId id="273" r:id="rId26"/>
    <p:sldId id="269" r:id="rId27"/>
    <p:sldId id="276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563" autoAdjust="0"/>
  </p:normalViewPr>
  <p:slideViewPr>
    <p:cSldViewPr snapToGrid="0">
      <p:cViewPr>
        <p:scale>
          <a:sx n="66" d="100"/>
          <a:sy n="66" d="100"/>
        </p:scale>
        <p:origin x="876" y="-17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Fernando Sarango Rodriguez" userId="b88c460d-539d-4987-a9c8-d95e779f98d2" providerId="ADAL" clId="{1E89EA1A-88B4-4DFE-A539-CD4C542633DC}"/>
    <pc:docChg chg="undo custSel delSld modSld">
      <pc:chgData name="Bryan Fernando Sarango Rodriguez" userId="b88c460d-539d-4987-a9c8-d95e779f98d2" providerId="ADAL" clId="{1E89EA1A-88B4-4DFE-A539-CD4C542633DC}" dt="2026-09-19T17:51:48.268" v="637" actId="20577"/>
      <pc:docMkLst>
        <pc:docMk/>
      </pc:docMkLst>
      <pc:sldChg chg="del">
        <pc:chgData name="Bryan Fernando Sarango Rodriguez" userId="b88c460d-539d-4987-a9c8-d95e779f98d2" providerId="ADAL" clId="{1E89EA1A-88B4-4DFE-A539-CD4C542633DC}" dt="2026-09-18T14:08:51.031" v="4" actId="2696"/>
        <pc:sldMkLst>
          <pc:docMk/>
          <pc:sldMk cId="2531566159" sldId="256"/>
        </pc:sldMkLst>
      </pc:sldChg>
      <pc:sldChg chg="modSp mod modNotesTx">
        <pc:chgData name="Bryan Fernando Sarango Rodriguez" userId="b88c460d-539d-4987-a9c8-d95e779f98d2" providerId="ADAL" clId="{1E89EA1A-88B4-4DFE-A539-CD4C542633DC}" dt="2026-09-18T16:11:08.925" v="189" actId="20577"/>
        <pc:sldMkLst>
          <pc:docMk/>
          <pc:sldMk cId="1245840717" sldId="257"/>
        </pc:sldMkLst>
        <pc:spChg chg="mod">
          <ac:chgData name="Bryan Fernando Sarango Rodriguez" userId="b88c460d-539d-4987-a9c8-d95e779f98d2" providerId="ADAL" clId="{1E89EA1A-88B4-4DFE-A539-CD4C542633DC}" dt="2026-09-18T14:53:36.981" v="7" actId="20577"/>
          <ac:spMkLst>
            <pc:docMk/>
            <pc:sldMk cId="1245840717" sldId="257"/>
            <ac:spMk id="3" creationId="{85082B1A-9D1E-733B-B0BB-339BE0052729}"/>
          </ac:spMkLst>
        </pc:spChg>
        <pc:spChg chg="mod">
          <ac:chgData name="Bryan Fernando Sarango Rodriguez" userId="b88c460d-539d-4987-a9c8-d95e779f98d2" providerId="ADAL" clId="{1E89EA1A-88B4-4DFE-A539-CD4C542633DC}" dt="2026-09-18T15:02:55.073" v="86" actId="14100"/>
          <ac:spMkLst>
            <pc:docMk/>
            <pc:sldMk cId="1245840717" sldId="257"/>
            <ac:spMk id="6" creationId="{A3BC9E25-B9E4-E44F-9E6D-441E45FF8ECF}"/>
          </ac:spMkLst>
        </pc:spChg>
        <pc:spChg chg="mod">
          <ac:chgData name="Bryan Fernando Sarango Rodriguez" userId="b88c460d-539d-4987-a9c8-d95e779f98d2" providerId="ADAL" clId="{1E89EA1A-88B4-4DFE-A539-CD4C542633DC}" dt="2026-09-18T15:02:47.478" v="85" actId="1076"/>
          <ac:spMkLst>
            <pc:docMk/>
            <pc:sldMk cId="1245840717" sldId="257"/>
            <ac:spMk id="7" creationId="{5F8486C3-397F-943A-8C92-01A05663F55A}"/>
          </ac:spMkLst>
        </pc:spChg>
        <pc:spChg chg="mod">
          <ac:chgData name="Bryan Fernando Sarango Rodriguez" userId="b88c460d-539d-4987-a9c8-d95e779f98d2" providerId="ADAL" clId="{1E89EA1A-88B4-4DFE-A539-CD4C542633DC}" dt="2026-09-18T14:55:02.123" v="15" actId="20577"/>
          <ac:spMkLst>
            <pc:docMk/>
            <pc:sldMk cId="1245840717" sldId="257"/>
            <ac:spMk id="8" creationId="{71180896-F5B4-CE20-0C54-F68F797D98F5}"/>
          </ac:spMkLst>
        </pc:spChg>
        <pc:spChg chg="mod">
          <ac:chgData name="Bryan Fernando Sarango Rodriguez" userId="b88c460d-539d-4987-a9c8-d95e779f98d2" providerId="ADAL" clId="{1E89EA1A-88B4-4DFE-A539-CD4C542633DC}" dt="2026-09-18T15:02:27.230" v="79" actId="14100"/>
          <ac:spMkLst>
            <pc:docMk/>
            <pc:sldMk cId="1245840717" sldId="257"/>
            <ac:spMk id="9" creationId="{329D70B0-409C-CFE6-10AB-6A308163C191}"/>
          </ac:spMkLst>
        </pc:spChg>
        <pc:spChg chg="mod">
          <ac:chgData name="Bryan Fernando Sarango Rodriguez" userId="b88c460d-539d-4987-a9c8-d95e779f98d2" providerId="ADAL" clId="{1E89EA1A-88B4-4DFE-A539-CD4C542633DC}" dt="2026-09-18T14:56:50.123" v="34" actId="403"/>
          <ac:spMkLst>
            <pc:docMk/>
            <pc:sldMk cId="1245840717" sldId="257"/>
            <ac:spMk id="10" creationId="{A79E43C1-68BE-CEA3-85FE-63CA4E241145}"/>
          </ac:spMkLst>
        </pc:spChg>
        <pc:spChg chg="mod">
          <ac:chgData name="Bryan Fernando Sarango Rodriguez" userId="b88c460d-539d-4987-a9c8-d95e779f98d2" providerId="ADAL" clId="{1E89EA1A-88B4-4DFE-A539-CD4C542633DC}" dt="2026-09-18T15:05:09.677" v="101"/>
          <ac:spMkLst>
            <pc:docMk/>
            <pc:sldMk cId="1245840717" sldId="257"/>
            <ac:spMk id="11" creationId="{40516912-78D7-0D12-0AFF-B0A596B8A1FE}"/>
          </ac:spMkLst>
        </pc:spChg>
        <pc:spChg chg="mod">
          <ac:chgData name="Bryan Fernando Sarango Rodriguez" userId="b88c460d-539d-4987-a9c8-d95e779f98d2" providerId="ADAL" clId="{1E89EA1A-88B4-4DFE-A539-CD4C542633DC}" dt="2026-09-18T15:02:22.402" v="78" actId="14100"/>
          <ac:spMkLst>
            <pc:docMk/>
            <pc:sldMk cId="1245840717" sldId="257"/>
            <ac:spMk id="12" creationId="{94129695-659F-C557-A095-443F917C5AF8}"/>
          </ac:spMkLst>
        </pc:spChg>
        <pc:spChg chg="mod">
          <ac:chgData name="Bryan Fernando Sarango Rodriguez" userId="b88c460d-539d-4987-a9c8-d95e779f98d2" providerId="ADAL" clId="{1E89EA1A-88B4-4DFE-A539-CD4C542633DC}" dt="2026-09-18T15:00:41.494" v="43" actId="6549"/>
          <ac:spMkLst>
            <pc:docMk/>
            <pc:sldMk cId="1245840717" sldId="257"/>
            <ac:spMk id="13" creationId="{BD55FBC0-5311-6E88-D341-2B64B27629D1}"/>
          </ac:spMkLst>
        </pc:spChg>
        <pc:spChg chg="mod">
          <ac:chgData name="Bryan Fernando Sarango Rodriguez" userId="b88c460d-539d-4987-a9c8-d95e779f98d2" providerId="ADAL" clId="{1E89EA1A-88B4-4DFE-A539-CD4C542633DC}" dt="2026-09-18T15:07:18.689" v="142" actId="20577"/>
          <ac:spMkLst>
            <pc:docMk/>
            <pc:sldMk cId="1245840717" sldId="257"/>
            <ac:spMk id="14" creationId="{A6BB6185-CE0A-CC4B-0290-F413B963AA57}"/>
          </ac:spMkLst>
        </pc:spChg>
        <pc:spChg chg="mod">
          <ac:chgData name="Bryan Fernando Sarango Rodriguez" userId="b88c460d-539d-4987-a9c8-d95e779f98d2" providerId="ADAL" clId="{1E89EA1A-88B4-4DFE-A539-CD4C542633DC}" dt="2026-09-18T15:03:20.230" v="89" actId="14100"/>
          <ac:spMkLst>
            <pc:docMk/>
            <pc:sldMk cId="1245840717" sldId="257"/>
            <ac:spMk id="15" creationId="{3CB74CD8-68F7-7822-13B0-FD97DEB71D9D}"/>
          </ac:spMkLst>
        </pc:spChg>
        <pc:spChg chg="mod">
          <ac:chgData name="Bryan Fernando Sarango Rodriguez" userId="b88c460d-539d-4987-a9c8-d95e779f98d2" providerId="ADAL" clId="{1E89EA1A-88B4-4DFE-A539-CD4C542633DC}" dt="2026-09-18T15:09:30.078" v="186" actId="255"/>
          <ac:spMkLst>
            <pc:docMk/>
            <pc:sldMk cId="1245840717" sldId="257"/>
            <ac:spMk id="17" creationId="{C56D95D1-DD03-8BF9-A0D6-8A7B6087FEB4}"/>
          </ac:spMkLst>
        </pc:spChg>
        <pc:spChg chg="mod">
          <ac:chgData name="Bryan Fernando Sarango Rodriguez" userId="b88c460d-539d-4987-a9c8-d95e779f98d2" providerId="ADAL" clId="{1E89EA1A-88B4-4DFE-A539-CD4C542633DC}" dt="2026-09-18T15:02:12.489" v="76" actId="14100"/>
          <ac:spMkLst>
            <pc:docMk/>
            <pc:sldMk cId="1245840717" sldId="257"/>
            <ac:spMk id="19" creationId="{FEEBE220-5F4B-4E3B-EFFF-B0C33776D682}"/>
          </ac:spMkLst>
        </pc:spChg>
        <pc:picChg chg="mod">
          <ac:chgData name="Bryan Fernando Sarango Rodriguez" userId="b88c460d-539d-4987-a9c8-d95e779f98d2" providerId="ADAL" clId="{1E89EA1A-88B4-4DFE-A539-CD4C542633DC}" dt="2026-09-18T15:02:16.162" v="77" actId="1076"/>
          <ac:picMkLst>
            <pc:docMk/>
            <pc:sldMk cId="1245840717" sldId="257"/>
            <ac:picMk id="18" creationId="{2C011F19-0376-6B08-C2E7-17E87E96CBCA}"/>
          </ac:picMkLst>
        </pc:picChg>
      </pc:sldChg>
      <pc:sldChg chg="delSp modSp mod modNotesTx">
        <pc:chgData name="Bryan Fernando Sarango Rodriguez" userId="b88c460d-539d-4987-a9c8-d95e779f98d2" providerId="ADAL" clId="{1E89EA1A-88B4-4DFE-A539-CD4C542633DC}" dt="2026-09-18T16:15:09.599" v="213" actId="20577"/>
        <pc:sldMkLst>
          <pc:docMk/>
          <pc:sldMk cId="3454650580" sldId="258"/>
        </pc:sldMkLst>
        <pc:spChg chg="del">
          <ac:chgData name="Bryan Fernando Sarango Rodriguez" userId="b88c460d-539d-4987-a9c8-d95e779f98d2" providerId="ADAL" clId="{1E89EA1A-88B4-4DFE-A539-CD4C542633DC}" dt="2026-09-18T16:11:45.833" v="194" actId="478"/>
          <ac:spMkLst>
            <pc:docMk/>
            <pc:sldMk cId="3454650580" sldId="258"/>
            <ac:spMk id="8" creationId="{66D64D32-5DB5-A3F7-9662-CA7A8E93F1FE}"/>
          </ac:spMkLst>
        </pc:spChg>
        <pc:spChg chg="mod">
          <ac:chgData name="Bryan Fernando Sarango Rodriguez" userId="b88c460d-539d-4987-a9c8-d95e779f98d2" providerId="ADAL" clId="{1E89EA1A-88B4-4DFE-A539-CD4C542633DC}" dt="2026-09-18T16:12:06.109" v="202" actId="403"/>
          <ac:spMkLst>
            <pc:docMk/>
            <pc:sldMk cId="3454650580" sldId="258"/>
            <ac:spMk id="9" creationId="{DD3EF2E4-96BE-F125-2B79-D85B3E680E1D}"/>
          </ac:spMkLst>
        </pc:spChg>
        <pc:spChg chg="del">
          <ac:chgData name="Bryan Fernando Sarango Rodriguez" userId="b88c460d-539d-4987-a9c8-d95e779f98d2" providerId="ADAL" clId="{1E89EA1A-88B4-4DFE-A539-CD4C542633DC}" dt="2026-09-18T16:11:44.830" v="193" actId="478"/>
          <ac:spMkLst>
            <pc:docMk/>
            <pc:sldMk cId="3454650580" sldId="258"/>
            <ac:spMk id="10" creationId="{47CFC4EB-6596-9A1D-8E2B-49C923EBFBDA}"/>
          </ac:spMkLst>
        </pc:spChg>
        <pc:spChg chg="mod">
          <ac:chgData name="Bryan Fernando Sarango Rodriguez" userId="b88c460d-539d-4987-a9c8-d95e779f98d2" providerId="ADAL" clId="{1E89EA1A-88B4-4DFE-A539-CD4C542633DC}" dt="2026-09-18T16:12:09.606" v="203" actId="403"/>
          <ac:spMkLst>
            <pc:docMk/>
            <pc:sldMk cId="3454650580" sldId="258"/>
            <ac:spMk id="11" creationId="{009CDC80-AD39-FD5B-3092-EC903CFF7523}"/>
          </ac:spMkLst>
        </pc:spChg>
        <pc:spChg chg="del">
          <ac:chgData name="Bryan Fernando Sarango Rodriguez" userId="b88c460d-539d-4987-a9c8-d95e779f98d2" providerId="ADAL" clId="{1E89EA1A-88B4-4DFE-A539-CD4C542633DC}" dt="2026-09-18T16:11:43.768" v="192" actId="478"/>
          <ac:spMkLst>
            <pc:docMk/>
            <pc:sldMk cId="3454650580" sldId="258"/>
            <ac:spMk id="12" creationId="{22D73176-C232-6D68-31DC-F6F2E817737A}"/>
          </ac:spMkLst>
        </pc:spChg>
        <pc:spChg chg="mod">
          <ac:chgData name="Bryan Fernando Sarango Rodriguez" userId="b88c460d-539d-4987-a9c8-d95e779f98d2" providerId="ADAL" clId="{1E89EA1A-88B4-4DFE-A539-CD4C542633DC}" dt="2026-09-18T16:12:33.781" v="205" actId="1076"/>
          <ac:spMkLst>
            <pc:docMk/>
            <pc:sldMk cId="3454650580" sldId="258"/>
            <ac:spMk id="13" creationId="{3FD74F7F-4F2B-9A4E-D62C-CD54B536E2B2}"/>
          </ac:spMkLst>
        </pc:spChg>
        <pc:picChg chg="mod">
          <ac:chgData name="Bryan Fernando Sarango Rodriguez" userId="b88c460d-539d-4987-a9c8-d95e779f98d2" providerId="ADAL" clId="{1E89EA1A-88B4-4DFE-A539-CD4C542633DC}" dt="2026-09-18T16:13:07.114" v="208" actId="14100"/>
          <ac:picMkLst>
            <pc:docMk/>
            <pc:sldMk cId="3454650580" sldId="258"/>
            <ac:picMk id="6" creationId="{D605AC81-45AD-D19A-A230-4D054F50F6CB}"/>
          </ac:picMkLst>
        </pc:picChg>
      </pc:sldChg>
      <pc:sldChg chg="modNotesTx">
        <pc:chgData name="Bryan Fernando Sarango Rodriguez" userId="b88c460d-539d-4987-a9c8-d95e779f98d2" providerId="ADAL" clId="{1E89EA1A-88B4-4DFE-A539-CD4C542633DC}" dt="2026-09-18T16:17:05.680" v="219" actId="20577"/>
        <pc:sldMkLst>
          <pc:docMk/>
          <pc:sldMk cId="2567773131" sldId="259"/>
        </pc:sldMkLst>
      </pc:sldChg>
      <pc:sldChg chg="delSp modSp mod modNotesTx">
        <pc:chgData name="Bryan Fernando Sarango Rodriguez" userId="b88c460d-539d-4987-a9c8-d95e779f98d2" providerId="ADAL" clId="{1E89EA1A-88B4-4DFE-A539-CD4C542633DC}" dt="2026-09-18T16:27:16.610" v="246"/>
        <pc:sldMkLst>
          <pc:docMk/>
          <pc:sldMk cId="3908587705" sldId="260"/>
        </pc:sldMkLst>
        <pc:spChg chg="del">
          <ac:chgData name="Bryan Fernando Sarango Rodriguez" userId="b88c460d-539d-4987-a9c8-d95e779f98d2" providerId="ADAL" clId="{1E89EA1A-88B4-4DFE-A539-CD4C542633DC}" dt="2026-09-18T16:20:43.596" v="228" actId="478"/>
          <ac:spMkLst>
            <pc:docMk/>
            <pc:sldMk cId="3908587705" sldId="260"/>
            <ac:spMk id="4" creationId="{C026DA97-0225-AAC9-1CF3-180BAE4FA396}"/>
          </ac:spMkLst>
        </pc:spChg>
        <pc:spChg chg="mod">
          <ac:chgData name="Bryan Fernando Sarango Rodriguez" userId="b88c460d-539d-4987-a9c8-d95e779f98d2" providerId="ADAL" clId="{1E89EA1A-88B4-4DFE-A539-CD4C542633DC}" dt="2026-09-18T16:20:53.424" v="232" actId="1076"/>
          <ac:spMkLst>
            <pc:docMk/>
            <pc:sldMk cId="3908587705" sldId="260"/>
            <ac:spMk id="15" creationId="{3248A7AA-CABC-43A2-199C-4E9FD448C3EE}"/>
          </ac:spMkLst>
        </pc:spChg>
        <pc:picChg chg="mod">
          <ac:chgData name="Bryan Fernando Sarango Rodriguez" userId="b88c460d-539d-4987-a9c8-d95e779f98d2" providerId="ADAL" clId="{1E89EA1A-88B4-4DFE-A539-CD4C542633DC}" dt="2026-09-18T16:20:58.090" v="233" actId="14100"/>
          <ac:picMkLst>
            <pc:docMk/>
            <pc:sldMk cId="3908587705" sldId="260"/>
            <ac:picMk id="6" creationId="{2725C887-E7B4-4F2E-64C2-982A0007B1AB}"/>
          </ac:picMkLst>
        </pc:picChg>
      </pc:sldChg>
      <pc:sldChg chg="modNotesTx">
        <pc:chgData name="Bryan Fernando Sarango Rodriguez" userId="b88c460d-539d-4987-a9c8-d95e779f98d2" providerId="ADAL" clId="{1E89EA1A-88B4-4DFE-A539-CD4C542633DC}" dt="2026-09-18T16:34:40.019" v="280" actId="20577"/>
        <pc:sldMkLst>
          <pc:docMk/>
          <pc:sldMk cId="1569926199" sldId="261"/>
        </pc:sldMkLst>
      </pc:sldChg>
      <pc:sldChg chg="modNotesTx">
        <pc:chgData name="Bryan Fernando Sarango Rodriguez" userId="b88c460d-539d-4987-a9c8-d95e779f98d2" providerId="ADAL" clId="{1E89EA1A-88B4-4DFE-A539-CD4C542633DC}" dt="2026-09-18T16:40:29.119" v="295" actId="6549"/>
        <pc:sldMkLst>
          <pc:docMk/>
          <pc:sldMk cId="3897648320" sldId="262"/>
        </pc:sldMkLst>
      </pc:sldChg>
      <pc:sldChg chg="modNotesTx">
        <pc:chgData name="Bryan Fernando Sarango Rodriguez" userId="b88c460d-539d-4987-a9c8-d95e779f98d2" providerId="ADAL" clId="{1E89EA1A-88B4-4DFE-A539-CD4C542633DC}" dt="2026-09-18T16:48:42.238" v="306" actId="20577"/>
        <pc:sldMkLst>
          <pc:docMk/>
          <pc:sldMk cId="4178302589" sldId="263"/>
        </pc:sldMkLst>
      </pc:sldChg>
      <pc:sldChg chg="delSp modSp mod modNotesTx">
        <pc:chgData name="Bryan Fernando Sarango Rodriguez" userId="b88c460d-539d-4987-a9c8-d95e779f98d2" providerId="ADAL" clId="{1E89EA1A-88B4-4DFE-A539-CD4C542633DC}" dt="2026-09-18T16:58:43.898" v="351" actId="20577"/>
        <pc:sldMkLst>
          <pc:docMk/>
          <pc:sldMk cId="179563984" sldId="264"/>
        </pc:sldMkLst>
        <pc:spChg chg="mod">
          <ac:chgData name="Bryan Fernando Sarango Rodriguez" userId="b88c460d-539d-4987-a9c8-d95e779f98d2" providerId="ADAL" clId="{1E89EA1A-88B4-4DFE-A539-CD4C542633DC}" dt="2026-09-18T16:50:05.369" v="312"/>
          <ac:spMkLst>
            <pc:docMk/>
            <pc:sldMk cId="179563984" sldId="264"/>
            <ac:spMk id="3" creationId="{D12C35D8-3706-7A13-62FE-5DAE2F05F675}"/>
          </ac:spMkLst>
        </pc:spChg>
        <pc:spChg chg="del">
          <ac:chgData name="Bryan Fernando Sarango Rodriguez" userId="b88c460d-539d-4987-a9c8-d95e779f98d2" providerId="ADAL" clId="{1E89EA1A-88B4-4DFE-A539-CD4C542633DC}" dt="2026-09-18T16:48:57.943" v="307" actId="478"/>
          <ac:spMkLst>
            <pc:docMk/>
            <pc:sldMk cId="179563984" sldId="264"/>
            <ac:spMk id="8" creationId="{6AD94756-B6FC-419F-C381-8B1E9359C928}"/>
          </ac:spMkLst>
        </pc:spChg>
        <pc:spChg chg="del">
          <ac:chgData name="Bryan Fernando Sarango Rodriguez" userId="b88c460d-539d-4987-a9c8-d95e779f98d2" providerId="ADAL" clId="{1E89EA1A-88B4-4DFE-A539-CD4C542633DC}" dt="2026-09-18T16:48:59.521" v="308" actId="478"/>
          <ac:spMkLst>
            <pc:docMk/>
            <pc:sldMk cId="179563984" sldId="264"/>
            <ac:spMk id="10" creationId="{5A862DCE-5719-34A9-5375-16ACF6A7E946}"/>
          </ac:spMkLst>
        </pc:spChg>
        <pc:spChg chg="del">
          <ac:chgData name="Bryan Fernando Sarango Rodriguez" userId="b88c460d-539d-4987-a9c8-d95e779f98d2" providerId="ADAL" clId="{1E89EA1A-88B4-4DFE-A539-CD4C542633DC}" dt="2026-09-18T16:49:01.404" v="309" actId="478"/>
          <ac:spMkLst>
            <pc:docMk/>
            <pc:sldMk cId="179563984" sldId="264"/>
            <ac:spMk id="12" creationId="{E9707434-36A4-22D3-7AD1-2F606BFBCDE2}"/>
          </ac:spMkLst>
        </pc:spChg>
        <pc:spChg chg="del">
          <ac:chgData name="Bryan Fernando Sarango Rodriguez" userId="b88c460d-539d-4987-a9c8-d95e779f98d2" providerId="ADAL" clId="{1E89EA1A-88B4-4DFE-A539-CD4C542633DC}" dt="2026-09-18T16:49:02.243" v="310" actId="478"/>
          <ac:spMkLst>
            <pc:docMk/>
            <pc:sldMk cId="179563984" sldId="264"/>
            <ac:spMk id="14" creationId="{67AEE9FB-2043-3499-816A-1B0B92716E03}"/>
          </ac:spMkLst>
        </pc:spChg>
      </pc:sldChg>
      <pc:sldChg chg="delSp modNotesTx">
        <pc:chgData name="Bryan Fernando Sarango Rodriguez" userId="b88c460d-539d-4987-a9c8-d95e779f98d2" providerId="ADAL" clId="{1E89EA1A-88B4-4DFE-A539-CD4C542633DC}" dt="2026-09-18T19:30:22.139" v="379" actId="6549"/>
        <pc:sldMkLst>
          <pc:docMk/>
          <pc:sldMk cId="3846085809" sldId="265"/>
        </pc:sldMkLst>
        <pc:spChg chg="del">
          <ac:chgData name="Bryan Fernando Sarango Rodriguez" userId="b88c460d-539d-4987-a9c8-d95e779f98d2" providerId="ADAL" clId="{1E89EA1A-88B4-4DFE-A539-CD4C542633DC}" dt="2026-09-18T16:58:51.773" v="352" actId="478"/>
          <ac:spMkLst>
            <pc:docMk/>
            <pc:sldMk cId="3846085809" sldId="265"/>
            <ac:spMk id="8" creationId="{B9D4D675-8C2F-DDDB-AEDA-B2A2E70C6584}"/>
          </ac:spMkLst>
        </pc:spChg>
        <pc:spChg chg="del">
          <ac:chgData name="Bryan Fernando Sarango Rodriguez" userId="b88c460d-539d-4987-a9c8-d95e779f98d2" providerId="ADAL" clId="{1E89EA1A-88B4-4DFE-A539-CD4C542633DC}" dt="2026-09-18T16:58:52.864" v="353" actId="478"/>
          <ac:spMkLst>
            <pc:docMk/>
            <pc:sldMk cId="3846085809" sldId="265"/>
            <ac:spMk id="10" creationId="{488F8CC2-D181-9D28-8549-9A5FC280656A}"/>
          </ac:spMkLst>
        </pc:spChg>
        <pc:spChg chg="del">
          <ac:chgData name="Bryan Fernando Sarango Rodriguez" userId="b88c460d-539d-4987-a9c8-d95e779f98d2" providerId="ADAL" clId="{1E89EA1A-88B4-4DFE-A539-CD4C542633DC}" dt="2026-09-18T16:58:53.925" v="354" actId="478"/>
          <ac:spMkLst>
            <pc:docMk/>
            <pc:sldMk cId="3846085809" sldId="265"/>
            <ac:spMk id="12" creationId="{10F6F7B1-C44D-8D83-3C83-B3E2A5121B98}"/>
          </ac:spMkLst>
        </pc:spChg>
        <pc:spChg chg="del">
          <ac:chgData name="Bryan Fernando Sarango Rodriguez" userId="b88c460d-539d-4987-a9c8-d95e779f98d2" providerId="ADAL" clId="{1E89EA1A-88B4-4DFE-A539-CD4C542633DC}" dt="2026-09-18T16:58:54.802" v="355" actId="478"/>
          <ac:spMkLst>
            <pc:docMk/>
            <pc:sldMk cId="3846085809" sldId="265"/>
            <ac:spMk id="14" creationId="{2D2EE515-3674-0641-6092-A8CCD1F63553}"/>
          </ac:spMkLst>
        </pc:spChg>
      </pc:sldChg>
      <pc:sldChg chg="addSp delSp modSp mod modNotesTx">
        <pc:chgData name="Bryan Fernando Sarango Rodriguez" userId="b88c460d-539d-4987-a9c8-d95e779f98d2" providerId="ADAL" clId="{1E89EA1A-88B4-4DFE-A539-CD4C542633DC}" dt="2026-09-18T19:59:30.146" v="444" actId="20577"/>
        <pc:sldMkLst>
          <pc:docMk/>
          <pc:sldMk cId="2122674261" sldId="266"/>
        </pc:sldMkLst>
        <pc:spChg chg="del mod">
          <ac:chgData name="Bryan Fernando Sarango Rodriguez" userId="b88c460d-539d-4987-a9c8-d95e779f98d2" providerId="ADAL" clId="{1E89EA1A-88B4-4DFE-A539-CD4C542633DC}" dt="2026-09-18T19:49:26.480" v="390" actId="478"/>
          <ac:spMkLst>
            <pc:docMk/>
            <pc:sldMk cId="2122674261" sldId="266"/>
            <ac:spMk id="4" creationId="{7895779D-3B71-FF5A-3C5C-614C35523AF9}"/>
          </ac:spMkLst>
        </pc:spChg>
        <pc:spChg chg="mod">
          <ac:chgData name="Bryan Fernando Sarango Rodriguez" userId="b88c460d-539d-4987-a9c8-d95e779f98d2" providerId="ADAL" clId="{1E89EA1A-88B4-4DFE-A539-CD4C542633DC}" dt="2026-09-18T19:51:07.123" v="410" actId="14100"/>
          <ac:spMkLst>
            <pc:docMk/>
            <pc:sldMk cId="2122674261" sldId="266"/>
            <ac:spMk id="6" creationId="{BA9593AD-5321-B670-6477-38D077FF2D80}"/>
          </ac:spMkLst>
        </pc:spChg>
        <pc:spChg chg="mod">
          <ac:chgData name="Bryan Fernando Sarango Rodriguez" userId="b88c460d-539d-4987-a9c8-d95e779f98d2" providerId="ADAL" clId="{1E89EA1A-88B4-4DFE-A539-CD4C542633DC}" dt="2026-09-18T19:50:56.229" v="407" actId="255"/>
          <ac:spMkLst>
            <pc:docMk/>
            <pc:sldMk cId="2122674261" sldId="266"/>
            <ac:spMk id="8" creationId="{884712A8-45B1-9C62-0910-E9B20F88D012}"/>
          </ac:spMkLst>
        </pc:spChg>
        <pc:spChg chg="mod">
          <ac:chgData name="Bryan Fernando Sarango Rodriguez" userId="b88c460d-539d-4987-a9c8-d95e779f98d2" providerId="ADAL" clId="{1E89EA1A-88B4-4DFE-A539-CD4C542633DC}" dt="2026-09-18T19:51:00.631" v="408" actId="14100"/>
          <ac:spMkLst>
            <pc:docMk/>
            <pc:sldMk cId="2122674261" sldId="266"/>
            <ac:spMk id="9" creationId="{72BD360B-190B-4039-5237-7621334CA2E9}"/>
          </ac:spMkLst>
        </pc:spChg>
        <pc:spChg chg="mod">
          <ac:chgData name="Bryan Fernando Sarango Rodriguez" userId="b88c460d-539d-4987-a9c8-d95e779f98d2" providerId="ADAL" clId="{1E89EA1A-88B4-4DFE-A539-CD4C542633DC}" dt="2026-09-18T19:50:50.691" v="406" actId="255"/>
          <ac:spMkLst>
            <pc:docMk/>
            <pc:sldMk cId="2122674261" sldId="266"/>
            <ac:spMk id="11" creationId="{3D4C0C27-79FA-02B8-7CF9-F09FE20A8A9C}"/>
          </ac:spMkLst>
        </pc:spChg>
        <pc:spChg chg="mod">
          <ac:chgData name="Bryan Fernando Sarango Rodriguez" userId="b88c460d-539d-4987-a9c8-d95e779f98d2" providerId="ADAL" clId="{1E89EA1A-88B4-4DFE-A539-CD4C542633DC}" dt="2026-09-18T19:51:03.766" v="409" actId="14100"/>
          <ac:spMkLst>
            <pc:docMk/>
            <pc:sldMk cId="2122674261" sldId="266"/>
            <ac:spMk id="12" creationId="{5E652A81-44E4-42CB-A118-4F5808D850D2}"/>
          </ac:spMkLst>
        </pc:spChg>
        <pc:spChg chg="mod">
          <ac:chgData name="Bryan Fernando Sarango Rodriguez" userId="b88c460d-539d-4987-a9c8-d95e779f98d2" providerId="ADAL" clId="{1E89EA1A-88B4-4DFE-A539-CD4C542633DC}" dt="2026-09-18T19:50:44.411" v="405" actId="255"/>
          <ac:spMkLst>
            <pc:docMk/>
            <pc:sldMk cId="2122674261" sldId="266"/>
            <ac:spMk id="14" creationId="{928F12E3-145D-55AA-0E85-42E6CCA1A502}"/>
          </ac:spMkLst>
        </pc:spChg>
        <pc:spChg chg="del">
          <ac:chgData name="Bryan Fernando Sarango Rodriguez" userId="b88c460d-539d-4987-a9c8-d95e779f98d2" providerId="ADAL" clId="{1E89EA1A-88B4-4DFE-A539-CD4C542633DC}" dt="2026-09-18T19:48:23.858" v="380" actId="478"/>
          <ac:spMkLst>
            <pc:docMk/>
            <pc:sldMk cId="2122674261" sldId="266"/>
            <ac:spMk id="15" creationId="{45A69EFC-2D69-122C-DC43-9A13B2FDF115}"/>
          </ac:spMkLst>
        </pc:spChg>
        <pc:spChg chg="del mod">
          <ac:chgData name="Bryan Fernando Sarango Rodriguez" userId="b88c460d-539d-4987-a9c8-d95e779f98d2" providerId="ADAL" clId="{1E89EA1A-88B4-4DFE-A539-CD4C542633DC}" dt="2026-09-18T19:57:48.011" v="438" actId="478"/>
          <ac:spMkLst>
            <pc:docMk/>
            <pc:sldMk cId="2122674261" sldId="266"/>
            <ac:spMk id="16" creationId="{FC581F71-7ED6-42FB-0E1D-8669015A2A45}"/>
          </ac:spMkLst>
        </pc:spChg>
        <pc:picChg chg="add mod">
          <ac:chgData name="Bryan Fernando Sarango Rodriguez" userId="b88c460d-539d-4987-a9c8-d95e779f98d2" providerId="ADAL" clId="{1E89EA1A-88B4-4DFE-A539-CD4C542633DC}" dt="2026-09-18T19:51:13.372" v="411" actId="1076"/>
          <ac:picMkLst>
            <pc:docMk/>
            <pc:sldMk cId="2122674261" sldId="266"/>
            <ac:picMk id="18" creationId="{73DA02D6-9C5E-0BBE-3935-DD3029B70FF0}"/>
          </ac:picMkLst>
        </pc:picChg>
        <pc:picChg chg="add mod">
          <ac:chgData name="Bryan Fernando Sarango Rodriguez" userId="b88c460d-539d-4987-a9c8-d95e779f98d2" providerId="ADAL" clId="{1E89EA1A-88B4-4DFE-A539-CD4C542633DC}" dt="2026-09-18T19:51:20.256" v="412" actId="1076"/>
          <ac:picMkLst>
            <pc:docMk/>
            <pc:sldMk cId="2122674261" sldId="266"/>
            <ac:picMk id="20" creationId="{FE2ECFF1-1289-2507-CA3B-35BA4419FAD1}"/>
          </ac:picMkLst>
        </pc:picChg>
      </pc:sldChg>
      <pc:sldChg chg="addSp delSp modSp mod modNotesTx">
        <pc:chgData name="Bryan Fernando Sarango Rodriguez" userId="b88c460d-539d-4987-a9c8-d95e779f98d2" providerId="ADAL" clId="{1E89EA1A-88B4-4DFE-A539-CD4C542633DC}" dt="2026-09-19T17:05:26.523" v="505" actId="403"/>
        <pc:sldMkLst>
          <pc:docMk/>
          <pc:sldMk cId="2225987932" sldId="267"/>
        </pc:sldMkLst>
        <pc:spChg chg="mod">
          <ac:chgData name="Bryan Fernando Sarango Rodriguez" userId="b88c460d-539d-4987-a9c8-d95e779f98d2" providerId="ADAL" clId="{1E89EA1A-88B4-4DFE-A539-CD4C542633DC}" dt="2026-09-19T17:04:14.176" v="488" actId="20577"/>
          <ac:spMkLst>
            <pc:docMk/>
            <pc:sldMk cId="2225987932" sldId="267"/>
            <ac:spMk id="3" creationId="{203DACF2-CCC6-5027-06BF-89731ADF7B76}"/>
          </ac:spMkLst>
        </pc:spChg>
        <pc:spChg chg="del">
          <ac:chgData name="Bryan Fernando Sarango Rodriguez" userId="b88c460d-539d-4987-a9c8-d95e779f98d2" providerId="ADAL" clId="{1E89EA1A-88B4-4DFE-A539-CD4C542633DC}" dt="2026-09-19T16:55:48.012" v="471" actId="478"/>
          <ac:spMkLst>
            <pc:docMk/>
            <pc:sldMk cId="2225987932" sldId="267"/>
            <ac:spMk id="4" creationId="{32313F5E-96C8-A77E-25DB-C5E8FDB3116E}"/>
          </ac:spMkLst>
        </pc:spChg>
        <pc:spChg chg="mod">
          <ac:chgData name="Bryan Fernando Sarango Rodriguez" userId="b88c460d-539d-4987-a9c8-d95e779f98d2" providerId="ADAL" clId="{1E89EA1A-88B4-4DFE-A539-CD4C542633DC}" dt="2026-09-19T17:05:23.103" v="503" actId="403"/>
          <ac:spMkLst>
            <pc:docMk/>
            <pc:sldMk cId="2225987932" sldId="267"/>
            <ac:spMk id="6" creationId="{7211E3C1-C52C-BD64-4101-83D8D50D6396}"/>
          </ac:spMkLst>
        </pc:spChg>
        <pc:spChg chg="mod">
          <ac:chgData name="Bryan Fernando Sarango Rodriguez" userId="b88c460d-539d-4987-a9c8-d95e779f98d2" providerId="ADAL" clId="{1E89EA1A-88B4-4DFE-A539-CD4C542633DC}" dt="2026-09-19T17:05:01.088" v="497" actId="403"/>
          <ac:spMkLst>
            <pc:docMk/>
            <pc:sldMk cId="2225987932" sldId="267"/>
            <ac:spMk id="8" creationId="{8AC838CA-39E3-E624-7DC0-89B62C79A62D}"/>
          </ac:spMkLst>
        </pc:spChg>
        <pc:spChg chg="mod">
          <ac:chgData name="Bryan Fernando Sarango Rodriguez" userId="b88c460d-539d-4987-a9c8-d95e779f98d2" providerId="ADAL" clId="{1E89EA1A-88B4-4DFE-A539-CD4C542633DC}" dt="2026-09-19T17:05:09.300" v="499" actId="403"/>
          <ac:spMkLst>
            <pc:docMk/>
            <pc:sldMk cId="2225987932" sldId="267"/>
            <ac:spMk id="10" creationId="{777FD1CE-3C97-705F-6743-821C9050F394}"/>
          </ac:spMkLst>
        </pc:spChg>
        <pc:spChg chg="mod">
          <ac:chgData name="Bryan Fernando Sarango Rodriguez" userId="b88c460d-539d-4987-a9c8-d95e779f98d2" providerId="ADAL" clId="{1E89EA1A-88B4-4DFE-A539-CD4C542633DC}" dt="2026-09-19T17:05:18.077" v="501" actId="403"/>
          <ac:spMkLst>
            <pc:docMk/>
            <pc:sldMk cId="2225987932" sldId="267"/>
            <ac:spMk id="12" creationId="{30800C5E-AE11-08BF-E524-10E9EABE4C67}"/>
          </ac:spMkLst>
        </pc:spChg>
        <pc:spChg chg="mod">
          <ac:chgData name="Bryan Fernando Sarango Rodriguez" userId="b88c460d-539d-4987-a9c8-d95e779f98d2" providerId="ADAL" clId="{1E89EA1A-88B4-4DFE-A539-CD4C542633DC}" dt="2026-09-19T17:05:26.523" v="505" actId="403"/>
          <ac:spMkLst>
            <pc:docMk/>
            <pc:sldMk cId="2225987932" sldId="267"/>
            <ac:spMk id="14" creationId="{6515B108-CC62-0812-60FD-7782FBD46B05}"/>
          </ac:spMkLst>
        </pc:spChg>
        <pc:spChg chg="del">
          <ac:chgData name="Bryan Fernando Sarango Rodriguez" userId="b88c460d-539d-4987-a9c8-d95e779f98d2" providerId="ADAL" clId="{1E89EA1A-88B4-4DFE-A539-CD4C542633DC}" dt="2026-09-19T16:51:31.795" v="461" actId="478"/>
          <ac:spMkLst>
            <pc:docMk/>
            <pc:sldMk cId="2225987932" sldId="267"/>
            <ac:spMk id="19" creationId="{06043C16-97DD-D2CF-5DCB-479BEB738A7E}"/>
          </ac:spMkLst>
        </pc:spChg>
        <pc:spChg chg="add del">
          <ac:chgData name="Bryan Fernando Sarango Rodriguez" userId="b88c460d-539d-4987-a9c8-d95e779f98d2" providerId="ADAL" clId="{1E89EA1A-88B4-4DFE-A539-CD4C542633DC}" dt="2026-09-19T17:04:41.494" v="492" actId="478"/>
          <ac:spMkLst>
            <pc:docMk/>
            <pc:sldMk cId="2225987932" sldId="267"/>
            <ac:spMk id="20" creationId="{DBFDB834-1F63-6D3A-089A-874BC20A064D}"/>
          </ac:spMkLst>
        </pc:spChg>
        <pc:spChg chg="del">
          <ac:chgData name="Bryan Fernando Sarango Rodriguez" userId="b88c460d-539d-4987-a9c8-d95e779f98d2" providerId="ADAL" clId="{1E89EA1A-88B4-4DFE-A539-CD4C542633DC}" dt="2026-09-19T16:51:34.239" v="462" actId="478"/>
          <ac:spMkLst>
            <pc:docMk/>
            <pc:sldMk cId="2225987932" sldId="267"/>
            <ac:spMk id="21" creationId="{1CE5813F-6D35-9578-0C32-FC0D7B36EF62}"/>
          </ac:spMkLst>
        </pc:spChg>
        <pc:spChg chg="del mod">
          <ac:chgData name="Bryan Fernando Sarango Rodriguez" userId="b88c460d-539d-4987-a9c8-d95e779f98d2" providerId="ADAL" clId="{1E89EA1A-88B4-4DFE-A539-CD4C542633DC}" dt="2026-09-19T16:51:35.272" v="464" actId="478"/>
          <ac:spMkLst>
            <pc:docMk/>
            <pc:sldMk cId="2225987932" sldId="267"/>
            <ac:spMk id="23" creationId="{17DDDFA1-FE3E-1169-2079-D0A8549521ED}"/>
          </ac:spMkLst>
        </pc:spChg>
        <pc:picChg chg="add mod">
          <ac:chgData name="Bryan Fernando Sarango Rodriguez" userId="b88c460d-539d-4987-a9c8-d95e779f98d2" providerId="ADAL" clId="{1E89EA1A-88B4-4DFE-A539-CD4C542633DC}" dt="2026-09-19T17:04:49.510" v="495" actId="1076"/>
          <ac:picMkLst>
            <pc:docMk/>
            <pc:sldMk cId="2225987932" sldId="267"/>
            <ac:picMk id="26" creationId="{661C8A18-D6CC-C386-9892-F425EB5C6702}"/>
          </ac:picMkLst>
        </pc:picChg>
      </pc:sldChg>
      <pc:sldChg chg="delSp modSp mod modNotesTx">
        <pc:chgData name="Bryan Fernando Sarango Rodriguez" userId="b88c460d-539d-4987-a9c8-d95e779f98d2" providerId="ADAL" clId="{1E89EA1A-88B4-4DFE-A539-CD4C542633DC}" dt="2026-09-19T17:28:30.338" v="626"/>
        <pc:sldMkLst>
          <pc:docMk/>
          <pc:sldMk cId="4180128077" sldId="268"/>
        </pc:sldMkLst>
        <pc:spChg chg="mod">
          <ac:chgData name="Bryan Fernando Sarango Rodriguez" userId="b88c460d-539d-4987-a9c8-d95e779f98d2" providerId="ADAL" clId="{1E89EA1A-88B4-4DFE-A539-CD4C542633DC}" dt="2026-09-19T17:16:14.391" v="565" actId="403"/>
          <ac:spMkLst>
            <pc:docMk/>
            <pc:sldMk cId="4180128077" sldId="268"/>
            <ac:spMk id="6" creationId="{B2822728-E1E3-DDAB-11B5-D7B20CFD8D72}"/>
          </ac:spMkLst>
        </pc:spChg>
        <pc:spChg chg="mod">
          <ac:chgData name="Bryan Fernando Sarango Rodriguez" userId="b88c460d-539d-4987-a9c8-d95e779f98d2" providerId="ADAL" clId="{1E89EA1A-88B4-4DFE-A539-CD4C542633DC}" dt="2026-09-19T17:16:19.381" v="568" actId="403"/>
          <ac:spMkLst>
            <pc:docMk/>
            <pc:sldMk cId="4180128077" sldId="268"/>
            <ac:spMk id="7" creationId="{1C835BB7-D948-6A94-EBEE-673B80A1C529}"/>
          </ac:spMkLst>
        </pc:spChg>
        <pc:spChg chg="mod">
          <ac:chgData name="Bryan Fernando Sarango Rodriguez" userId="b88c460d-539d-4987-a9c8-d95e779f98d2" providerId="ADAL" clId="{1E89EA1A-88B4-4DFE-A539-CD4C542633DC}" dt="2026-09-19T17:16:24.465" v="571" actId="403"/>
          <ac:spMkLst>
            <pc:docMk/>
            <pc:sldMk cId="4180128077" sldId="268"/>
            <ac:spMk id="8" creationId="{268D3CE9-DD10-6A77-6EBA-62CE83C863B3}"/>
          </ac:spMkLst>
        </pc:spChg>
        <pc:spChg chg="mod">
          <ac:chgData name="Bryan Fernando Sarango Rodriguez" userId="b88c460d-539d-4987-a9c8-d95e779f98d2" providerId="ADAL" clId="{1E89EA1A-88B4-4DFE-A539-CD4C542633DC}" dt="2026-09-19T17:16:32.817" v="574" actId="403"/>
          <ac:spMkLst>
            <pc:docMk/>
            <pc:sldMk cId="4180128077" sldId="268"/>
            <ac:spMk id="9" creationId="{8132262E-890C-A437-8178-7AF3CE8FE9B6}"/>
          </ac:spMkLst>
        </pc:spChg>
        <pc:spChg chg="mod">
          <ac:chgData name="Bryan Fernando Sarango Rodriguez" userId="b88c460d-539d-4987-a9c8-d95e779f98d2" providerId="ADAL" clId="{1E89EA1A-88B4-4DFE-A539-CD4C542633DC}" dt="2026-09-19T17:16:38.666" v="577" actId="403"/>
          <ac:spMkLst>
            <pc:docMk/>
            <pc:sldMk cId="4180128077" sldId="268"/>
            <ac:spMk id="10" creationId="{4E748304-B7C7-3F5A-ABD7-80435BBBEACF}"/>
          </ac:spMkLst>
        </pc:spChg>
        <pc:spChg chg="mod">
          <ac:chgData name="Bryan Fernando Sarango Rodriguez" userId="b88c460d-539d-4987-a9c8-d95e779f98d2" providerId="ADAL" clId="{1E89EA1A-88B4-4DFE-A539-CD4C542633DC}" dt="2026-09-19T17:15:57.520" v="561" actId="403"/>
          <ac:spMkLst>
            <pc:docMk/>
            <pc:sldMk cId="4180128077" sldId="268"/>
            <ac:spMk id="11" creationId="{CDCC4B14-3106-4AE4-1F0F-550ED173951A}"/>
          </ac:spMkLst>
        </pc:spChg>
        <pc:spChg chg="mod">
          <ac:chgData name="Bryan Fernando Sarango Rodriguez" userId="b88c460d-539d-4987-a9c8-d95e779f98d2" providerId="ADAL" clId="{1E89EA1A-88B4-4DFE-A539-CD4C542633DC}" dt="2026-09-19T17:16:53.443" v="581" actId="403"/>
          <ac:spMkLst>
            <pc:docMk/>
            <pc:sldMk cId="4180128077" sldId="268"/>
            <ac:spMk id="12" creationId="{480D03A8-22CD-3642-BED2-3B18F709F151}"/>
          </ac:spMkLst>
        </pc:spChg>
        <pc:spChg chg="mod">
          <ac:chgData name="Bryan Fernando Sarango Rodriguez" userId="b88c460d-539d-4987-a9c8-d95e779f98d2" providerId="ADAL" clId="{1E89EA1A-88B4-4DFE-A539-CD4C542633DC}" dt="2026-09-19T17:16:03.360" v="562" actId="1076"/>
          <ac:spMkLst>
            <pc:docMk/>
            <pc:sldMk cId="4180128077" sldId="268"/>
            <ac:spMk id="17" creationId="{A7110429-6A62-3CA3-270E-E41C73D6D6D2}"/>
          </ac:spMkLst>
        </pc:spChg>
        <pc:spChg chg="mod">
          <ac:chgData name="Bryan Fernando Sarango Rodriguez" userId="b88c460d-539d-4987-a9c8-d95e779f98d2" providerId="ADAL" clId="{1E89EA1A-88B4-4DFE-A539-CD4C542633DC}" dt="2026-09-19T17:17:00.154" v="585" actId="403"/>
          <ac:spMkLst>
            <pc:docMk/>
            <pc:sldMk cId="4180128077" sldId="268"/>
            <ac:spMk id="19" creationId="{F68173B7-CE87-6ADD-0298-FF17091164A8}"/>
          </ac:spMkLst>
        </pc:spChg>
        <pc:spChg chg="mod">
          <ac:chgData name="Bryan Fernando Sarango Rodriguez" userId="b88c460d-539d-4987-a9c8-d95e779f98d2" providerId="ADAL" clId="{1E89EA1A-88B4-4DFE-A539-CD4C542633DC}" dt="2026-09-19T17:15:17.802" v="539" actId="403"/>
          <ac:spMkLst>
            <pc:docMk/>
            <pc:sldMk cId="4180128077" sldId="268"/>
            <ac:spMk id="23" creationId="{E6415B37-61EA-4F10-3E12-4F44190FD5FB}"/>
          </ac:spMkLst>
        </pc:spChg>
        <pc:spChg chg="mod">
          <ac:chgData name="Bryan Fernando Sarango Rodriguez" userId="b88c460d-539d-4987-a9c8-d95e779f98d2" providerId="ADAL" clId="{1E89EA1A-88B4-4DFE-A539-CD4C542633DC}" dt="2026-09-19T17:17:05.613" v="589" actId="403"/>
          <ac:spMkLst>
            <pc:docMk/>
            <pc:sldMk cId="4180128077" sldId="268"/>
            <ac:spMk id="26" creationId="{F6B6E555-E0B2-D3B2-4F24-8798CA6FE9AB}"/>
          </ac:spMkLst>
        </pc:spChg>
        <pc:spChg chg="mod">
          <ac:chgData name="Bryan Fernando Sarango Rodriguez" userId="b88c460d-539d-4987-a9c8-d95e779f98d2" providerId="ADAL" clId="{1E89EA1A-88B4-4DFE-A539-CD4C542633DC}" dt="2026-09-19T17:15:31.018" v="544" actId="403"/>
          <ac:spMkLst>
            <pc:docMk/>
            <pc:sldMk cId="4180128077" sldId="268"/>
            <ac:spMk id="29" creationId="{79D794E7-B991-620B-6CB1-5F90747B1AD0}"/>
          </ac:spMkLst>
        </pc:spChg>
        <pc:spChg chg="mod">
          <ac:chgData name="Bryan Fernando Sarango Rodriguez" userId="b88c460d-539d-4987-a9c8-d95e779f98d2" providerId="ADAL" clId="{1E89EA1A-88B4-4DFE-A539-CD4C542633DC}" dt="2026-09-19T17:17:12.116" v="593" actId="403"/>
          <ac:spMkLst>
            <pc:docMk/>
            <pc:sldMk cId="4180128077" sldId="268"/>
            <ac:spMk id="33" creationId="{AE3C4AFE-4F8C-E343-3461-05F576DA9A30}"/>
          </ac:spMkLst>
        </pc:spChg>
        <pc:spChg chg="mod">
          <ac:chgData name="Bryan Fernando Sarango Rodriguez" userId="b88c460d-539d-4987-a9c8-d95e779f98d2" providerId="ADAL" clId="{1E89EA1A-88B4-4DFE-A539-CD4C542633DC}" dt="2026-09-19T17:15:37.023" v="548" actId="403"/>
          <ac:spMkLst>
            <pc:docMk/>
            <pc:sldMk cId="4180128077" sldId="268"/>
            <ac:spMk id="35" creationId="{4935086D-CAC6-5F0B-AB13-3DBE4327E5E4}"/>
          </ac:spMkLst>
        </pc:spChg>
        <pc:spChg chg="mod">
          <ac:chgData name="Bryan Fernando Sarango Rodriguez" userId="b88c460d-539d-4987-a9c8-d95e779f98d2" providerId="ADAL" clId="{1E89EA1A-88B4-4DFE-A539-CD4C542633DC}" dt="2026-09-19T17:17:16.264" v="597" actId="403"/>
          <ac:spMkLst>
            <pc:docMk/>
            <pc:sldMk cId="4180128077" sldId="268"/>
            <ac:spMk id="40" creationId="{4A6ACA28-D391-854C-EE56-591CBAF6D6EA}"/>
          </ac:spMkLst>
        </pc:spChg>
        <pc:spChg chg="del">
          <ac:chgData name="Bryan Fernando Sarango Rodriguez" userId="b88c460d-539d-4987-a9c8-d95e779f98d2" providerId="ADAL" clId="{1E89EA1A-88B4-4DFE-A539-CD4C542633DC}" dt="2026-09-19T17:25:27.636" v="611" actId="478"/>
          <ac:spMkLst>
            <pc:docMk/>
            <pc:sldMk cId="4180128077" sldId="268"/>
            <ac:spMk id="42" creationId="{EF80DE11-BF97-F371-4603-80F62899FAAF}"/>
          </ac:spMkLst>
        </pc:spChg>
        <pc:spChg chg="mod">
          <ac:chgData name="Bryan Fernando Sarango Rodriguez" userId="b88c460d-539d-4987-a9c8-d95e779f98d2" providerId="ADAL" clId="{1E89EA1A-88B4-4DFE-A539-CD4C542633DC}" dt="2026-09-19T17:28:30.338" v="626"/>
          <ac:spMkLst>
            <pc:docMk/>
            <pc:sldMk cId="4180128077" sldId="268"/>
            <ac:spMk id="43" creationId="{5E29E518-3B28-F535-AF4E-BDEDE2E0EE33}"/>
          </ac:spMkLst>
        </pc:spChg>
        <pc:spChg chg="del mod">
          <ac:chgData name="Bryan Fernando Sarango Rodriguez" userId="b88c460d-539d-4987-a9c8-d95e779f98d2" providerId="ADAL" clId="{1E89EA1A-88B4-4DFE-A539-CD4C542633DC}" dt="2026-09-19T17:25:25.972" v="610" actId="478"/>
          <ac:spMkLst>
            <pc:docMk/>
            <pc:sldMk cId="4180128077" sldId="268"/>
            <ac:spMk id="44" creationId="{7DC4F94F-744A-7869-5392-AC509401281A}"/>
          </ac:spMkLst>
        </pc:spChg>
        <pc:spChg chg="mod">
          <ac:chgData name="Bryan Fernando Sarango Rodriguez" userId="b88c460d-539d-4987-a9c8-d95e779f98d2" providerId="ADAL" clId="{1E89EA1A-88B4-4DFE-A539-CD4C542633DC}" dt="2026-09-19T17:26:13.361" v="617" actId="14100"/>
          <ac:spMkLst>
            <pc:docMk/>
            <pc:sldMk cId="4180128077" sldId="268"/>
            <ac:spMk id="45" creationId="{879F77FE-38F1-74F0-89BB-77F4A4F538CA}"/>
          </ac:spMkLst>
        </pc:spChg>
        <pc:spChg chg="del">
          <ac:chgData name="Bryan Fernando Sarango Rodriguez" userId="b88c460d-539d-4987-a9c8-d95e779f98d2" providerId="ADAL" clId="{1E89EA1A-88B4-4DFE-A539-CD4C542633DC}" dt="2026-09-19T17:25:23.845" v="608" actId="478"/>
          <ac:spMkLst>
            <pc:docMk/>
            <pc:sldMk cId="4180128077" sldId="268"/>
            <ac:spMk id="46" creationId="{73BB68CB-9673-36AB-0ED2-0B80AF4E15D6}"/>
          </ac:spMkLst>
        </pc:spChg>
        <pc:spChg chg="mod">
          <ac:chgData name="Bryan Fernando Sarango Rodriguez" userId="b88c460d-539d-4987-a9c8-d95e779f98d2" providerId="ADAL" clId="{1E89EA1A-88B4-4DFE-A539-CD4C542633DC}" dt="2026-09-19T17:28:04.796" v="625" actId="1076"/>
          <ac:spMkLst>
            <pc:docMk/>
            <pc:sldMk cId="4180128077" sldId="268"/>
            <ac:spMk id="47" creationId="{4338D51D-7496-05CE-C02A-1F9ACDD9A364}"/>
          </ac:spMkLst>
        </pc:spChg>
        <pc:spChg chg="del">
          <ac:chgData name="Bryan Fernando Sarango Rodriguez" userId="b88c460d-539d-4987-a9c8-d95e779f98d2" providerId="ADAL" clId="{1E89EA1A-88B4-4DFE-A539-CD4C542633DC}" dt="2026-09-19T17:25:23.012" v="607" actId="478"/>
          <ac:spMkLst>
            <pc:docMk/>
            <pc:sldMk cId="4180128077" sldId="268"/>
            <ac:spMk id="48" creationId="{F9058214-E964-4D11-9FAA-3A49DE9AA06F}"/>
          </ac:spMkLst>
        </pc:spChg>
        <pc:spChg chg="mod">
          <ac:chgData name="Bryan Fernando Sarango Rodriguez" userId="b88c460d-539d-4987-a9c8-d95e779f98d2" providerId="ADAL" clId="{1E89EA1A-88B4-4DFE-A539-CD4C542633DC}" dt="2026-09-19T17:27:14.933" v="621"/>
          <ac:spMkLst>
            <pc:docMk/>
            <pc:sldMk cId="4180128077" sldId="268"/>
            <ac:spMk id="49" creationId="{CA15DA61-8B86-BDC3-3A44-53008CCC2D84}"/>
          </ac:spMkLst>
        </pc:spChg>
      </pc:sldChg>
      <pc:sldChg chg="mod modShow modNotesTx">
        <pc:chgData name="Bryan Fernando Sarango Rodriguez" userId="b88c460d-539d-4987-a9c8-d95e779f98d2" providerId="ADAL" clId="{1E89EA1A-88B4-4DFE-A539-CD4C542633DC}" dt="2026-09-19T17:45:58.884" v="636" actId="729"/>
        <pc:sldMkLst>
          <pc:docMk/>
          <pc:sldMk cId="704994418" sldId="269"/>
        </pc:sldMkLst>
      </pc:sldChg>
      <pc:sldChg chg="modNotesTx">
        <pc:chgData name="Bryan Fernando Sarango Rodriguez" userId="b88c460d-539d-4987-a9c8-d95e779f98d2" providerId="ADAL" clId="{1E89EA1A-88B4-4DFE-A539-CD4C542633DC}" dt="2026-09-19T17:51:48.268" v="637" actId="20577"/>
        <pc:sldMkLst>
          <pc:docMk/>
          <pc:sldMk cId="225520675" sldId="270"/>
        </pc:sldMkLst>
      </pc:sldChg>
      <pc:sldChg chg="delSp modSp mod">
        <pc:chgData name="Bryan Fernando Sarango Rodriguez" userId="b88c460d-539d-4987-a9c8-d95e779f98d2" providerId="ADAL" clId="{1E89EA1A-88B4-4DFE-A539-CD4C542633DC}" dt="2026-09-18T14:02:44.242" v="1"/>
        <pc:sldMkLst>
          <pc:docMk/>
          <pc:sldMk cId="1118539507" sldId="279"/>
        </pc:sldMkLst>
        <pc:spChg chg="del">
          <ac:chgData name="Bryan Fernando Sarango Rodriguez" userId="b88c460d-539d-4987-a9c8-d95e779f98d2" providerId="ADAL" clId="{1E89EA1A-88B4-4DFE-A539-CD4C542633DC}" dt="2026-09-18T14:00:57.053" v="0" actId="478"/>
          <ac:spMkLst>
            <pc:docMk/>
            <pc:sldMk cId="1118539507" sldId="279"/>
            <ac:spMk id="5" creationId="{3969AEE9-D884-48D2-BDD1-8D7268B46C50}"/>
          </ac:spMkLst>
        </pc:spChg>
        <pc:spChg chg="mod">
          <ac:chgData name="Bryan Fernando Sarango Rodriguez" userId="b88c460d-539d-4987-a9c8-d95e779f98d2" providerId="ADAL" clId="{1E89EA1A-88B4-4DFE-A539-CD4C542633DC}" dt="2026-09-18T14:02:44.242" v="1"/>
          <ac:spMkLst>
            <pc:docMk/>
            <pc:sldMk cId="1118539507" sldId="279"/>
            <ac:spMk id="7" creationId="{AAE5017B-57FB-C6AD-2B56-D41299E2DA62}"/>
          </ac:spMkLst>
        </pc:spChg>
      </pc:sldChg>
      <pc:sldChg chg="modSp mod modNotesTx">
        <pc:chgData name="Bryan Fernando Sarango Rodriguez" userId="b88c460d-539d-4987-a9c8-d95e779f98d2" providerId="ADAL" clId="{1E89EA1A-88B4-4DFE-A539-CD4C542633DC}" dt="2026-09-18T14:08:46.364" v="3"/>
        <pc:sldMkLst>
          <pc:docMk/>
          <pc:sldMk cId="686652667" sldId="281"/>
        </pc:sldMkLst>
        <pc:spChg chg="mod">
          <ac:chgData name="Bryan Fernando Sarango Rodriguez" userId="b88c460d-539d-4987-a9c8-d95e779f98d2" providerId="ADAL" clId="{1E89EA1A-88B4-4DFE-A539-CD4C542633DC}" dt="2026-09-18T14:08:01.964" v="2"/>
          <ac:spMkLst>
            <pc:docMk/>
            <pc:sldMk cId="686652667" sldId="281"/>
            <ac:spMk id="2" creationId="{32666AC8-2E17-4DB4-B0F5-60C640CCFD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BC9F-7560-4436-9A01-0BBF1B941BA4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0A6FD-9F9E-4280-ADBD-8C6AE3D90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51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Bom dia. O tema é o </a:t>
            </a:r>
            <a:r>
              <a:rPr lang="pt-BR" dirty="0" err="1"/>
              <a:t>AutoGluon</a:t>
            </a:r>
            <a:r>
              <a:rPr lang="pt-BR" dirty="0"/>
              <a:t>-Tabular, framework de </a:t>
            </a:r>
            <a:r>
              <a:rPr lang="pt-BR" dirty="0" err="1"/>
              <a:t>AutoML</a:t>
            </a:r>
            <a:r>
              <a:rPr lang="pt-BR" dirty="0"/>
              <a:t> para dados tabulares criado na </a:t>
            </a:r>
            <a:r>
              <a:rPr lang="pt-BR" dirty="0" err="1"/>
              <a:t>Amazon</a:t>
            </a:r>
            <a:r>
              <a:rPr lang="pt-BR" dirty="0"/>
              <a:t>.</a:t>
            </a:r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fazer Machine Learning, na prática: pegar dados, escolher um algoritmo, ajustá-lo e avaliar se ele acerta em dados novos.</a:t>
            </a:r>
          </a:p>
          <a:p>
            <a:endParaRPr lang="pt-BR" dirty="0"/>
          </a:p>
          <a:p>
            <a:r>
              <a:rPr lang="pt-BR" dirty="0"/>
              <a:t>Cada passo é uma decisão humana: limpar os dados, criar atributos, escolher entre dezenas de algoritmos, ajustar </a:t>
            </a:r>
            <a:r>
              <a:rPr lang="pt-BR" dirty="0" err="1"/>
              <a:t>hiperparâmetros</a:t>
            </a:r>
            <a:r>
              <a:rPr lang="pt-BR" dirty="0"/>
              <a:t>, validar. Errar em qualquer um deles compromete o resultado.</a:t>
            </a:r>
          </a:p>
          <a:p>
            <a:r>
              <a:rPr lang="pt-BR" dirty="0"/>
              <a:t>O problema cresceu com o próprio sucesso do ML: mais aplicações (saúde, finanças, indústria, </a:t>
            </a:r>
            <a:r>
              <a:rPr lang="pt-BR" dirty="0" err="1"/>
              <a:t>telecom</a:t>
            </a:r>
            <a:r>
              <a:rPr lang="pt-BR" dirty="0"/>
              <a:t>) e mais técnicas — o repertório de boas práticas ficou grande demais para caber na cabeça de uma pessoa.</a:t>
            </a:r>
          </a:p>
          <a:p>
            <a:endParaRPr lang="pt-BR" dirty="0"/>
          </a:p>
          <a:p>
            <a:r>
              <a:rPr lang="pt-BR" dirty="0" err="1"/>
              <a:t>AutoML</a:t>
            </a:r>
            <a:r>
              <a:rPr lang="pt-BR" dirty="0"/>
              <a:t>, a ideia básica: </a:t>
            </a:r>
            <a:r>
              <a:rPr lang="pt-BR" dirty="0" err="1"/>
              <a:t>è</a:t>
            </a:r>
            <a:r>
              <a:rPr lang="pt-BR" dirty="0"/>
              <a:t> um programa que toma essas decisões sozinho. Você entrega os dados e diz o que quer prever; ele devolve um modelo pronto.</a:t>
            </a:r>
          </a:p>
          <a:p>
            <a:r>
              <a:rPr lang="pt-BR" dirty="0"/>
              <a:t>O que isso muda: para o iniciante, remove a barreira de entrada; para o especialista, codifica o que ele já sabe fazer e permite repetir em dezenas de projetos.</a:t>
            </a:r>
          </a:p>
          <a:p>
            <a:r>
              <a:rPr lang="pt-BR" dirty="0"/>
              <a:t>A pergunta que nos leva ao próximo slide: automatizar é fácil quando os dados são "bem-comportados".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545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por que dados tabulares são um problema próprio.</a:t>
            </a:r>
          </a:p>
          <a:p>
            <a:r>
              <a:rPr lang="pt-BR" dirty="0"/>
              <a:t>ENFATIZAR: Heterogeneidade é o problema central; o gargalo é o pré-processamento.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O objeto de estudo: uma tabela. Cada linha é uma observação independente; cada coluna, uma variável. A figura mostra uma tabela real: região e produto são categóricas, vendas e estoque são numéricas, e em dados reais ainda haveria texto livre, datas, identificadores e células vazias. Essa heterogeneidade é o problema central. </a:t>
            </a:r>
          </a:p>
          <a:p>
            <a:endParaRPr lang="pt-BR" dirty="0"/>
          </a:p>
          <a:p>
            <a:r>
              <a:rPr lang="pt-BR" dirty="0"/>
              <a:t>Tabelas também não têm a estrutura que redes </a:t>
            </a:r>
            <a:r>
              <a:rPr lang="pt-BR" dirty="0" err="1"/>
              <a:t>convolucionais</a:t>
            </a:r>
            <a:r>
              <a:rPr lang="pt-BR" dirty="0"/>
              <a:t> e recorrentes exploram, por isso modelos de árvore dominam esse domínio. E a maioria dos frameworks só aceita dados já limpos e numéricos, devolvendo ao humano justamente a parte mais tediosa.</a:t>
            </a:r>
          </a:p>
          <a:p>
            <a:endParaRPr lang="pt-BR" dirty="0"/>
          </a:p>
          <a:p>
            <a:r>
              <a:rPr lang="pt-BR" dirty="0"/>
              <a:t>Reparem no trecho de código embaixo: são as três linhas com que o </a:t>
            </a:r>
            <a:r>
              <a:rPr lang="pt-BR" dirty="0" err="1"/>
              <a:t>AutoGluon</a:t>
            </a:r>
            <a:r>
              <a:rPr lang="pt-BR" dirty="0"/>
              <a:t> treina e prevê a partir dessa tabela crua. É a promessa que vamos destrinchar.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Definir CASH e apresentar a crítica que motiva o </a:t>
            </a:r>
            <a:r>
              <a:rPr lang="pt-BR" dirty="0" err="1"/>
              <a:t>AutoGluon</a:t>
            </a:r>
            <a:r>
              <a:rPr lang="pt-BR" dirty="0"/>
              <a:t>.</a:t>
            </a:r>
          </a:p>
          <a:p>
            <a:r>
              <a:rPr lang="pt-BR" dirty="0"/>
              <a:t>ENFATIZAR: Toda a literatura anterior é CASH; o </a:t>
            </a:r>
            <a:r>
              <a:rPr lang="pt-BR" dirty="0" err="1"/>
              <a:t>AutoGluon</a:t>
            </a:r>
            <a:r>
              <a:rPr lang="pt-BR" dirty="0"/>
              <a:t> não faz busca alguma.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 err="1"/>
              <a:t>AutoML</a:t>
            </a:r>
            <a:r>
              <a:rPr lang="pt-BR" dirty="0"/>
              <a:t>, na definição mais ampla, é a automação do pipeline de aprendizado supervisionado: do dado cru até a predição, passando por preparação de dados, escolha de algoritmo, ajuste de </a:t>
            </a:r>
            <a:r>
              <a:rPr lang="pt-BR" dirty="0" err="1"/>
              <a:t>hiperparâmetros</a:t>
            </a:r>
            <a:r>
              <a:rPr lang="pt-BR" dirty="0"/>
              <a:t> e combinação de modelos. </a:t>
            </a:r>
          </a:p>
          <a:p>
            <a:endParaRPr lang="pt-BR" dirty="0"/>
          </a:p>
          <a:p>
            <a:r>
              <a:rPr lang="pt-BR" dirty="0"/>
              <a:t>Mas quase toda a literatura reduziu isso ao que a figura mostra: CASH, </a:t>
            </a:r>
            <a:r>
              <a:rPr lang="pt-BR" dirty="0" err="1"/>
              <a:t>Combined</a:t>
            </a:r>
            <a:r>
              <a:rPr lang="pt-BR" dirty="0"/>
              <a:t> </a:t>
            </a:r>
            <a:r>
              <a:rPr lang="pt-BR" dirty="0" err="1"/>
              <a:t>Algorithm</a:t>
            </a:r>
            <a:r>
              <a:rPr lang="pt-BR" dirty="0"/>
              <a:t> </a:t>
            </a:r>
            <a:r>
              <a:rPr lang="pt-BR" dirty="0" err="1"/>
              <a:t>Selection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Hyperparameter</a:t>
            </a:r>
            <a:r>
              <a:rPr lang="pt-BR" dirty="0"/>
              <a:t> </a:t>
            </a:r>
            <a:r>
              <a:rPr lang="pt-BR" dirty="0" err="1"/>
              <a:t>optimization</a:t>
            </a:r>
            <a:r>
              <a:rPr lang="pt-BR" dirty="0"/>
              <a:t>. Formalmente: dado um conjunto de algoritmos, cada um com seu espaço de </a:t>
            </a:r>
            <a:r>
              <a:rPr lang="pt-BR" dirty="0" err="1"/>
              <a:t>hiperparâmetros</a:t>
            </a:r>
            <a:r>
              <a:rPr lang="pt-BR" dirty="0"/>
              <a:t>, encontrar o par algoritmo-configuração que minimiza a perda de validação. </a:t>
            </a:r>
            <a:r>
              <a:rPr lang="pt-BR" dirty="0" err="1"/>
              <a:t>Auto-WEKA</a:t>
            </a:r>
            <a:r>
              <a:rPr lang="pt-BR" dirty="0"/>
              <a:t> resolve isso com otimização bayesiana; </a:t>
            </a:r>
            <a:r>
              <a:rPr lang="pt-BR" dirty="0" err="1"/>
              <a:t>auto-sklearn</a:t>
            </a:r>
            <a:r>
              <a:rPr lang="pt-BR" dirty="0"/>
              <a:t> acrescenta meta-</a:t>
            </a:r>
            <a:r>
              <a:rPr lang="pt-BR" dirty="0" err="1"/>
              <a:t>learning</a:t>
            </a:r>
            <a:r>
              <a:rPr lang="pt-BR" dirty="0"/>
              <a:t> para começar a busca de um ponto melhor; TPOT usa programação genética.</a:t>
            </a:r>
          </a:p>
          <a:p>
            <a:endParaRPr lang="pt-BR" dirty="0"/>
          </a:p>
          <a:p>
            <a:r>
              <a:rPr lang="pt-BR" dirty="0"/>
              <a:t>O problema é que essa busca é não convexa, não suave e, na prática, intratável. O que acontece então? Gasta-se uma fração enorme do tempo avaliando configurações ruins, combinações que nenhum cientista de dados experiente sequer testaria. É computação desperdiçada.</a:t>
            </a:r>
          </a:p>
          <a:p>
            <a:endParaRPr lang="pt-BR" dirty="0"/>
          </a:p>
          <a:p>
            <a:r>
              <a:rPr lang="pt-BR" dirty="0"/>
              <a:t>A aposta do </a:t>
            </a:r>
            <a:r>
              <a:rPr lang="pt-BR" dirty="0" err="1"/>
              <a:t>AutoGluon</a:t>
            </a:r>
            <a:r>
              <a:rPr lang="pt-BR" dirty="0"/>
              <a:t>, CASH é só uma peça do </a:t>
            </a:r>
            <a:r>
              <a:rPr lang="pt-BR" dirty="0" err="1"/>
              <a:t>AutoML</a:t>
            </a:r>
            <a:r>
              <a:rPr lang="pt-BR" dirty="0"/>
              <a:t>. Se em vez de procurar o melhor modelo gastarmos o mesmo orçamento treinando vários modelos razoáveis, com </a:t>
            </a:r>
            <a:r>
              <a:rPr lang="pt-BR" dirty="0" err="1"/>
              <a:t>hiperparâmetros</a:t>
            </a:r>
            <a:r>
              <a:rPr lang="pt-BR" dirty="0"/>
              <a:t> padrão bem escolhidos, e combinando-os de forma inteligente, o resultado será melhor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663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Apresentar a ferramenta e seus princípios.</a:t>
            </a:r>
          </a:p>
          <a:p>
            <a:r>
              <a:rPr lang="pt-BR" dirty="0"/>
              <a:t>ENFATIZAR: Tempo previsível e robustez: vários concorrentes não os cumprem.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O </a:t>
            </a:r>
            <a:r>
              <a:rPr lang="pt-BR" dirty="0" err="1"/>
              <a:t>AutoGluon</a:t>
            </a:r>
            <a:r>
              <a:rPr lang="pt-BR" dirty="0"/>
              <a:t>-Tabular é uma biblioteca Python de código aberto, criada na </a:t>
            </a:r>
            <a:r>
              <a:rPr lang="pt-BR" dirty="0" err="1"/>
              <a:t>Amazon</a:t>
            </a:r>
            <a:r>
              <a:rPr lang="pt-BR" dirty="0"/>
              <a:t> e publicada em 2020, para classificação e regressão em dados tabulares. </a:t>
            </a:r>
          </a:p>
          <a:p>
            <a:endParaRPr lang="pt-BR" dirty="0"/>
          </a:p>
          <a:p>
            <a:r>
              <a:rPr lang="pt-BR" dirty="0"/>
              <a:t>A figura resume a promessa de interface: o ciclo manual de definir, coletar, </a:t>
            </a:r>
            <a:r>
              <a:rPr lang="pt-BR" dirty="0" err="1"/>
              <a:t>pré</a:t>
            </a:r>
            <a:r>
              <a:rPr lang="pt-BR" dirty="0"/>
              <a:t>-processar, treinar e avaliar colapsa em um passo.</a:t>
            </a:r>
          </a:p>
          <a:p>
            <a:r>
              <a:rPr lang="pt-BR" dirty="0"/>
              <a:t>Você aponta para um CSV, indica a coluna-alvo e recebe um preditor. O que sustenta isso são quatro princípios de projeto: simplicidade, o usuário não precisa conhecer dados nem modelos; robustez, funciona em tabelas muito diferentes e continua se um modelo falhar; tolerância a falhas, pode ser interrompido e retomado; e tempo previsível, quatro horas pedidas são quatro horas entregues.</a:t>
            </a:r>
          </a:p>
          <a:p>
            <a:endParaRPr lang="pt-BR" dirty="0"/>
          </a:p>
          <a:p>
            <a:r>
              <a:rPr lang="pt-BR" dirty="0"/>
              <a:t>E a contribuição que os autores reivindicam: as ideias já existiam na comunidade </a:t>
            </a:r>
            <a:r>
              <a:rPr lang="pt-BR" dirty="0" err="1"/>
              <a:t>Kaggle</a:t>
            </a:r>
            <a:r>
              <a:rPr lang="pt-BR" dirty="0"/>
              <a:t>; o </a:t>
            </a:r>
            <a:r>
              <a:rPr lang="pt-BR" dirty="0" err="1"/>
              <a:t>AutoGluon</a:t>
            </a:r>
            <a:r>
              <a:rPr lang="pt-BR" dirty="0"/>
              <a:t> é o primeiro a codificá-las todas em um só sistema.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*NOP*Fecho com a contribuição que os próprios autores destacam: as ideias individuais, </a:t>
            </a:r>
            <a:r>
              <a:rPr lang="pt-BR" dirty="0" err="1"/>
              <a:t>bagging</a:t>
            </a:r>
            <a:r>
              <a:rPr lang="pt-BR" dirty="0"/>
              <a:t>, </a:t>
            </a:r>
            <a:r>
              <a:rPr lang="pt-BR" dirty="0" err="1"/>
              <a:t>stacking</a:t>
            </a:r>
            <a:r>
              <a:rPr lang="pt-BR" dirty="0"/>
              <a:t>, </a:t>
            </a:r>
            <a:r>
              <a:rPr lang="pt-BR" dirty="0" err="1"/>
              <a:t>embeddings</a:t>
            </a:r>
            <a:r>
              <a:rPr lang="pt-BR" dirty="0"/>
              <a:t>, já eram conhecidas, muitas delas na comunidade </a:t>
            </a:r>
            <a:r>
              <a:rPr lang="pt-BR" dirty="0" err="1"/>
              <a:t>Kaggle</a:t>
            </a:r>
            <a:r>
              <a:rPr lang="pt-BR" dirty="0"/>
              <a:t>. O que não existia era um sistema que codificasse todas elas de forma robusta e unificada. É isso que o </a:t>
            </a:r>
            <a:r>
              <a:rPr lang="pt-BR" dirty="0" err="1"/>
              <a:t>AutoGluon</a:t>
            </a:r>
            <a:r>
              <a:rPr lang="pt-BR" dirty="0"/>
              <a:t> é: engenharia cuidadosa de práticas conhecidas, mais algumas extensões próprias que veremos em detalhe.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356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Comparar o </a:t>
            </a:r>
            <a:r>
              <a:rPr lang="pt-BR" dirty="0" err="1"/>
              <a:t>AutoGluon</a:t>
            </a:r>
            <a:r>
              <a:rPr lang="pt-BR" dirty="0"/>
              <a:t> frente aos </a:t>
            </a:r>
            <a:r>
              <a:rPr lang="pt-BR" dirty="0" err="1"/>
              <a:t>otros</a:t>
            </a:r>
            <a:r>
              <a:rPr lang="pt-BR" dirty="0"/>
              <a:t> framework (Tabela 1).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A Tabela 1 do artigo, resumida. Olhem duas colunas. Dados crus: só H2O, o serviço da Google e o </a:t>
            </a:r>
            <a:r>
              <a:rPr lang="pt-BR" dirty="0" err="1"/>
              <a:t>AutoGluon</a:t>
            </a:r>
            <a:r>
              <a:rPr lang="pt-BR" dirty="0"/>
              <a:t> aceitam uma tabela com faltantes e valores não numéricos; os outros exigem limpeza manual.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 a estratégia CASH: todos fazem alguma busca: bayesiana, genética, aleatória; o </a:t>
            </a:r>
            <a:r>
              <a:rPr lang="pt-BR" dirty="0" err="1"/>
              <a:t>AutoGluon</a:t>
            </a:r>
            <a:r>
              <a:rPr lang="pt-BR" dirty="0"/>
              <a:t> simplesmente não busca nada, usa padrões fixos(Usa </a:t>
            </a:r>
            <a:r>
              <a:rPr lang="pt-BR" dirty="0" err="1"/>
              <a:t>hiperparâmetros</a:t>
            </a:r>
            <a:r>
              <a:rPr lang="pt-BR" dirty="0"/>
              <a:t> padrão definidos a priori, adaptados por regras fixas ao tamanho dos dados. Isso é uma decisão de projeto deliberada, não uma limitação.)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</a:t>
            </a:r>
            <a:r>
              <a:rPr lang="pt-BR" dirty="0" err="1"/>
              <a:t>ensembling</a:t>
            </a:r>
            <a:r>
              <a:rPr lang="pt-BR" dirty="0"/>
              <a:t>. Todos combinam modelos de alguma forma, mas apenas o </a:t>
            </a:r>
            <a:r>
              <a:rPr lang="pt-BR" dirty="0" err="1"/>
              <a:t>AutoGluon</a:t>
            </a:r>
            <a:r>
              <a:rPr lang="pt-BR" dirty="0"/>
              <a:t> empilha em várias camadas e repete o </a:t>
            </a:r>
            <a:r>
              <a:rPr lang="pt-BR" dirty="0" err="1"/>
              <a:t>bagging</a:t>
            </a:r>
            <a:r>
              <a:rPr lang="pt-BR" dirty="0"/>
              <a:t>. É aqui que o sistema investe o tempo que os outros gastam em busca.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441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Como dados crus viram entradas confiáveis sem intervenção humana.</a:t>
            </a:r>
          </a:p>
          <a:p>
            <a:r>
              <a:rPr lang="pt-BR" dirty="0"/>
              <a:t>ENFATIZAR: A categoria </a:t>
            </a:r>
            <a:r>
              <a:rPr lang="pt-BR" dirty="0" err="1"/>
              <a:t>Unknown</a:t>
            </a:r>
            <a:r>
              <a:rPr lang="pt-BR" dirty="0"/>
              <a:t> e a justificativa MNAR.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pPr rtl="0"/>
            <a:r>
              <a:rPr lang="pt-BR" dirty="0"/>
              <a:t>O sistema primeiro olha a coluna-alvo e decide o tipo de problema: se é texto ou categoria, é classificação; se é numérico contínuo, é regressão. A partir daí, o pré-processamento acontece em dois estágios, e essa divisão é o que garante eficiência sem perder qualidade.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estágio agnóstico é feito uma única vez, igual para todos os modelos: é aqui que cada coluna é tipificada — numérica fica como está, categórica é identificada, texto vira n-gramas, data vira atributos numéricos, e identificadores únicos são descartados, porque memorizar uma chave não generaliza para dados novos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estágio específico, em seguida, adapta uma cópia desses dados para cada modelo, porque cada um precisa de algo diferente: árvores como </a:t>
            </a:r>
            <a:r>
              <a:rPr lang="pt-BR" dirty="0" err="1"/>
              <a:t>LightGBM</a:t>
            </a:r>
            <a:r>
              <a:rPr lang="pt-BR" dirty="0"/>
              <a:t> e </a:t>
            </a:r>
            <a:r>
              <a:rPr lang="pt-BR" dirty="0" err="1"/>
              <a:t>CatBoost</a:t>
            </a:r>
            <a:r>
              <a:rPr lang="pt-BR" dirty="0"/>
              <a:t> tratam categóricas e faltantes nativamente e não precisam de escalonamento, já que suas divisões são invariantes à escala; a rede neural e o </a:t>
            </a:r>
            <a:r>
              <a:rPr lang="pt-BR" dirty="0" err="1"/>
              <a:t>kNN</a:t>
            </a:r>
            <a:r>
              <a:rPr lang="pt-BR" dirty="0"/>
              <a:t>, que dependem de distância e gradiente, precisam de imputação e normalização.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ponto conceitual mais importante: um faltante em categórica vira a própria categoria </a:t>
            </a:r>
            <a:r>
              <a:rPr lang="pt-BR" dirty="0" err="1"/>
              <a:t>Unknown</a:t>
            </a:r>
            <a:r>
              <a:rPr lang="pt-BR" dirty="0"/>
              <a:t>, sem imputar. A justificativa é estatística — dados raramente faltam ao acaso, então a ausência carrega evidência que a imputação apagaria. E, pelo mesmo mecanismo, uma categoria nunca vista no teste também cai em </a:t>
            </a:r>
            <a:r>
              <a:rPr lang="pt-BR" dirty="0" err="1"/>
              <a:t>Unknown</a:t>
            </a:r>
            <a:r>
              <a:rPr lang="pt-BR" dirty="0"/>
              <a:t>, sem quebrar o modelo.</a:t>
            </a:r>
          </a:p>
          <a:p>
            <a:pPr rtl="0"/>
            <a:r>
              <a:rPr lang="pt-BR" dirty="0"/>
              <a:t>Por isso o pré-processamento do </a:t>
            </a:r>
            <a:r>
              <a:rPr lang="pt-BR" dirty="0" err="1"/>
              <a:t>AutoGluon</a:t>
            </a:r>
            <a:r>
              <a:rPr lang="pt-BR" dirty="0"/>
              <a:t> não é sofisticado; é cuidadoso."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561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os dados prontos, quais modelos o </a:t>
            </a:r>
            <a:r>
              <a:rPr lang="pt-BR" dirty="0" err="1"/>
              <a:t>AutoGluon</a:t>
            </a:r>
            <a:r>
              <a:rPr lang="pt-BR" dirty="0"/>
              <a:t> treina? </a:t>
            </a:r>
          </a:p>
          <a:p>
            <a:endParaRPr lang="pt-BR" dirty="0"/>
          </a:p>
          <a:p>
            <a:r>
              <a:rPr lang="pt-BR" dirty="0"/>
              <a:t>Random Forest e </a:t>
            </a:r>
            <a:r>
              <a:rPr lang="pt-BR" dirty="0" err="1"/>
              <a:t>Extremely</a:t>
            </a:r>
            <a:r>
              <a:rPr lang="pt-BR" dirty="0"/>
              <a:t> </a:t>
            </a:r>
            <a:r>
              <a:rPr lang="pt-BR" dirty="0" err="1"/>
              <a:t>Randomized</a:t>
            </a:r>
            <a:r>
              <a:rPr lang="pt-BR" dirty="0"/>
              <a:t> </a:t>
            </a:r>
            <a:r>
              <a:rPr lang="pt-BR" dirty="0" err="1"/>
              <a:t>Trees</a:t>
            </a:r>
            <a:r>
              <a:rPr lang="pt-BR" dirty="0"/>
              <a:t>, ambos do </a:t>
            </a:r>
            <a:r>
              <a:rPr lang="pt-BR" dirty="0" err="1"/>
              <a:t>scikit-learn</a:t>
            </a:r>
            <a:r>
              <a:rPr lang="pt-BR" dirty="0"/>
              <a:t>, que abrem o treino porque quase nunca falham; </a:t>
            </a:r>
          </a:p>
          <a:p>
            <a:r>
              <a:rPr lang="pt-BR" dirty="0" err="1"/>
              <a:t>LightGBM</a:t>
            </a:r>
            <a:r>
              <a:rPr lang="pt-BR" dirty="0"/>
              <a:t> e </a:t>
            </a:r>
            <a:r>
              <a:rPr lang="pt-BR" dirty="0" err="1"/>
              <a:t>CatBoost</a:t>
            </a:r>
            <a:r>
              <a:rPr lang="pt-BR" dirty="0"/>
              <a:t>, os modelos mais fortes individualmente para tabelas heterogêneas; </a:t>
            </a:r>
          </a:p>
          <a:p>
            <a:r>
              <a:rPr lang="pt-BR" dirty="0"/>
              <a:t>uma rede neural projetada pelos autores; e k-vizinhos, que é barato e traz um tipo de diversidade que os outros não têm.</a:t>
            </a:r>
          </a:p>
          <a:p>
            <a:endParaRPr lang="pt-BR" dirty="0"/>
          </a:p>
          <a:p>
            <a:r>
              <a:rPr lang="pt-BR" dirty="0"/>
              <a:t>A palavra-chave é diversidade: árvores fazem fronteiras alinhadas aos eixos, a rede faz fronteiras suaves, o </a:t>
            </a:r>
            <a:r>
              <a:rPr lang="pt-BR" dirty="0" err="1"/>
              <a:t>kNN</a:t>
            </a:r>
            <a:r>
              <a:rPr lang="pt-BR" dirty="0"/>
              <a:t> decide localmente; </a:t>
            </a:r>
            <a:r>
              <a:rPr lang="pt-BR" dirty="0" err="1"/>
              <a:t>Entao</a:t>
            </a:r>
            <a:r>
              <a:rPr lang="pt-BR" dirty="0"/>
              <a:t> o ganho de combinar modelos vem de erros pouco correlacionados, </a:t>
            </a:r>
            <a:r>
              <a:rPr lang="pt-BR" dirty="0" err="1"/>
              <a:t>è</a:t>
            </a:r>
            <a:r>
              <a:rPr lang="pt-BR" dirty="0"/>
              <a:t> o que um ensemble precisa. </a:t>
            </a:r>
          </a:p>
          <a:p>
            <a:endParaRPr lang="pt-BR" dirty="0"/>
          </a:p>
          <a:p>
            <a:r>
              <a:rPr lang="pt-BR" dirty="0"/>
              <a:t>A ordem de treinamento é fixa : confiáveis primeiro, caros e instáveis depois, para garantir um resultado mesmo com tempo apertado. Se o orçamento de tempo é curto, o sistema garante pelo menos um Random Forest antes de tentar uma rede neural que pode não convergir.</a:t>
            </a:r>
          </a:p>
          <a:p>
            <a:endParaRPr lang="pt-BR" dirty="0"/>
          </a:p>
          <a:p>
            <a:r>
              <a:rPr lang="pt-BR" dirty="0"/>
              <a:t>Não há busca de </a:t>
            </a:r>
            <a:r>
              <a:rPr lang="pt-BR" dirty="0" err="1"/>
              <a:t>hiperparâmetros</a:t>
            </a:r>
            <a:r>
              <a:rPr lang="pt-BR" dirty="0"/>
              <a:t>; os valores são padrões escolhidos antes de ver os dados de benchmark, o que reforça a honestidade dos resultados.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992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Detalhar a arquitetura da Figura 1 e a </a:t>
            </a:r>
            <a:r>
              <a:rPr lang="pt-BR" dirty="0" err="1"/>
              <a:t>fig</a:t>
            </a:r>
            <a:r>
              <a:rPr lang="pt-BR" dirty="0"/>
              <a:t> explica por quê.</a:t>
            </a:r>
          </a:p>
          <a:p>
            <a:endParaRPr lang="pt-BR" dirty="0"/>
          </a:p>
          <a:p>
            <a:r>
              <a:rPr lang="pt-BR" dirty="0"/>
              <a:t>Leiam de baixo para cima: cada variável categórica recebe seu próprio </a:t>
            </a:r>
            <a:r>
              <a:rPr lang="pt-BR" dirty="0" err="1"/>
              <a:t>embedding</a:t>
            </a:r>
            <a:r>
              <a:rPr lang="pt-BR" dirty="0"/>
              <a:t>, um vetor denso aprendido, no lugar do </a:t>
            </a:r>
            <a:r>
              <a:rPr lang="pt-BR" dirty="0" err="1"/>
              <a:t>one</a:t>
            </a:r>
            <a:r>
              <a:rPr lang="pt-BR" dirty="0"/>
              <a:t>-hot esparso; </a:t>
            </a:r>
          </a:p>
          <a:p>
            <a:r>
              <a:rPr lang="pt-BR" dirty="0"/>
              <a:t>as numéricas passam por uma camada densa; tudo é concatenado e alimenta três blocos densos com </a:t>
            </a:r>
            <a:r>
              <a:rPr lang="pt-BR" dirty="0" err="1"/>
              <a:t>ReLU</a:t>
            </a:r>
            <a:r>
              <a:rPr lang="pt-BR" dirty="0"/>
              <a:t>, </a:t>
            </a:r>
            <a:r>
              <a:rPr lang="pt-BR" dirty="0" err="1"/>
              <a:t>dropout</a:t>
            </a:r>
            <a:r>
              <a:rPr lang="pt-BR" dirty="0"/>
              <a:t> e batch norm. </a:t>
            </a:r>
          </a:p>
          <a:p>
            <a:endParaRPr lang="pt-BR" dirty="0"/>
          </a:p>
          <a:p>
            <a:r>
              <a:rPr lang="pt-BR" dirty="0"/>
              <a:t>A escolha mais interessante é o atalho: uma conexão linear vai da concatenação direto para à saída, o sinal de mais na figura, que melhora o fluxo do gradiente e a qualidade dos </a:t>
            </a:r>
            <a:r>
              <a:rPr lang="pt-BR" dirty="0" err="1"/>
              <a:t>embeddings</a:t>
            </a:r>
            <a:r>
              <a:rPr lang="pt-BR" dirty="0"/>
              <a:t>, no estilo </a:t>
            </a:r>
            <a:r>
              <a:rPr lang="pt-BR" dirty="0" err="1"/>
              <a:t>wide-and-deep</a:t>
            </a:r>
            <a:r>
              <a:rPr lang="pt-BR" dirty="0"/>
              <a:t>.</a:t>
            </a:r>
          </a:p>
          <a:p>
            <a:r>
              <a:rPr lang="pt-BR" dirty="0"/>
              <a:t>Os autores afirmam ser o primeiro </a:t>
            </a:r>
            <a:r>
              <a:rPr lang="pt-BR" dirty="0" err="1"/>
              <a:t>AutoML</a:t>
            </a:r>
            <a:r>
              <a:rPr lang="pt-BR" dirty="0"/>
              <a:t> a usar </a:t>
            </a:r>
            <a:r>
              <a:rPr lang="pt-BR" dirty="0" err="1"/>
              <a:t>embeddings</a:t>
            </a:r>
            <a:r>
              <a:rPr lang="pt-BR" dirty="0"/>
              <a:t> por variável com esse atalho.</a:t>
            </a:r>
          </a:p>
          <a:p>
            <a:endParaRPr lang="pt-BR" dirty="0"/>
          </a:p>
          <a:p>
            <a:r>
              <a:rPr lang="pt-BR" dirty="0"/>
              <a:t>E agora a justificativa de existir: essa rede quase nunca é o melhor modelo isolado. Então por que incluí-la? Porque suas fronteiras de decisão são diferentes das árvores, e essa diferença é exatamente o que um ensemble precisa.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894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Três termos que vou usar o tempo todo.</a:t>
            </a:r>
          </a:p>
          <a:p>
            <a:endParaRPr lang="pt-BR" dirty="0"/>
          </a:p>
          <a:p>
            <a:r>
              <a:rPr lang="pt-BR" dirty="0" err="1"/>
              <a:t>Bagging</a:t>
            </a:r>
            <a:r>
              <a:rPr lang="pt-BR" dirty="0"/>
              <a:t> é reunir opiniões independentes: treinamos vários modelos em subconjuntos diferentes, tiramos a média das saídas, cada modelo erra de um jeito, e a média cancela os erros. Isso reduz variância. Random Forest é </a:t>
            </a:r>
            <a:r>
              <a:rPr lang="pt-BR" dirty="0" err="1"/>
              <a:t>bagging</a:t>
            </a:r>
            <a:r>
              <a:rPr lang="pt-BR" dirty="0"/>
              <a:t> de árvores</a:t>
            </a:r>
          </a:p>
          <a:p>
            <a:endParaRPr lang="pt-BR" dirty="0"/>
          </a:p>
          <a:p>
            <a:r>
              <a:rPr lang="pt-BR" dirty="0" err="1"/>
              <a:t>Boosting</a:t>
            </a:r>
            <a:r>
              <a:rPr lang="pt-BR" dirty="0"/>
              <a:t> é corrigir o colega: treinamos modelos em sequência,  e cada novo modelo se concentra nos exemplos que o anterior errou. Isso reduz viés. </a:t>
            </a:r>
            <a:r>
              <a:rPr lang="pt-BR" dirty="0" err="1"/>
              <a:t>LightGBM</a:t>
            </a:r>
            <a:r>
              <a:rPr lang="pt-BR" dirty="0"/>
              <a:t> e </a:t>
            </a:r>
            <a:r>
              <a:rPr lang="pt-BR" dirty="0" err="1"/>
              <a:t>CatBoost</a:t>
            </a:r>
            <a:r>
              <a:rPr lang="pt-BR" dirty="0"/>
              <a:t> são </a:t>
            </a:r>
            <a:r>
              <a:rPr lang="pt-BR" dirty="0" err="1"/>
              <a:t>boosting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Stacking</a:t>
            </a:r>
            <a:r>
              <a:rPr lang="pt-BR" dirty="0"/>
              <a:t> é um juiz que aprende em quem confiar: usa as predições dos modelos base como entrada de outro modelo, que aprende a combiná-las.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5360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A arquitetura de ensemble, Figura 2 do </a:t>
            </a:r>
            <a:r>
              <a:rPr lang="pt-BR" dirty="0" err="1"/>
              <a:t>artigo,lida</a:t>
            </a:r>
            <a:r>
              <a:rPr lang="pt-BR" dirty="0"/>
              <a:t> de baixo para cima. </a:t>
            </a:r>
          </a:p>
          <a:p>
            <a:endParaRPr lang="pt-BR" dirty="0"/>
          </a:p>
          <a:p>
            <a:r>
              <a:rPr lang="pt-BR" dirty="0"/>
              <a:t>Na base, os dados </a:t>
            </a:r>
            <a:r>
              <a:rPr lang="pt-BR" dirty="0" err="1"/>
              <a:t>pré</a:t>
            </a:r>
            <a:r>
              <a:rPr lang="pt-BR" dirty="0"/>
              <a:t>-processados. Na primeira camada, todos os modelos base que listamos: florestas, </a:t>
            </a:r>
            <a:r>
              <a:rPr lang="pt-BR" dirty="0" err="1"/>
              <a:t>boosting</a:t>
            </a:r>
            <a:r>
              <a:rPr lang="pt-BR" dirty="0"/>
              <a:t>, rede neural, </a:t>
            </a:r>
            <a:r>
              <a:rPr lang="pt-BR" dirty="0" err="1"/>
              <a:t>kNN</a:t>
            </a:r>
            <a:r>
              <a:rPr lang="pt-BR" dirty="0"/>
              <a:t>. As predições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desses modelos, concatenadas junto com os próprios dados originais, sobem para a segunda camada, os </a:t>
            </a:r>
            <a:r>
              <a:rPr lang="pt-BR" dirty="0" err="1"/>
              <a:t>stackers</a:t>
            </a:r>
            <a:r>
              <a:rPr lang="pt-BR" dirty="0"/>
              <a:t> — é exatamente essa concatenação dupla que a caixa do diagrama descreve como '[dados originais || predições da camada 1]'. Acima deles, a camada de saída combina tudo com pesos.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AutoGluon</a:t>
            </a:r>
            <a:r>
              <a:rPr lang="pt-BR" dirty="0"/>
              <a:t> estende o </a:t>
            </a:r>
            <a:r>
              <a:rPr lang="pt-BR" dirty="0" err="1"/>
              <a:t>stacking</a:t>
            </a:r>
            <a:r>
              <a:rPr lang="pt-BR" dirty="0"/>
              <a:t> tradicional em três pontos:</a:t>
            </a:r>
          </a:p>
          <a:p>
            <a:endParaRPr lang="pt-BR" dirty="0"/>
          </a:p>
          <a:p>
            <a:r>
              <a:rPr lang="pt-BR" dirty="0"/>
              <a:t>Primeira: os </a:t>
            </a:r>
            <a:r>
              <a:rPr lang="pt-BR" dirty="0" err="1"/>
              <a:t>stackers</a:t>
            </a:r>
            <a:r>
              <a:rPr lang="pt-BR" dirty="0"/>
              <a:t> são os mesmos tipos de modelo da base, com os mesmos </a:t>
            </a:r>
            <a:r>
              <a:rPr lang="pt-BR" dirty="0" err="1"/>
              <a:t>hiperparâmetros</a:t>
            </a:r>
            <a:r>
              <a:rPr lang="pt-BR" dirty="0"/>
              <a:t>, então não se abre um novo problema de busca na segunda camada; os autores chamam isso de </a:t>
            </a:r>
            <a:r>
              <a:rPr lang="pt-BR" dirty="0" err="1"/>
              <a:t>deep</a:t>
            </a:r>
            <a:r>
              <a:rPr lang="pt-BR" dirty="0"/>
              <a:t> learning por camadas, onde cada unidade é um modelo de ML. </a:t>
            </a:r>
          </a:p>
          <a:p>
            <a:endParaRPr lang="pt-BR" dirty="0"/>
          </a:p>
          <a:p>
            <a:r>
              <a:rPr lang="pt-BR" dirty="0"/>
              <a:t>Segunda, a </a:t>
            </a:r>
            <a:r>
              <a:rPr lang="pt-BR" dirty="0" err="1"/>
              <a:t>skip</a:t>
            </a:r>
            <a:r>
              <a:rPr lang="pt-BR" dirty="0"/>
              <a:t> connection: cada </a:t>
            </a:r>
            <a:r>
              <a:rPr lang="pt-BR" dirty="0" err="1"/>
              <a:t>stacker</a:t>
            </a:r>
            <a:r>
              <a:rPr lang="pt-BR" dirty="0"/>
              <a:t> recebe não só as predições da camada anterior, mas também os dados originais, e pode revisitar a evidência bruta se todos os modelos base erraram numa região. </a:t>
            </a:r>
          </a:p>
          <a:p>
            <a:endParaRPr lang="pt-BR" dirty="0"/>
          </a:p>
          <a:p>
            <a:r>
              <a:rPr lang="pt-BR" dirty="0"/>
              <a:t>Terceira: a saída é ensemble </a:t>
            </a:r>
            <a:r>
              <a:rPr lang="pt-BR" dirty="0" err="1"/>
              <a:t>selection</a:t>
            </a:r>
            <a:r>
              <a:rPr lang="pt-BR" dirty="0"/>
              <a:t>, um algoritmo guloso que adiciona o modelo que mais melhora a validação, resistente a </a:t>
            </a:r>
            <a:r>
              <a:rPr lang="pt-BR" dirty="0" err="1"/>
              <a:t>overfitting</a:t>
            </a:r>
            <a:r>
              <a:rPr lang="pt-BR" dirty="0"/>
              <a:t>. Porque nunca premia um modelo por memorizar o treino, só por generalizar bem em dados que ele não usou para ajustar seus pesos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917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Explicar o mecanismo </a:t>
            </a:r>
            <a:r>
              <a:rPr lang="pt-BR" dirty="0" err="1"/>
              <a:t>anti-vazamento</a:t>
            </a:r>
            <a:r>
              <a:rPr lang="pt-BR" dirty="0"/>
              <a:t> — o coração técnico.</a:t>
            </a:r>
          </a:p>
          <a:p>
            <a:r>
              <a:rPr lang="pt-BR" dirty="0"/>
              <a:t>ENFATIZAR: A célula laranja: predição feita por um modelo que nunca viu aquele exemplo.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Imaginem que treinamos o </a:t>
            </a:r>
            <a:r>
              <a:rPr lang="pt-BR" dirty="0" err="1"/>
              <a:t>LightGBM</a:t>
            </a:r>
            <a:r>
              <a:rPr lang="pt-BR" dirty="0"/>
              <a:t> em todo o conjunto de treino e usamos suas predições nesses mesmos exemplos como entrada do </a:t>
            </a:r>
            <a:r>
              <a:rPr lang="pt-BR" dirty="0" err="1"/>
              <a:t>stacker</a:t>
            </a:r>
            <a:r>
              <a:rPr lang="pt-BR" dirty="0"/>
              <a:t>. O </a:t>
            </a:r>
            <a:r>
              <a:rPr lang="pt-BR" dirty="0" err="1"/>
              <a:t>LightGBM</a:t>
            </a:r>
            <a:r>
              <a:rPr lang="pt-BR" dirty="0"/>
              <a:t> já viu cada um daqueles exemplos; suas predições são otimistas, quase perfeitas. O </a:t>
            </a:r>
            <a:r>
              <a:rPr lang="pt-BR" dirty="0" err="1"/>
              <a:t>stacker</a:t>
            </a:r>
            <a:r>
              <a:rPr lang="pt-BR" dirty="0"/>
              <a:t> aprende então a confiar cegamente no </a:t>
            </a:r>
            <a:r>
              <a:rPr lang="pt-BR" dirty="0" err="1"/>
              <a:t>LightGBM</a:t>
            </a:r>
            <a:r>
              <a:rPr lang="pt-BR" dirty="0"/>
              <a:t>. Quando chega o teste, o </a:t>
            </a:r>
            <a:r>
              <a:rPr lang="pt-BR" dirty="0" err="1"/>
              <a:t>LightGBM</a:t>
            </a:r>
            <a:r>
              <a:rPr lang="pt-BR" dirty="0"/>
              <a:t> não é mais perfeito, e o </a:t>
            </a:r>
            <a:r>
              <a:rPr lang="pt-BR" dirty="0" err="1"/>
              <a:t>stacker</a:t>
            </a:r>
            <a:r>
              <a:rPr lang="pt-BR" dirty="0"/>
              <a:t>, que aprendeu a confiar demais, erra. Isso é vazamento: </a:t>
            </a:r>
            <a:r>
              <a:rPr lang="pt-BR" dirty="0" err="1"/>
              <a:t>overfitting</a:t>
            </a:r>
            <a:r>
              <a:rPr lang="pt-BR" dirty="0"/>
              <a:t> amplificado e uma mudança na distribuição das entradas do </a:t>
            </a:r>
            <a:r>
              <a:rPr lang="pt-BR" dirty="0" err="1"/>
              <a:t>stacker</a:t>
            </a:r>
            <a:r>
              <a:rPr lang="pt-BR" dirty="0"/>
              <a:t> entre treino e teste, o que se chama </a:t>
            </a:r>
            <a:r>
              <a:rPr lang="pt-BR" dirty="0" err="1"/>
              <a:t>covariate</a:t>
            </a:r>
            <a:r>
              <a:rPr lang="pt-BR" dirty="0"/>
              <a:t> shift. Com várias camadas, o problema se multiplica.</a:t>
            </a:r>
          </a:p>
          <a:p>
            <a:endParaRPr lang="pt-BR" dirty="0"/>
          </a:p>
          <a:p>
            <a:r>
              <a:rPr lang="pt-BR" dirty="0"/>
              <a:t>A solução do </a:t>
            </a:r>
            <a:r>
              <a:rPr lang="pt-BR" dirty="0" err="1"/>
              <a:t>AutoGluon</a:t>
            </a:r>
            <a:r>
              <a:rPr lang="pt-BR" dirty="0"/>
              <a:t>, que está no diagrama, é o k-</a:t>
            </a:r>
            <a:r>
              <a:rPr lang="pt-BR" dirty="0" err="1"/>
              <a:t>fold</a:t>
            </a:r>
            <a:r>
              <a:rPr lang="pt-BR" dirty="0"/>
              <a:t> </a:t>
            </a:r>
            <a:r>
              <a:rPr lang="pt-BR" dirty="0" err="1"/>
              <a:t>bagging</a:t>
            </a:r>
            <a:r>
              <a:rPr lang="pt-BR" dirty="0"/>
              <a:t>: os dados são divididos em cinco dobras: treinam-se cinco cópias do modelo, cada uma sem uma dobra, e cada cópia prevê apenas a dobra que não viu, a célula laranja. Todo exemplo é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para exatamente uma cópia; logo, temos uma predição honesta, equivalente ao teste, para cem por cento do treino. O </a:t>
            </a:r>
            <a:r>
              <a:rPr lang="pt-BR" dirty="0" err="1"/>
              <a:t>stacker</a:t>
            </a:r>
            <a:r>
              <a:rPr lang="pt-BR" dirty="0"/>
              <a:t> treina sobre isso, com a mesma quantidade de dados da camada anterior. </a:t>
            </a:r>
          </a:p>
          <a:p>
            <a:endParaRPr lang="pt-BR" dirty="0"/>
          </a:p>
          <a:p>
            <a:r>
              <a:rPr lang="pt-BR" dirty="0"/>
              <a:t>Na inferência, usa-se a média das cinco cópias. É o mesmo princípio da validação cruzada usada para gerar atributos, não só para avaliar. Essa reutilização é o que permite empilhar camadas sem vazamento. O custo, cada modelo é treinado k vezes, é o que justifica a gestão de tempo por camada.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Sem OOF, a distribuição das predições que alimentam o </a:t>
            </a:r>
            <a:r>
              <a:rPr lang="pt-BR" dirty="0" err="1"/>
              <a:t>stacker</a:t>
            </a:r>
            <a:r>
              <a:rPr lang="pt-BR" dirty="0"/>
              <a:t> muda entre treino e teste — otimista no treino, realista no teste. Isso é </a:t>
            </a:r>
            <a:r>
              <a:rPr lang="pt-BR" dirty="0" err="1"/>
              <a:t>covariate</a:t>
            </a:r>
            <a:r>
              <a:rPr lang="pt-BR" dirty="0"/>
              <a:t> shift aplicado às meta-</a:t>
            </a:r>
            <a:r>
              <a:rPr lang="pt-BR" dirty="0" err="1"/>
              <a:t>features</a:t>
            </a:r>
            <a:r>
              <a:rPr lang="pt-BR" dirty="0"/>
              <a:t> do </a:t>
            </a:r>
            <a:r>
              <a:rPr lang="pt-BR" dirty="0" err="1"/>
              <a:t>stacker</a:t>
            </a:r>
            <a:r>
              <a:rPr lang="pt-BR" dirty="0"/>
              <a:t>, e é o que o k-</a:t>
            </a:r>
            <a:r>
              <a:rPr lang="pt-BR" dirty="0" err="1"/>
              <a:t>fold</a:t>
            </a:r>
            <a:r>
              <a:rPr lang="pt-BR" dirty="0"/>
              <a:t> </a:t>
            </a:r>
            <a:r>
              <a:rPr lang="pt-BR" dirty="0" err="1"/>
              <a:t>bagging</a:t>
            </a:r>
            <a:r>
              <a:rPr lang="pt-BR" dirty="0"/>
              <a:t> evita.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481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Este é o esqueleto, o Algoritmo 1 do artigo.</a:t>
            </a:r>
          </a:p>
          <a:p>
            <a:endParaRPr lang="pt-BR" dirty="0"/>
          </a:p>
          <a:p>
            <a:r>
              <a:rPr lang="pt-BR" dirty="0"/>
              <a:t>O algoritmo recebe os dados, a família de modelos M e o número de camadas L. Depois do pré-processamento (</a:t>
            </a:r>
            <a:r>
              <a:rPr lang="pt-BR" b="1" dirty="0"/>
              <a:t>linha 1</a:t>
            </a:r>
            <a:r>
              <a:rPr lang="pt-BR" dirty="0"/>
              <a:t>) ” corresponde ao primeiro bloco do pipeline”. Na (</a:t>
            </a:r>
            <a:r>
              <a:rPr lang="pt-BR" b="1" dirty="0"/>
              <a:t>linha 2</a:t>
            </a:r>
            <a:r>
              <a:rPr lang="pt-BR" dirty="0"/>
              <a:t>) “</a:t>
            </a:r>
            <a:r>
              <a:rPr lang="es-ES" dirty="0" err="1"/>
              <a:t>percorre</a:t>
            </a:r>
            <a:r>
              <a:rPr lang="es-ES" dirty="0"/>
              <a:t> cada camada l de </a:t>
            </a:r>
            <a:r>
              <a:rPr lang="es-ES" dirty="0" err="1"/>
              <a:t>stacking</a:t>
            </a:r>
            <a:r>
              <a:rPr lang="pt-BR" dirty="0"/>
              <a:t>”, o processo se repete n vezes (</a:t>
            </a:r>
            <a:r>
              <a:rPr lang="pt-BR" b="1" dirty="0"/>
              <a:t>linha 3</a:t>
            </a:r>
            <a:r>
              <a:rPr lang="pt-BR" dirty="0"/>
              <a:t>) “isso é o 'n-</a:t>
            </a:r>
            <a:r>
              <a:rPr lang="pt-BR" dirty="0" err="1"/>
              <a:t>repeated</a:t>
            </a:r>
            <a:r>
              <a:rPr lang="pt-BR" dirty="0"/>
              <a:t>' do </a:t>
            </a:r>
            <a:r>
              <a:rPr lang="pt-BR" dirty="0" err="1"/>
              <a:t>bagging</a:t>
            </a:r>
            <a:r>
              <a:rPr lang="pt-BR" dirty="0"/>
              <a:t> repetido, pensado para reduzir a variância de uma única partição aleatória:</a:t>
            </a:r>
          </a:p>
          <a:p>
            <a:endParaRPr lang="pt-BR" dirty="0"/>
          </a:p>
          <a:p>
            <a:r>
              <a:rPr lang="pt-BR" dirty="0"/>
              <a:t>Em cada uma dessas repetições, os dados de treino são divididos aleatoriamente em k partes, chamadas dobras (</a:t>
            </a:r>
            <a:r>
              <a:rPr lang="pt-BR" b="1" dirty="0"/>
              <a:t>linha 4</a:t>
            </a:r>
            <a:r>
              <a:rPr lang="pt-BR" dirty="0"/>
              <a:t>), </a:t>
            </a:r>
          </a:p>
          <a:p>
            <a:endParaRPr lang="pt-BR" dirty="0"/>
          </a:p>
          <a:p>
            <a:r>
              <a:rPr lang="pt-BR" dirty="0"/>
              <a:t>Para cada uma das k dobras (</a:t>
            </a:r>
            <a:r>
              <a:rPr lang="pt-BR" b="1" dirty="0"/>
              <a:t>linha 5</a:t>
            </a:r>
            <a:r>
              <a:rPr lang="pt-BR" dirty="0"/>
              <a:t>), e para cada tipo de modelo m da família M (</a:t>
            </a:r>
            <a:r>
              <a:rPr lang="pt-BR" b="1" dirty="0"/>
              <a:t>linha 6</a:t>
            </a:r>
            <a:r>
              <a:rPr lang="pt-BR" dirty="0"/>
              <a:t>) — </a:t>
            </a:r>
            <a:r>
              <a:rPr lang="pt-BR" dirty="0" err="1"/>
              <a:t>Random</a:t>
            </a:r>
            <a:r>
              <a:rPr lang="pt-BR" dirty="0"/>
              <a:t> Forest, </a:t>
            </a:r>
            <a:r>
              <a:rPr lang="pt-BR" dirty="0" err="1"/>
              <a:t>LightGBM</a:t>
            </a:r>
            <a:r>
              <a:rPr lang="pt-BR" dirty="0"/>
              <a:t>, </a:t>
            </a:r>
            <a:r>
              <a:rPr lang="pt-BR" dirty="0" err="1"/>
              <a:t>CatBoost</a:t>
            </a:r>
            <a:r>
              <a:rPr lang="pt-BR" dirty="0"/>
              <a:t>, a rede neural, </a:t>
            </a:r>
            <a:r>
              <a:rPr lang="pt-BR" dirty="0" err="1"/>
              <a:t>kNN</a:t>
            </a:r>
            <a:r>
              <a:rPr lang="pt-BR" dirty="0"/>
              <a:t> — Na (</a:t>
            </a:r>
            <a:r>
              <a:rPr lang="pt-BR" b="1" dirty="0"/>
              <a:t>linha 7</a:t>
            </a:r>
            <a:r>
              <a:rPr lang="pt-BR" dirty="0"/>
              <a:t>) o modelo é treinado usando todas as dobras exceto a dobra j. Essa é a notação X elevado a menos j, Y elevado a menos j.</a:t>
            </a:r>
          </a:p>
          <a:p>
            <a:endParaRPr lang="pt-BR" dirty="0"/>
          </a:p>
          <a:p>
            <a:r>
              <a:rPr lang="pt-BR" dirty="0"/>
              <a:t>Como esse modelo nunca viu a dobra j durante o treino, agora ele prevê exatamente sobre essa dobra que ficou de fora. Essa é a predição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(</a:t>
            </a:r>
            <a:r>
              <a:rPr lang="pt-BR" b="1" dirty="0"/>
              <a:t>linha 8</a:t>
            </a:r>
            <a:r>
              <a:rPr lang="pt-BR" dirty="0"/>
              <a:t>). Repetindo isso para as k dobras, se cobre cem por cento dos dados de treino com predições honestas, sem vazamento de informação.</a:t>
            </a:r>
          </a:p>
          <a:p>
            <a:endParaRPr lang="pt-BR" dirty="0"/>
          </a:p>
          <a:p>
            <a:r>
              <a:rPr lang="pt-BR" dirty="0"/>
              <a:t>Depois de completar as n repetições, as predições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de cada modelo são </a:t>
            </a:r>
            <a:r>
              <a:rPr lang="pt-BR" dirty="0" err="1"/>
              <a:t>promediadas</a:t>
            </a:r>
            <a:r>
              <a:rPr lang="pt-BR" dirty="0"/>
              <a:t> (</a:t>
            </a:r>
            <a:r>
              <a:rPr lang="pt-BR" b="1" dirty="0"/>
              <a:t>linha 12</a:t>
            </a:r>
            <a:r>
              <a:rPr lang="pt-BR" dirty="0"/>
              <a:t>), o que gera uma predição mais estável para cada exemplo do conjunto de treino.</a:t>
            </a:r>
          </a:p>
          <a:p>
            <a:endParaRPr lang="pt-BR" dirty="0"/>
          </a:p>
          <a:p>
            <a:r>
              <a:rPr lang="pt-BR" dirty="0"/>
              <a:t>Essas predições </a:t>
            </a:r>
            <a:r>
              <a:rPr lang="pt-BR" dirty="0" err="1"/>
              <a:t>promediadas</a:t>
            </a:r>
            <a:r>
              <a:rPr lang="pt-BR" dirty="0"/>
              <a:t> são então concatenadas à matriz de dados original (</a:t>
            </a:r>
            <a:r>
              <a:rPr lang="pt-BR" b="1" dirty="0"/>
              <a:t>linha 13</a:t>
            </a:r>
            <a:r>
              <a:rPr lang="pt-BR" dirty="0"/>
              <a:t>) </a:t>
            </a:r>
          </a:p>
          <a:p>
            <a:endParaRPr lang="pt-BR" dirty="0"/>
          </a:p>
          <a:p>
            <a:r>
              <a:rPr lang="pt-BR" dirty="0"/>
              <a:t>Fechamos o laço da camada (</a:t>
            </a:r>
            <a:r>
              <a:rPr lang="pt-BR" b="1" dirty="0"/>
              <a:t>linha 14</a:t>
            </a:r>
            <a:r>
              <a:rPr lang="pt-BR" dirty="0"/>
              <a:t>), e essa matriz ampliada — os dados originais mais as opiniões dos modelos da camada anterior — se torna a entrada da próxima camada: os </a:t>
            </a:r>
            <a:r>
              <a:rPr lang="pt-BR" dirty="0" err="1"/>
              <a:t>stackers</a:t>
            </a:r>
            <a:r>
              <a:rPr lang="pt-BR" dirty="0"/>
              <a:t>. São os mesmos modelos da família M, mas agora treinados com mais informação disponível.</a:t>
            </a:r>
          </a:p>
          <a:p>
            <a:endParaRPr lang="pt-BR" dirty="0"/>
          </a:p>
          <a:p>
            <a:r>
              <a:rPr lang="pt-BR" dirty="0"/>
              <a:t>Finalmente, depois de percorrer todas as L camadas, entra um bloco: a seleção de ensemble ponderada, que combina as predições de todos os modelos de todas as camadas para gerar a predição final.</a:t>
            </a:r>
          </a:p>
          <a:p>
            <a:endParaRPr lang="pt-BR" dirty="0"/>
          </a:p>
          <a:p>
            <a:r>
              <a:rPr lang="pt-BR" dirty="0"/>
              <a:t>Dois detalhes de engenharia: o tempo total é dividido entre as camadas, e o que não cabe é pulado; e o produto de cada camada não é um modelo, é uma matriz de predições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com uma linha por exemplo de treino. Esse termo, OOF, é o mais importante da aula; volto a ele daqui a alguns slides. Agora, bloco a bloco.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289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Chegamos então à parte das evidências. Para validar tudo o que vimos até agora, os autores compararam o </a:t>
            </a:r>
            <a:r>
              <a:rPr lang="pt-BR" dirty="0" err="1"/>
              <a:t>AutoGluon</a:t>
            </a:r>
            <a:r>
              <a:rPr lang="pt-BR" dirty="0"/>
              <a:t> contra outros cinco frameworks de </a:t>
            </a:r>
            <a:r>
              <a:rPr lang="pt-BR" dirty="0" err="1"/>
              <a:t>AutoML</a:t>
            </a:r>
            <a:r>
              <a:rPr lang="pt-BR" dirty="0"/>
              <a:t> (</a:t>
            </a:r>
            <a:r>
              <a:rPr lang="pt-BR" dirty="0" err="1"/>
              <a:t>AutoGluon</a:t>
            </a:r>
            <a:r>
              <a:rPr lang="pt-BR" dirty="0"/>
              <a:t>, </a:t>
            </a:r>
            <a:r>
              <a:rPr lang="pt-BR" dirty="0" err="1"/>
              <a:t>auto-sklearn</a:t>
            </a:r>
            <a:r>
              <a:rPr lang="pt-BR" dirty="0"/>
              <a:t>, TPOT, H2O </a:t>
            </a:r>
            <a:r>
              <a:rPr lang="pt-BR" dirty="0" err="1"/>
              <a:t>AutoML</a:t>
            </a:r>
            <a:r>
              <a:rPr lang="pt-BR" dirty="0"/>
              <a:t>, </a:t>
            </a:r>
            <a:r>
              <a:rPr lang="pt-BR" dirty="0" err="1"/>
              <a:t>Auto-WEKA</a:t>
            </a:r>
            <a:r>
              <a:rPr lang="pt-BR" dirty="0"/>
              <a:t> e o serviço comercial da Google, </a:t>
            </a:r>
            <a:r>
              <a:rPr lang="pt-BR" dirty="0" err="1"/>
              <a:t>AutoML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), em cinquenta </a:t>
            </a:r>
            <a:r>
              <a:rPr lang="pt-BR" dirty="0" err="1"/>
              <a:t>datasets</a:t>
            </a:r>
            <a:r>
              <a:rPr lang="pt-BR" dirty="0"/>
              <a:t> vindos de duas fontes bem diferentes.</a:t>
            </a:r>
          </a:p>
          <a:p>
            <a:endParaRPr lang="pt-BR" dirty="0"/>
          </a:p>
          <a:p>
            <a:pPr rtl="0"/>
            <a:r>
              <a:rPr lang="pt-BR" dirty="0"/>
              <a:t>A primeira fonte é o benchmark do </a:t>
            </a:r>
            <a:r>
              <a:rPr lang="pt-BR" dirty="0" err="1"/>
              <a:t>OpenML</a:t>
            </a:r>
            <a:r>
              <a:rPr lang="pt-BR" dirty="0"/>
              <a:t>: trinta e nove </a:t>
            </a:r>
            <a:r>
              <a:rPr lang="pt-BR" dirty="0" err="1"/>
              <a:t>datasets</a:t>
            </a:r>
            <a:r>
              <a:rPr lang="pt-BR" dirty="0"/>
              <a:t> de classificação, curados por terceiros — não pelos próprios autores do </a:t>
            </a:r>
            <a:r>
              <a:rPr lang="pt-BR" dirty="0" err="1"/>
              <a:t>AutoGluon</a:t>
            </a:r>
            <a:r>
              <a:rPr lang="pt-BR" dirty="0"/>
              <a:t> —, cada um avaliado em dez divisões distintas, usando duas métricas, um menos AUC e log-</a:t>
            </a:r>
            <a:r>
              <a:rPr lang="pt-BR" dirty="0" err="1"/>
              <a:t>loss</a:t>
            </a:r>
            <a:r>
              <a:rPr lang="pt-BR" dirty="0"/>
              <a:t>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A segunda fonte são onze competições reais do </a:t>
            </a:r>
            <a:r>
              <a:rPr lang="pt-BR" dirty="0" err="1"/>
              <a:t>Kaggle</a:t>
            </a:r>
            <a:r>
              <a:rPr lang="pt-BR" dirty="0"/>
              <a:t>, onde a métrica não é uma métrica técnica qualquer, mas o percentil no </a:t>
            </a:r>
            <a:r>
              <a:rPr lang="pt-BR" dirty="0" err="1"/>
              <a:t>leaderboard</a:t>
            </a:r>
            <a:r>
              <a:rPr lang="pt-BR" dirty="0"/>
              <a:t> oficial — ou seja, a fração de equipes humanas que o </a:t>
            </a:r>
            <a:r>
              <a:rPr lang="pt-BR" dirty="0" err="1"/>
              <a:t>AutoGluon</a:t>
            </a:r>
            <a:r>
              <a:rPr lang="pt-BR" dirty="0"/>
              <a:t> superou. Essa escolha é inteligente porque normaliza competições com escalas de avaliação diferentes entre si, e além disso mede o desempenho contra pessoas, não só contra outros algoritmos.</a:t>
            </a:r>
          </a:p>
          <a:p>
            <a:endParaRPr lang="pt-BR" dirty="0"/>
          </a:p>
          <a:p>
            <a:r>
              <a:rPr lang="pt-BR" dirty="0"/>
              <a:t>Todos os frameworks rodaram com configurações padrão, na mesma instância EC2, com limites de uma e quatro horas — E o detalhe que sustenta toda a tese do trabalho: nesse benchmark inteiro, o </a:t>
            </a:r>
            <a:r>
              <a:rPr lang="pt-BR" dirty="0" err="1"/>
              <a:t>AutoGluon</a:t>
            </a:r>
            <a:r>
              <a:rPr lang="pt-BR" dirty="0"/>
              <a:t> rodou sem otimizar um único </a:t>
            </a:r>
            <a:r>
              <a:rPr lang="pt-BR" dirty="0" err="1"/>
              <a:t>hiperparâmetro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004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Interpretar a Tabela 2.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Primeiro resultado, o benchmark do </a:t>
            </a:r>
            <a:r>
              <a:rPr lang="pt-BR" dirty="0" err="1"/>
              <a:t>OpenML</a:t>
            </a:r>
            <a:r>
              <a:rPr lang="pt-BR" dirty="0"/>
              <a:t> com quatro horas : o </a:t>
            </a:r>
            <a:r>
              <a:rPr lang="pt-BR" dirty="0" err="1"/>
              <a:t>AutoGluon</a:t>
            </a:r>
            <a:r>
              <a:rPr lang="pt-BR" dirty="0"/>
              <a:t> foi o melhor em vinte e três dos trinta e nove </a:t>
            </a:r>
            <a:r>
              <a:rPr lang="pt-BR" dirty="0" err="1"/>
              <a:t>datasets</a:t>
            </a:r>
            <a:r>
              <a:rPr lang="pt-BR" dirty="0"/>
              <a:t>; os outros cinco, somados, em quinze. Venceu mais do que a união dos concorrentes. </a:t>
            </a:r>
          </a:p>
          <a:p>
            <a:endParaRPr lang="pt-BR" dirty="0"/>
          </a:p>
          <a:p>
            <a:r>
              <a:rPr lang="pt-BR" dirty="0"/>
              <a:t>O rank médio conta o mesmo: um vírgula oitenta e quatro, único abaixo de dois. A perda, normalizada por </a:t>
            </a:r>
            <a:r>
              <a:rPr lang="pt-BR" dirty="0" err="1"/>
              <a:t>dataset</a:t>
            </a:r>
            <a:r>
              <a:rPr lang="pt-BR" dirty="0"/>
              <a:t>, é quase metade da do segundo. </a:t>
            </a:r>
          </a:p>
          <a:p>
            <a:r>
              <a:rPr lang="pt-BR" dirty="0"/>
              <a:t>E a coluna de falhas conecta com a engenharia: uma, contra cinco a quatorze; o tempo real ficou dentro do limite, enquanto </a:t>
            </a:r>
            <a:r>
              <a:rPr lang="pt-BR" dirty="0" err="1"/>
              <a:t>auto-sklearn</a:t>
            </a:r>
            <a:r>
              <a:rPr lang="pt-BR" dirty="0"/>
              <a:t> e </a:t>
            </a:r>
            <a:r>
              <a:rPr lang="pt-BR" dirty="0" err="1"/>
              <a:t>Auto-WEKA</a:t>
            </a:r>
            <a:r>
              <a:rPr lang="pt-BR" dirty="0"/>
              <a:t> o ultrapassaram.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542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o desempenho contra cientistas de dados.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Este é o resultado que os autores destacam no resumo do artigo. nas onze competições do </a:t>
            </a:r>
            <a:r>
              <a:rPr lang="pt-BR" dirty="0" err="1"/>
              <a:t>Kaggle</a:t>
            </a:r>
            <a:r>
              <a:rPr lang="pt-BR" dirty="0"/>
              <a:t>, treinando por quatro horas a partir do CSV cru, o </a:t>
            </a:r>
            <a:r>
              <a:rPr lang="pt-BR" dirty="0" err="1"/>
              <a:t>AutoGluon</a:t>
            </a:r>
            <a:r>
              <a:rPr lang="pt-BR" dirty="0"/>
              <a:t> foi campeão entre os frameworks em sete delas e, em média, superou setenta por cento das equipes humanas — e ainda por cima, sem nenhuma falha.</a:t>
            </a:r>
          </a:p>
          <a:p>
            <a:endParaRPr lang="pt-BR" dirty="0"/>
          </a:p>
          <a:p>
            <a:r>
              <a:rPr lang="pt-BR" dirty="0"/>
              <a:t>O rival mais próximo, o serviço da Google, roda em noventa e duas máquinas. Em </a:t>
            </a:r>
            <a:r>
              <a:rPr lang="pt-BR" dirty="0" err="1"/>
              <a:t>otto</a:t>
            </a:r>
            <a:r>
              <a:rPr lang="pt-BR" dirty="0"/>
              <a:t> e </a:t>
            </a:r>
            <a:r>
              <a:rPr lang="pt-BR" dirty="0" err="1"/>
              <a:t>bnp-paribas</a:t>
            </a:r>
            <a:r>
              <a:rPr lang="pt-BR" dirty="0"/>
              <a:t> (são nomes de duas das onze competições reais do </a:t>
            </a:r>
            <a:r>
              <a:rPr lang="pt-BR" dirty="0" err="1"/>
              <a:t>Kaggle</a:t>
            </a:r>
            <a:r>
              <a:rPr lang="pt-BR" dirty="0"/>
              <a:t> usadas no benchmark, cada uma promovida por uma empresa (o grupo alemão Otto e o banco francês BNP </a:t>
            </a:r>
            <a:r>
              <a:rPr lang="pt-BR" dirty="0" err="1"/>
              <a:t>Paribas</a:t>
            </a:r>
            <a:r>
              <a:rPr lang="pt-BR" dirty="0"/>
              <a:t>) com seu próprio </a:t>
            </a:r>
            <a:r>
              <a:rPr lang="pt-BR" dirty="0" err="1"/>
              <a:t>dataset</a:t>
            </a:r>
            <a:r>
              <a:rPr lang="pt-BR" dirty="0"/>
              <a:t> e problema de negócio a resolver); com vinte e quatro horas em </a:t>
            </a:r>
            <a:r>
              <a:rPr lang="pt-BR" dirty="0" err="1"/>
              <a:t>otto</a:t>
            </a:r>
            <a:r>
              <a:rPr lang="pt-BR" dirty="0"/>
              <a:t>, vigésimo terceiro entre três mil e quinhentas equipes, noventa e nove vírgula três por cento superadas.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992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Equilibrar o quadro com limitações honestas.</a:t>
            </a:r>
          </a:p>
          <a:p>
            <a:r>
              <a:rPr lang="pt-BR" dirty="0"/>
              <a:t>ENFATIZAR: Mais tempo só ajuda quem sabe usá-lo; os custos são tempo, disco e </a:t>
            </a:r>
            <a:r>
              <a:rPr lang="pt-BR" dirty="0" err="1"/>
              <a:t>interpretabilidade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Para equilibrar o quadro, dois dados mostram como a robustez se comporta com mais tempo. Passando de uma para quatro horas, o </a:t>
            </a:r>
            <a:r>
              <a:rPr lang="pt-BR" dirty="0" err="1"/>
              <a:t>AutoGluon</a:t>
            </a:r>
            <a:r>
              <a:rPr lang="pt-BR" dirty="0"/>
              <a:t> melhora em trinta dos trinta e nove </a:t>
            </a:r>
            <a:r>
              <a:rPr lang="pt-BR" dirty="0" err="1"/>
              <a:t>datasets</a:t>
            </a:r>
            <a:r>
              <a:rPr lang="pt-BR" dirty="0"/>
              <a:t>, enquanto o </a:t>
            </a:r>
            <a:r>
              <a:rPr lang="pt-BR" dirty="0" err="1"/>
              <a:t>auto-sklearn</a:t>
            </a:r>
            <a:r>
              <a:rPr lang="pt-BR" dirty="0"/>
              <a:t> piora em doze, porque mais busca leva a mais </a:t>
            </a:r>
            <a:r>
              <a:rPr lang="pt-BR" dirty="0" err="1"/>
              <a:t>overfitting</a:t>
            </a:r>
            <a:r>
              <a:rPr lang="pt-BR" dirty="0"/>
              <a:t>. E o número de falhas também favorece: uma, contra até quatorze dos rivais.</a:t>
            </a:r>
          </a:p>
          <a:p>
            <a:endParaRPr lang="pt-BR" dirty="0"/>
          </a:p>
          <a:p>
            <a:pPr rtl="0"/>
            <a:r>
              <a:rPr lang="pt-BR" dirty="0"/>
              <a:t>Do lado das limitações, três pontos honestos. </a:t>
            </a:r>
          </a:p>
          <a:p>
            <a:pPr rtl="0"/>
            <a:r>
              <a:rPr lang="pt-BR" dirty="0"/>
              <a:t>Custo: um ensemble com centenas de modelos em duas camadas, cada um replicado k vezes n, ocupa mais disco e leva mais tempo de treino e de inferência do que um </a:t>
            </a:r>
            <a:r>
              <a:rPr lang="pt-BR" dirty="0" err="1"/>
              <a:t>LightGBM</a:t>
            </a:r>
            <a:r>
              <a:rPr lang="pt-BR" dirty="0"/>
              <a:t> bem ajustado.  É uma caixa-preta composta: há importância de atributos, mas não uma explicação simples. E em problemas com muitas classes, o </a:t>
            </a:r>
            <a:r>
              <a:rPr lang="pt-BR" dirty="0" err="1"/>
              <a:t>stacking</a:t>
            </a:r>
            <a:r>
              <a:rPr lang="pt-BR" dirty="0"/>
              <a:t> gera C atributos por modelo base — o que explica a única falha do </a:t>
            </a:r>
            <a:r>
              <a:rPr lang="pt-BR" dirty="0" err="1"/>
              <a:t>AutoGluon</a:t>
            </a:r>
            <a:r>
              <a:rPr lang="pt-BR" dirty="0"/>
              <a:t>, em </a:t>
            </a:r>
            <a:r>
              <a:rPr lang="pt-BR" dirty="0" err="1"/>
              <a:t>Dionis</a:t>
            </a:r>
            <a:r>
              <a:rPr lang="pt-BR" dirty="0"/>
              <a:t>, um </a:t>
            </a:r>
            <a:r>
              <a:rPr lang="pt-BR" dirty="0" err="1"/>
              <a:t>dataset</a:t>
            </a:r>
            <a:r>
              <a:rPr lang="pt-BR" dirty="0"/>
              <a:t> com trezentas e cinquenta e cinco classes.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Por isso, quando a prioridade é acurácia numa tabela única,  os ganhos medidos superam largamente os custos. Quando a prioridade é latência ou </a:t>
            </a:r>
            <a:r>
              <a:rPr lang="pt-BR" dirty="0" err="1"/>
              <a:t>explicabilidade</a:t>
            </a:r>
            <a:r>
              <a:rPr lang="pt-BR" dirty="0"/>
              <a:t>, o </a:t>
            </a:r>
            <a:r>
              <a:rPr lang="pt-BR" dirty="0" err="1"/>
              <a:t>AutoGluon</a:t>
            </a:r>
            <a:r>
              <a:rPr lang="pt-BR" dirty="0"/>
              <a:t> continua útil como baseline, mas talvez não como modelo final.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78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dirty="0"/>
              <a:t>Para sair da teoria, mostro a implementação real, com um </a:t>
            </a:r>
            <a:r>
              <a:rPr lang="pt-BR" dirty="0" err="1"/>
              <a:t>dataset</a:t>
            </a:r>
            <a:r>
              <a:rPr lang="pt-BR" dirty="0"/>
              <a:t> de: é teoria de nós, um problema genuíno de matemática, usado no próprio tutorial oficial do </a:t>
            </a:r>
            <a:r>
              <a:rPr lang="pt-BR" dirty="0" err="1"/>
              <a:t>AutoGluon</a:t>
            </a:r>
            <a:r>
              <a:rPr lang="pt-BR" dirty="0"/>
              <a:t> — e é o mesmo </a:t>
            </a:r>
            <a:r>
              <a:rPr lang="pt-BR" dirty="0" err="1"/>
              <a:t>dataset</a:t>
            </a:r>
            <a:r>
              <a:rPr lang="pt-BR" dirty="0"/>
              <a:t> de um </a:t>
            </a:r>
            <a:r>
              <a:rPr lang="pt-BR" dirty="0" err="1"/>
              <a:t>paper</a:t>
            </a:r>
            <a:r>
              <a:rPr lang="pt-BR" dirty="0"/>
              <a:t> publicado na </a:t>
            </a:r>
            <a:r>
              <a:rPr lang="pt-BR" dirty="0" err="1"/>
              <a:t>Nature</a:t>
            </a:r>
            <a:r>
              <a:rPr lang="pt-BR" dirty="0"/>
              <a:t> pela </a:t>
            </a:r>
            <a:r>
              <a:rPr lang="pt-BR" dirty="0" err="1"/>
              <a:t>DeepMind</a:t>
            </a:r>
            <a:r>
              <a:rPr lang="pt-BR" dirty="0"/>
              <a:t>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conjunto de dados vem de um estudo real: cada linha descreve um nó hiperbólico por meio de invariantes geométricos, e a coluna-alvo, </a:t>
            </a:r>
            <a:r>
              <a:rPr lang="pt-BR" dirty="0" err="1"/>
              <a:t>signature</a:t>
            </a:r>
            <a:r>
              <a:rPr lang="pt-BR" dirty="0"/>
              <a:t>, é um invariante algébrico do nó. 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A implementação inteira é isso: </a:t>
            </a:r>
            <a:r>
              <a:rPr lang="es-ES" dirty="0"/>
              <a:t>instala à librería, o </a:t>
            </a:r>
            <a:r>
              <a:rPr lang="es-ES" dirty="0" err="1"/>
              <a:t>TabularDataset</a:t>
            </a:r>
            <a:r>
              <a:rPr lang="es-ES" dirty="0"/>
              <a:t> è esencialmente </a:t>
            </a:r>
            <a:r>
              <a:rPr lang="es-ES" dirty="0" err="1"/>
              <a:t>um</a:t>
            </a:r>
            <a:r>
              <a:rPr lang="es-ES" dirty="0"/>
              <a:t> </a:t>
            </a:r>
            <a:r>
              <a:rPr lang="es-ES" dirty="0" err="1"/>
              <a:t>DataFrame</a:t>
            </a:r>
            <a:r>
              <a:rPr lang="es-ES" dirty="0"/>
              <a:t> do pandas; </a:t>
            </a:r>
            <a:r>
              <a:rPr lang="es-ES" dirty="0" err="1"/>
              <a:t>TabularPredictor</a:t>
            </a:r>
            <a:r>
              <a:rPr lang="es-ES" dirty="0"/>
              <a:t> è o orquestador de todo o </a:t>
            </a:r>
            <a:r>
              <a:rPr lang="es-ES" dirty="0" err="1"/>
              <a:t>AutoML</a:t>
            </a:r>
            <a:r>
              <a:rPr lang="es-ES" dirty="0"/>
              <a:t>,</a:t>
            </a:r>
            <a:r>
              <a:rPr lang="pt-BR" dirty="0"/>
              <a:t> carregar os dados e chamar </a:t>
            </a:r>
            <a:r>
              <a:rPr lang="pt-BR" dirty="0" err="1"/>
              <a:t>fit</a:t>
            </a:r>
            <a:r>
              <a:rPr lang="pt-BR" dirty="0"/>
              <a:t>() no </a:t>
            </a:r>
            <a:r>
              <a:rPr lang="pt-BR" dirty="0" err="1"/>
              <a:t>TabularPredictor</a:t>
            </a:r>
            <a:r>
              <a:rPr lang="pt-BR" dirty="0"/>
              <a:t>, passando o </a:t>
            </a:r>
            <a:r>
              <a:rPr lang="pt-BR" dirty="0" err="1"/>
              <a:t>label</a:t>
            </a:r>
            <a:r>
              <a:rPr lang="pt-BR" dirty="0"/>
              <a:t>, a métrica de avaliação, e dois parâmetros que já vimos na teoria — </a:t>
            </a:r>
            <a:r>
              <a:rPr lang="pt-BR" dirty="0" err="1"/>
              <a:t>time_limit</a:t>
            </a:r>
            <a:r>
              <a:rPr lang="pt-BR" dirty="0"/>
              <a:t> de cento e vinte segundos, e </a:t>
            </a:r>
            <a:r>
              <a:rPr lang="pt-BR" dirty="0" err="1"/>
              <a:t>presets</a:t>
            </a:r>
            <a:r>
              <a:rPr lang="pt-BR" dirty="0"/>
              <a:t>='</a:t>
            </a:r>
            <a:r>
              <a:rPr lang="pt-BR" dirty="0" err="1"/>
              <a:t>medium_quality</a:t>
            </a:r>
            <a:r>
              <a:rPr lang="pt-BR" dirty="0"/>
              <a:t>’.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log confirma, na prática, o que discutimos. </a:t>
            </a:r>
          </a:p>
          <a:p>
            <a:pPr rtl="0"/>
            <a:r>
              <a:rPr lang="pt-BR" dirty="0"/>
              <a:t>Primeiro, a inferência do problema: mesmo o alvo sendo numérico, poucos valores únicos levam o sistema a inferir '</a:t>
            </a:r>
            <a:r>
              <a:rPr lang="pt-BR" dirty="0" err="1"/>
              <a:t>multiclass</a:t>
            </a:r>
            <a:r>
              <a:rPr lang="pt-BR" dirty="0"/>
              <a:t>', não regressão. </a:t>
            </a:r>
          </a:p>
          <a:p>
            <a:pPr rtl="0"/>
            <a:r>
              <a:rPr lang="pt-BR" dirty="0"/>
              <a:t>Segundo, classes com menos de dez exemplos são descartadas automaticamente — de treze para nove classes, robustez em ação. </a:t>
            </a:r>
          </a:p>
          <a:p>
            <a:pPr rtl="0"/>
            <a:r>
              <a:rPr lang="pt-BR" dirty="0"/>
              <a:t>E terceiro, o tempo: pedi cento e vinte segundos, o treino real levou cento e vinte e um — dos onze modelos candidatos, só seis chegaram a treinar, </a:t>
            </a:r>
          </a:p>
          <a:p>
            <a:pPr rtl="0"/>
            <a:r>
              <a:rPr lang="pt-BR" dirty="0"/>
              <a:t>e o log mostra até o </a:t>
            </a:r>
            <a:r>
              <a:rPr lang="pt-BR" dirty="0" err="1"/>
              <a:t>CatBoost</a:t>
            </a:r>
            <a:r>
              <a:rPr lang="pt-BR" dirty="0"/>
              <a:t> sendo interrompido no meio. É o orçamento de tempo por camada, da arquitetura, acontecendo ao vivo.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272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dirty="0"/>
              <a:t>Terminado o treino, o </a:t>
            </a:r>
            <a:r>
              <a:rPr lang="pt-BR" dirty="0" err="1"/>
              <a:t>leaderboard</a:t>
            </a:r>
            <a:r>
              <a:rPr lang="pt-BR" dirty="0"/>
              <a:t> mostra todos os modelos, com sua camada: </a:t>
            </a:r>
            <a:r>
              <a:rPr lang="pt-BR" dirty="0" err="1"/>
              <a:t>stack_level</a:t>
            </a:r>
            <a:r>
              <a:rPr lang="pt-BR" dirty="0"/>
              <a:t> um para os modelos base, dois para o </a:t>
            </a:r>
            <a:r>
              <a:rPr lang="pt-BR" dirty="0" err="1"/>
              <a:t>WeightedEnsemble</a:t>
            </a:r>
            <a:r>
              <a:rPr lang="pt-BR" dirty="0"/>
              <a:t>, que venceu com noventa e quatro vírgula setenta e oito por cento de acurácia no teste.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E o mais interessante está nos pesos desse ensemble: a rede neural recebeu quarenta e quatro por cento do peso, mais do que qualquer outro modelo — mesmo não sendo a melhor individualmente, já que </a:t>
            </a:r>
            <a:r>
              <a:rPr lang="pt-BR" dirty="0" err="1"/>
              <a:t>LightGBM</a:t>
            </a:r>
            <a:r>
              <a:rPr lang="pt-BR" dirty="0"/>
              <a:t> e </a:t>
            </a:r>
            <a:r>
              <a:rPr lang="pt-BR" dirty="0" err="1"/>
              <a:t>CatBoost</a:t>
            </a:r>
            <a:r>
              <a:rPr lang="pt-BR" dirty="0"/>
              <a:t> tiveram acurácia de validação mais alta sozinhos. </a:t>
            </a:r>
          </a:p>
          <a:p>
            <a:pPr rtl="0"/>
            <a:r>
              <a:rPr lang="pt-BR" dirty="0"/>
              <a:t>Isso é a prova, do que a arquitetura promete: o ensemble não escolhe o mais forte, escolhe o que mais soma diversidade.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Na avaliação, a </a:t>
            </a:r>
            <a:r>
              <a:rPr lang="pt-BR" dirty="0" err="1"/>
              <a:t>accuracy</a:t>
            </a:r>
            <a:r>
              <a:rPr lang="pt-BR" dirty="0"/>
              <a:t> de noventa e quatro vírgula setenta e oito contrasta com uma </a:t>
            </a:r>
            <a:r>
              <a:rPr lang="pt-BR" dirty="0" err="1"/>
              <a:t>balanced</a:t>
            </a:r>
            <a:r>
              <a:rPr lang="pt-BR" dirty="0"/>
              <a:t> </a:t>
            </a:r>
            <a:r>
              <a:rPr lang="pt-BR" dirty="0" err="1"/>
              <a:t>accuracy</a:t>
            </a:r>
            <a:r>
              <a:rPr lang="pt-BR" dirty="0"/>
              <a:t> de só setenta e seis vírgula dezenove — essa diferença denuncia desbalanceamento de classes, coerente com as classes raras já descartadas no início.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Por fim, a importância de atributos aponta justamente os invariantes geométricos que o </a:t>
            </a:r>
            <a:r>
              <a:rPr lang="pt-BR" dirty="0" err="1"/>
              <a:t>paper</a:t>
            </a:r>
            <a:r>
              <a:rPr lang="pt-BR" dirty="0"/>
              <a:t> da </a:t>
            </a:r>
            <a:r>
              <a:rPr lang="pt-BR" dirty="0" err="1"/>
              <a:t>DeepMind</a:t>
            </a:r>
            <a:r>
              <a:rPr lang="pt-BR" dirty="0"/>
              <a:t> identificou como preditores da </a:t>
            </a:r>
            <a:r>
              <a:rPr lang="pt-BR" dirty="0" err="1"/>
              <a:t>signature</a:t>
            </a:r>
            <a:r>
              <a:rPr lang="pt-BR" dirty="0"/>
              <a:t> — </a:t>
            </a:r>
            <a:r>
              <a:rPr lang="pt-BR" dirty="0" err="1"/>
              <a:t>meridinal</a:t>
            </a:r>
            <a:r>
              <a:rPr lang="pt-BR" dirty="0"/>
              <a:t> e longitudinal </a:t>
            </a:r>
            <a:r>
              <a:rPr lang="pt-BR" dirty="0" err="1"/>
              <a:t>translation</a:t>
            </a:r>
            <a:r>
              <a:rPr lang="pt-BR" dirty="0"/>
              <a:t>. É importância de atributos sem explicação simples, como vimos nas limitações, mas aqui com um significado matemático real por trás.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685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 DO SLIDE: Consolidar a mensagem central e fechar a tese aberta no início.</a:t>
            </a:r>
          </a:p>
          <a:p>
            <a:endParaRPr lang="pt-BR" dirty="0"/>
          </a:p>
          <a:p>
            <a:r>
              <a:rPr lang="pt-BR" dirty="0"/>
              <a:t>ROTEIRO (narrativa):</a:t>
            </a:r>
          </a:p>
          <a:p>
            <a:r>
              <a:rPr lang="pt-BR" dirty="0"/>
              <a:t>Volto à tese que abri no primeiro slide: combinar bem muitos modelos razoáveis rende mais do que procurar o melhor modelo único. </a:t>
            </a:r>
          </a:p>
          <a:p>
            <a:r>
              <a:rPr lang="pt-BR" dirty="0"/>
              <a:t>O </a:t>
            </a:r>
            <a:r>
              <a:rPr lang="pt-BR" dirty="0" err="1"/>
              <a:t>AutoGluon</a:t>
            </a:r>
            <a:r>
              <a:rPr lang="pt-BR" dirty="0"/>
              <a:t> é um </a:t>
            </a:r>
            <a:r>
              <a:rPr lang="pt-BR" dirty="0" err="1"/>
              <a:t>AutoML</a:t>
            </a:r>
            <a:r>
              <a:rPr lang="pt-BR" dirty="0"/>
              <a:t> de ponta a ponta: recebe dados crus e devolve predições em uma linha. Ele não inventou </a:t>
            </a:r>
            <a:r>
              <a:rPr lang="pt-BR" dirty="0" err="1"/>
              <a:t>bagging</a:t>
            </a:r>
            <a:r>
              <a:rPr lang="pt-BR" dirty="0"/>
              <a:t>, </a:t>
            </a:r>
            <a:r>
              <a:rPr lang="pt-BR" dirty="0" err="1"/>
              <a:t>stacking</a:t>
            </a:r>
            <a:r>
              <a:rPr lang="pt-BR" dirty="0"/>
              <a:t> ou </a:t>
            </a:r>
            <a:r>
              <a:rPr lang="pt-BR" dirty="0" err="1"/>
              <a:t>embeddings</a:t>
            </a:r>
            <a:r>
              <a:rPr lang="pt-BR" dirty="0"/>
              <a:t>; codificou essas práticas de forma robusta e as estendeu em três pontos, o </a:t>
            </a:r>
            <a:r>
              <a:rPr lang="pt-BR" dirty="0" err="1"/>
              <a:t>stacking</a:t>
            </a:r>
            <a:r>
              <a:rPr lang="pt-BR" dirty="0"/>
              <a:t> multicamadas com </a:t>
            </a:r>
            <a:r>
              <a:rPr lang="pt-BR" dirty="0" err="1"/>
              <a:t>skip</a:t>
            </a:r>
            <a:r>
              <a:rPr lang="pt-BR" dirty="0"/>
              <a:t> connections, o </a:t>
            </a:r>
            <a:r>
              <a:rPr lang="pt-BR" dirty="0" err="1"/>
              <a:t>bagging</a:t>
            </a:r>
            <a:r>
              <a:rPr lang="pt-BR" dirty="0"/>
              <a:t> repetido e a rede com </a:t>
            </a:r>
            <a:r>
              <a:rPr lang="pt-BR" dirty="0" err="1"/>
              <a:t>embeddings</a:t>
            </a:r>
            <a:r>
              <a:rPr lang="pt-BR" dirty="0"/>
              <a:t> e atalho linear. O mecanismo que torna tudo isso possível é a predição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em todas as camadas, que permite empilhar sem vazamento e sem desperdiçar dados. E a engenharia de tempo e memória é o que faz o sistema funcionar fora do laboratório.</a:t>
            </a:r>
          </a:p>
          <a:p>
            <a:endParaRPr lang="pt-BR" dirty="0"/>
          </a:p>
          <a:p>
            <a:r>
              <a:rPr lang="pt-BR" dirty="0"/>
              <a:t>A evidência está nos três lugares que prometi. No benchmark do </a:t>
            </a:r>
            <a:r>
              <a:rPr lang="pt-BR" dirty="0" err="1"/>
              <a:t>OpenML</a:t>
            </a:r>
            <a:r>
              <a:rPr lang="pt-BR" dirty="0"/>
              <a:t>, campeão em vinte e três de trinta e nove, mais do que todos os concorrentes juntos. No </a:t>
            </a:r>
            <a:r>
              <a:rPr lang="pt-BR" dirty="0" err="1"/>
              <a:t>Kaggle</a:t>
            </a:r>
            <a:r>
              <a:rPr lang="pt-BR" dirty="0"/>
              <a:t>, campeão em sete de onze e top um por cento contra equipes humanas. </a:t>
            </a:r>
          </a:p>
          <a:p>
            <a:endParaRPr lang="pt-BR" dirty="0"/>
          </a:p>
          <a:p>
            <a:r>
              <a:rPr lang="pt-BR" dirty="0"/>
              <a:t>A lição maior, portanto, é que </a:t>
            </a:r>
            <a:r>
              <a:rPr lang="pt-BR" dirty="0" err="1"/>
              <a:t>AutoML</a:t>
            </a:r>
            <a:r>
              <a:rPr lang="pt-BR" dirty="0"/>
              <a:t> não é sinônimo de CASH. A busca de </a:t>
            </a:r>
            <a:r>
              <a:rPr lang="pt-BR" dirty="0" err="1"/>
              <a:t>hiperparâmetros</a:t>
            </a:r>
            <a:r>
              <a:rPr lang="pt-BR" dirty="0"/>
              <a:t> é uma peça, e não a mais importante. O que importa é como os modelos são combinados e como os dados são aproveitados. Isso custa tempo, disco e </a:t>
            </a:r>
            <a:r>
              <a:rPr lang="pt-BR" dirty="0" err="1"/>
              <a:t>interpretabilidade</a:t>
            </a:r>
            <a:r>
              <a:rPr lang="pt-BR" dirty="0"/>
              <a:t>, e vimos onde esses custos pesam.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A2E89-24E4-4D1E-B3B9-E7FB4B311588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2605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0 min</a:t>
            </a:r>
          </a:p>
          <a:p>
            <a:r>
              <a:rPr lang="pt-BR"/>
              <a:t>OBJETIVO: Fontes para aprofundamento.</a:t>
            </a:r>
          </a:p>
          <a:p>
            <a:r>
              <a:rPr lang="pt-BR"/>
              <a:t>ENFATIZAR: —</a:t>
            </a:r>
          </a:p>
          <a:p>
            <a:r>
              <a:rPr lang="pt-BR"/>
              <a:t>PODE OMITIR: Não ler; apenas deixar visível.</a:t>
            </a:r>
          </a:p>
          <a:p>
            <a:endParaRPr lang="pt-BR"/>
          </a:p>
          <a:p>
            <a:r>
              <a:rPr lang="pt-BR"/>
              <a:t>ROTEIRO:</a:t>
            </a:r>
          </a:p>
          <a:p>
            <a:r>
              <a:rPr lang="pt-BR"/>
              <a:t>Referências. O artigo, com apêndices, é a fonte de todos os números; o Quick Start da documentação leva dez minutos para começar.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890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3 min (dentro dos 5 de perguntas)</a:t>
            </a:r>
          </a:p>
          <a:p>
            <a:r>
              <a:rPr lang="pt-BR"/>
              <a:t>OBJETIVO: Fixar os conceitos com a turma.</a:t>
            </a:r>
          </a:p>
          <a:p>
            <a:r>
              <a:rPr lang="pt-BR"/>
              <a:t>ENFATIZAR: —</a:t>
            </a:r>
          </a:p>
          <a:p>
            <a:r>
              <a:rPr lang="pt-BR"/>
              <a:t>PODE OMITIR: —</a:t>
            </a:r>
          </a:p>
          <a:p>
            <a:endParaRPr lang="pt-BR"/>
          </a:p>
          <a:p>
            <a:r>
              <a:rPr lang="pt-BR"/>
              <a:t>ROTEIRO:</a:t>
            </a:r>
          </a:p>
          <a:p>
            <a:r>
              <a:rPr lang="pt-BR"/>
              <a:t>Quiz rápido para fixar: peço que escaneiem o QR code. Enquanto respondem, abro para perguntas.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2547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—</a:t>
            </a:r>
          </a:p>
          <a:p>
            <a:r>
              <a:rPr lang="pt-BR"/>
              <a:t>OBJETIVO: Encerrar e abrir a discussão.</a:t>
            </a:r>
          </a:p>
          <a:p>
            <a:r>
              <a:rPr lang="pt-BR"/>
              <a:t>ENFATIZAR: —</a:t>
            </a:r>
          </a:p>
          <a:p>
            <a:r>
              <a:rPr lang="pt-BR"/>
              <a:t>PODE OMITIR: —</a:t>
            </a:r>
          </a:p>
          <a:p>
            <a:endParaRPr lang="pt-BR"/>
          </a:p>
          <a:p>
            <a:r>
              <a:rPr lang="pt-BR"/>
              <a:t>ROTEIRO:</a:t>
            </a:r>
          </a:p>
          <a:p>
            <a:r>
              <a:rPr lang="pt-BR"/>
              <a:t>Perguntas frequentes para ter preparadas: séries temporais (o módulo tabular assume IID; há um módulo separado para séries); custo de inferência (proporcional a modelos × k × n; há presets leves e destilação); e se vale ajustar hiperparâmetros por cima (não é necessário para vencer, mas a biblioteca oferece a opção).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5403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o uso real e conectar cada argumento à arquitetura.</a:t>
            </a:r>
          </a:p>
          <a:p>
            <a:r>
              <a:rPr lang="pt-BR" dirty="0"/>
              <a:t>ENFATIZAR: O </a:t>
            </a:r>
            <a:r>
              <a:rPr lang="pt-BR" dirty="0" err="1"/>
              <a:t>leaderboard</a:t>
            </a:r>
            <a:r>
              <a:rPr lang="pt-BR" dirty="0"/>
              <a:t> como prova viva do </a:t>
            </a:r>
            <a:r>
              <a:rPr lang="pt-BR" dirty="0" err="1"/>
              <a:t>stacking</a:t>
            </a:r>
            <a:r>
              <a:rPr lang="pt-BR" dirty="0"/>
              <a:t>.</a:t>
            </a:r>
          </a:p>
          <a:p>
            <a:r>
              <a:rPr lang="pt-BR" dirty="0"/>
              <a:t>PODE OMITIR: </a:t>
            </a:r>
            <a:r>
              <a:rPr lang="pt-BR" dirty="0" err="1"/>
              <a:t>predict_proba</a:t>
            </a:r>
            <a:r>
              <a:rPr lang="pt-BR" dirty="0"/>
              <a:t>, </a:t>
            </a:r>
            <a:r>
              <a:rPr lang="pt-BR" dirty="0" err="1"/>
              <a:t>feature_importance</a:t>
            </a:r>
            <a:r>
              <a:rPr lang="pt-BR" dirty="0"/>
              <a:t>, </a:t>
            </a:r>
            <a:r>
              <a:rPr lang="pt-BR" dirty="0" err="1"/>
              <a:t>load</a:t>
            </a:r>
            <a:r>
              <a:rPr lang="pt-BR" dirty="0"/>
              <a:t> — citar só se sobrar tempo.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Tudo o que vimos cabe nestas linhas. Carregamos treino e teste; criamos o preditor com a coluna-alvo e a métrica, e essa métrica é exatamente a que o ensemble </a:t>
            </a:r>
            <a:r>
              <a:rPr lang="pt-BR" dirty="0" err="1"/>
              <a:t>selection</a:t>
            </a:r>
            <a:r>
              <a:rPr lang="pt-BR" dirty="0"/>
              <a:t> vai maximizar, então escolham a métrica do negócio. O </a:t>
            </a:r>
            <a:r>
              <a:rPr lang="pt-BR" dirty="0" err="1"/>
              <a:t>fit</a:t>
            </a:r>
            <a:r>
              <a:rPr lang="pt-BR" dirty="0"/>
              <a:t> recebe o tempo em segundos, o princípio de tempo previsível, e o </a:t>
            </a:r>
            <a:r>
              <a:rPr lang="pt-BR" dirty="0" err="1"/>
              <a:t>preset</a:t>
            </a:r>
            <a:r>
              <a:rPr lang="pt-BR" dirty="0"/>
              <a:t> </a:t>
            </a:r>
            <a:r>
              <a:rPr lang="pt-BR" dirty="0" err="1"/>
              <a:t>best_quality</a:t>
            </a:r>
            <a:r>
              <a:rPr lang="pt-BR" dirty="0"/>
              <a:t>, que liga </a:t>
            </a:r>
            <a:r>
              <a:rPr lang="pt-BR" dirty="0" err="1"/>
              <a:t>bagging</a:t>
            </a:r>
            <a:r>
              <a:rPr lang="pt-BR" dirty="0"/>
              <a:t> e </a:t>
            </a:r>
            <a:r>
              <a:rPr lang="pt-BR" dirty="0" err="1"/>
              <a:t>stacking</a:t>
            </a:r>
            <a:r>
              <a:rPr lang="pt-BR" dirty="0"/>
              <a:t>, equivalente ao </a:t>
            </a:r>
            <a:r>
              <a:rPr lang="pt-BR" dirty="0" err="1"/>
              <a:t>auto_stack</a:t>
            </a:r>
            <a:r>
              <a:rPr lang="pt-BR" dirty="0"/>
              <a:t> do artigo. Depois, o </a:t>
            </a:r>
            <a:r>
              <a:rPr lang="pt-BR" dirty="0" err="1"/>
              <a:t>leaderboard</a:t>
            </a:r>
            <a:r>
              <a:rPr lang="pt-BR" dirty="0"/>
              <a:t>: ele lista todos os modelos, e os nomes trazem a camada, L1 para os modelos base com </a:t>
            </a:r>
            <a:r>
              <a:rPr lang="pt-BR" dirty="0" err="1"/>
              <a:t>bagging</a:t>
            </a:r>
            <a:r>
              <a:rPr lang="pt-BR" dirty="0"/>
              <a:t>, L2 para os </a:t>
            </a:r>
            <a:r>
              <a:rPr lang="pt-BR" dirty="0" err="1"/>
              <a:t>stackers</a:t>
            </a:r>
            <a:r>
              <a:rPr lang="pt-BR" dirty="0"/>
              <a:t>, e o WeightedEnsemble_L3 no topo, que é a camada de ensemble </a:t>
            </a:r>
            <a:r>
              <a:rPr lang="pt-BR" dirty="0" err="1"/>
              <a:t>selection</a:t>
            </a:r>
            <a:r>
              <a:rPr lang="pt-BR" dirty="0"/>
              <a:t>. A Figura 2 literalmente impressa. Rodem isso hoje num </a:t>
            </a:r>
            <a:r>
              <a:rPr lang="pt-BR" dirty="0" err="1"/>
              <a:t>dataset</a:t>
            </a:r>
            <a:r>
              <a:rPr lang="pt-BR" dirty="0"/>
              <a:t> que conheçam.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5668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Ligar cada componente ao seu ganho — fecha o fio condutor.</a:t>
            </a:r>
          </a:p>
          <a:p>
            <a:r>
              <a:rPr lang="pt-BR" dirty="0"/>
              <a:t>ENFATIZAR: Rede neural e </a:t>
            </a:r>
            <a:r>
              <a:rPr lang="pt-BR" dirty="0" err="1"/>
              <a:t>bagging</a:t>
            </a:r>
            <a:r>
              <a:rPr lang="pt-BR" dirty="0"/>
              <a:t>/OOF são os maiores ganhos; 3 h extras não compensam a falta de </a:t>
            </a:r>
            <a:r>
              <a:rPr lang="pt-BR" dirty="0" err="1"/>
              <a:t>stacking</a:t>
            </a:r>
            <a:r>
              <a:rPr lang="pt-BR" dirty="0"/>
              <a:t>.</a:t>
            </a:r>
          </a:p>
          <a:p>
            <a:r>
              <a:rPr lang="pt-BR" dirty="0"/>
              <a:t>PODE OMITIR: Valores de 1 h da Tabela S5.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Este slide fecha o fio da aula: prometi que cada decisão de projeto teria evidência. Retira-se um componente por vez, de forma cumulativa. Sem repetição do </a:t>
            </a:r>
            <a:r>
              <a:rPr lang="pt-BR" dirty="0" err="1"/>
              <a:t>bagging</a:t>
            </a:r>
            <a:r>
              <a:rPr lang="pt-BR" dirty="0"/>
              <a:t>, a perda sobe de zero vírgula dezesseis para zero vírgula vinte e dois: efeito pequeno, mas real. Sem </a:t>
            </a:r>
            <a:r>
              <a:rPr lang="pt-BR" dirty="0" err="1"/>
              <a:t>stacking</a:t>
            </a:r>
            <a:r>
              <a:rPr lang="pt-BR" dirty="0"/>
              <a:t> multicamadas, a perda mais que dobra; e a versão sem </a:t>
            </a:r>
            <a:r>
              <a:rPr lang="pt-BR" dirty="0" err="1"/>
              <a:t>stacking</a:t>
            </a:r>
            <a:r>
              <a:rPr lang="pt-BR" dirty="0"/>
              <a:t> treinada por quatro horas não supera a completa treinada por uma: três horas de computação não compensam a ausência de uma ideia. Sem </a:t>
            </a:r>
            <a:r>
              <a:rPr lang="pt-BR" dirty="0" err="1"/>
              <a:t>bagging</a:t>
            </a:r>
            <a:r>
              <a:rPr lang="pt-BR" dirty="0"/>
              <a:t>, ou seja, sem OOF, zero vírgula setenta e dois: o </a:t>
            </a:r>
            <a:r>
              <a:rPr lang="pt-BR" dirty="0" err="1"/>
              <a:t>stacker</a:t>
            </a:r>
            <a:r>
              <a:rPr lang="pt-BR" dirty="0"/>
              <a:t> vê menos dados e dados piores. E sem a rede neural, o pior resultado: lembrem, ela raramente é o melhor modelo isolado, e é o componente mais valioso do conjunto, porque é a única fonte de fronteiras diferentes das árvores. Diversidade vale mais que excelência individual. E nenhuma variante usa busca de </a:t>
            </a:r>
            <a:r>
              <a:rPr lang="pt-BR" dirty="0" err="1"/>
              <a:t>hiperparâmetros</a:t>
            </a:r>
            <a:r>
              <a:rPr lang="pt-BR" dirty="0"/>
              <a:t>: toda a acurácia vem de como os modelos são combinados.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9362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Fechar a arquitetura com o refinamento estatístico e a engenharia de robustez.</a:t>
            </a:r>
          </a:p>
          <a:p>
            <a:r>
              <a:rPr lang="pt-BR" dirty="0"/>
              <a:t>ENFATIZAR: Repetição reduz o viés do OOF; treino sequencial explica as poucas falhas nos benchmarks.</a:t>
            </a:r>
          </a:p>
          <a:p>
            <a:r>
              <a:rPr lang="pt-BR" dirty="0"/>
              <a:t>PODE OMITIR: Números da ablação para </a:t>
            </a:r>
            <a:r>
              <a:rPr lang="pt-BR" dirty="0" err="1"/>
              <a:t>NoRepeat</a:t>
            </a:r>
            <a:r>
              <a:rPr lang="pt-BR" dirty="0"/>
              <a:t> (ficam no slide 18); detalhes do </a:t>
            </a:r>
            <a:r>
              <a:rPr lang="pt-BR" dirty="0" err="1"/>
              <a:t>continue_training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Dois refinamentos para fechar a arquitetura:</a:t>
            </a:r>
          </a:p>
          <a:p>
            <a:endParaRPr lang="pt-BR" dirty="0"/>
          </a:p>
          <a:p>
            <a:r>
              <a:rPr lang="pt-BR" dirty="0"/>
              <a:t>O primeiro é estatístico: mesmo a predição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carrega um viés sutil, porque o </a:t>
            </a:r>
            <a:r>
              <a:rPr lang="pt-BR" dirty="0" err="1"/>
              <a:t>early</a:t>
            </a:r>
            <a:r>
              <a:rPr lang="pt-BR" dirty="0"/>
              <a:t> </a:t>
            </a:r>
            <a:r>
              <a:rPr lang="pt-BR" dirty="0" err="1"/>
              <a:t>stopping</a:t>
            </a:r>
            <a:r>
              <a:rPr lang="pt-BR" dirty="0"/>
              <a:t> de cada cópia foi decidido olhando a dobra retida; um </a:t>
            </a:r>
            <a:r>
              <a:rPr lang="pt-BR" dirty="0" err="1"/>
              <a:t>stacker</a:t>
            </a:r>
            <a:r>
              <a:rPr lang="pt-BR" dirty="0"/>
              <a:t> sobre predições levemente otimistas </a:t>
            </a:r>
            <a:r>
              <a:rPr lang="pt-BR" dirty="0" err="1"/>
              <a:t>sobreajusta</a:t>
            </a:r>
            <a:r>
              <a:rPr lang="pt-BR" dirty="0"/>
              <a:t> um pouco mais, e o efeito se amplifica por camada. A correção é repetir todo o k-</a:t>
            </a:r>
            <a:r>
              <a:rPr lang="pt-BR" dirty="0" err="1"/>
              <a:t>fold</a:t>
            </a:r>
            <a:r>
              <a:rPr lang="pt-BR" dirty="0"/>
              <a:t> em n partições diferentes e </a:t>
            </a:r>
            <a:r>
              <a:rPr lang="pt-BR" dirty="0" err="1"/>
              <a:t>promediar</a:t>
            </a:r>
            <a:r>
              <a:rPr lang="pt-BR" dirty="0"/>
              <a:t>; n é o quanto cabe no tempo restante.</a:t>
            </a:r>
          </a:p>
          <a:p>
            <a:endParaRPr lang="pt-BR" dirty="0"/>
          </a:p>
          <a:p>
            <a:r>
              <a:rPr lang="pt-BR" dirty="0"/>
              <a:t>O segundo é engenharia: os modelos são treinados um de cada vez, com todos os núcleos, o que evita os erros de memória dos frameworks que paralelizam; cada modelo é salvo em disco ao terminar; e um modelo que falha é pulado. Há predição sempre que um único modelo treinar em uma dobra. Isso não melhora acurácia diretamente, mas é o que vai aparecer como zero ou uma falha nos benchmarks, contra até quatorze dos concorrentes.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5262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1 min</a:t>
            </a:r>
          </a:p>
          <a:p>
            <a:r>
              <a:rPr lang="pt-BR"/>
              <a:t>OBJETIVO: Mapear domínios e dar orientação responsável.</a:t>
            </a:r>
          </a:p>
          <a:p>
            <a:r>
              <a:rPr lang="pt-BR"/>
              <a:t>ENFATIZAR: Baseline obrigatório; vazamento e séries temporais continuam responsabilidade humana.</a:t>
            </a:r>
          </a:p>
          <a:p>
            <a:r>
              <a:rPr lang="pt-BR"/>
              <a:t>PODE OMITIR: Presets leves e destilação para produção.</a:t>
            </a:r>
          </a:p>
          <a:p>
            <a:endParaRPr lang="pt-BR"/>
          </a:p>
          <a:p>
            <a:r>
              <a:rPr lang="pt-BR"/>
              <a:t>ROTEIRO:</a:t>
            </a:r>
          </a:p>
          <a:p>
            <a:r>
              <a:rPr lang="pt-BR"/>
              <a:t>Onde usar? Os exemplos entre parênteses são datasets reais do benchmark: finanças e seguros, varejo e negócios, saúde, indústria e, no nosso contexto, telecomunicações: falhas de rede, churn, QoS. O perfil ideal é tabela única, linhas independentes, métrica clara e prioridade em acurácia. Três cuidados: definam a métrica do negócio e deem tempo; lembrem que o AutoML automatiza a modelagem, não a formulação, então vazamento semântico e dependência temporal continuam sendo responsabilidade de vocês; e usem o AutoGluon como baseline obrigatório: quatro horas dele são o piso que qualquer solução manual precisa superar, e muitas vezes o piso já é o teto.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898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6E565-3E50-8731-3F1D-219A0DE9A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290343-44F8-D14F-07A5-B87DA1031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48C9B8-8A83-113E-9EA1-CA69C96D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A5DE68-9055-4757-A9DF-41741C93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484D22-22C9-558D-5F67-48F548AF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8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8E969-32C5-E9E7-D0B4-A0C9DE82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2B54DF-1159-949D-B538-184BBD4B1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95D8C0-21DA-476A-3020-2EA0C370E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EA52E9-F8C9-8821-5517-BDD4D30C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AA1C7B-3EB5-5F9E-5128-D8C6E4CA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25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516BE-CD8B-29D4-921E-0DB661BFA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C8EB44-F717-3E62-BEA3-809FB7BEA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E2DB0E-D754-E49E-79D4-5873FE88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EFEF14-0311-7B6B-FDF1-F072183F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B3EAE4-11F6-92DD-3C89-A08833E6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8BBE8-50ED-224F-B220-B815767C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D57F1C-EFF5-281F-B4BB-27B64162D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256487-AE03-8DE9-80D3-376F39044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621557-D06C-08F7-507B-9A492B98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E4F127-F00B-7C9A-F923-B3ECFF33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C95D68-F982-8095-CF58-22BA0353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15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20F2C-B980-1D8B-3D37-96D6CB89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DCA732-20C6-E687-1D56-E41BBA641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04D928-F1A5-0114-4597-F46948C26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0CBCCD-6B87-49AD-19E7-A0C8C965F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676C4A-DEA2-D435-802E-FB198BB15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2A519AB-395A-73CD-336E-9E3B9A32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E7CCC91-2A2F-44D2-8F09-8A16C257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0A8E12-8F86-3B8D-BBB7-5E08F383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08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A0A01-195C-C449-1FB8-5CEAFA88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7EB1B4-79E3-B006-B737-33276B0E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E1E776-FEC6-7BE5-7914-C1D12605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D554CF-56FD-539A-C9B0-05EFE56E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98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F0AE89-E8D9-629E-2F07-CCBE773A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B0773E-576B-5451-E3F8-6094A794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6D2630-B560-1A93-1CCF-251D3850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17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BF596-9AC8-6239-979B-44095BD8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6FADC1-BEA6-46C7-DD9A-226D41389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759947-ECF6-D1A0-D45E-606B8DA35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F2E1E5-57BE-BEC7-590B-EBA47AA6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10D113-EF09-0049-C9D3-0C431D63B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F92175-E890-DD9D-ECB0-13AD71F1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624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EF3A8-F1EE-0BB4-E7CA-75298BDE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7D3985-5BE1-84B2-4203-4B5A6BB3B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9EF4AD-906A-2D84-254A-93BD77D7F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971125-1DB1-B408-A74F-25C2ACAE2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4E952D-84B7-2C71-4BE8-6BAEAD25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6BA06F-926B-B2BC-AA2F-3C2BDAC1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84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2DB95-E3B9-61AE-4C96-5A5F3E52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68B7E7-00C8-DC7A-2091-7D31940ED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62EE01-CC0C-0644-C75C-78A27621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343DEC-528F-E0D1-3A3D-E6E7ABD2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A56411-1B28-CC19-4217-B2AAF6AE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21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C7EEF0-5296-FE1F-257A-4303C8528E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3BF0EC-D81E-4425-6FF3-1D3D49169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67569E-1FAE-CB64-2030-EAB6C3E7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888B32-15F0-8E7B-0BA9-73FF5CEB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10568C-3B61-2D41-EBC6-4163A8D1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6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8B02349-892D-32F5-8DEC-C2F8199D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755317-E2B1-086C-AA9B-A446903F5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1DEC97-142B-3465-6DAE-9BD915A27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3325B-5153-4000-87AA-678BBA3D3A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B31AD7-A9A0-01AD-BF11-CFB9FC2EF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A8FA9A-7B07-D9DA-C92A-9F181DB1F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2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dirty="0"/>
            </a:br>
            <a:r>
              <a:rPr lang="pt-BR" sz="60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AutoGluon</a:t>
            </a:r>
            <a:r>
              <a:rPr lang="pt-BR" sz="6000" b="1" dirty="0">
                <a:solidFill>
                  <a:srgbClr val="14213D"/>
                </a:solidFill>
                <a:latin typeface="Cambria" panose="02040503050406030204" pitchFamily="18" charset="0"/>
              </a:rPr>
              <a:t>-Tabular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Bryan Fernando Sarango Rodriguez</a:t>
            </a:r>
          </a:p>
          <a:p>
            <a:r>
              <a:rPr lang="pt-BR" dirty="0"/>
              <a:t>bryan.rodriguez@dtel.inatel.br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7917CC-2C71-6AC8-54DD-B2029649E02C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Contexto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082B1A-9D1E-733B-B0BB-339BE0052729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AutoGluon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 Tabular é um framework de 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AutoML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 (Machine Learning Automatizado)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E06191-612E-C6E7-A6D6-384E6D27AAA6}"/>
              </a:ext>
            </a:extLst>
          </p:cNvPr>
          <p:cNvSpPr txBox="1"/>
          <p:nvPr/>
        </p:nvSpPr>
        <p:spPr>
          <a:xfrm>
            <a:off x="609600" y="6527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AutoGluon-Tabular  ·  TP558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3BC9E25-B9E4-E44F-9E6D-441E45FF8ECF}"/>
              </a:ext>
            </a:extLst>
          </p:cNvPr>
          <p:cNvSpPr/>
          <p:nvPr/>
        </p:nvSpPr>
        <p:spPr>
          <a:xfrm>
            <a:off x="609600" y="1676400"/>
            <a:ext cx="2590800" cy="18506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8486C3-397F-943A-8C92-01A05663F55A}"/>
              </a:ext>
            </a:extLst>
          </p:cNvPr>
          <p:cNvSpPr txBox="1"/>
          <p:nvPr/>
        </p:nvSpPr>
        <p:spPr>
          <a:xfrm>
            <a:off x="787400" y="1738868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b="1" dirty="0">
                <a:solidFill>
                  <a:srgbClr val="0E9AA7"/>
                </a:solidFill>
                <a:latin typeface="Cambria" panose="02040503050406030204" pitchFamily="18" charset="0"/>
              </a:rPr>
              <a:t>1 ML, na </a:t>
            </a:r>
            <a:r>
              <a:rPr lang="pt-BR" b="1" dirty="0">
                <a:solidFill>
                  <a:srgbClr val="0E9AA7"/>
                </a:solidFill>
                <a:latin typeface="Cambria" panose="02040503050406030204" pitchFamily="18" charset="0"/>
              </a:rPr>
              <a:t>prática</a:t>
            </a:r>
            <a:endParaRPr lang="pt-BR" sz="1600" b="1" dirty="0">
              <a:solidFill>
                <a:srgbClr val="0E9AA7"/>
              </a:solidFill>
              <a:latin typeface="Cambria" panose="020405030504060302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180896-F5B4-CE20-0C54-F68F797D98F5}"/>
              </a:ext>
            </a:extLst>
          </p:cNvPr>
          <p:cNvSpPr txBox="1"/>
          <p:nvPr/>
        </p:nvSpPr>
        <p:spPr>
          <a:xfrm>
            <a:off x="787400" y="21336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pegar dados, escolher um algoritmo, ajustá-lo e avaliar se ele acerta em dados novos</a:t>
            </a:r>
            <a:endParaRPr lang="pt-BR" sz="12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29D70B0-409C-CFE6-10AB-6A308163C191}"/>
              </a:ext>
            </a:extLst>
          </p:cNvPr>
          <p:cNvSpPr/>
          <p:nvPr/>
        </p:nvSpPr>
        <p:spPr>
          <a:xfrm>
            <a:off x="3403600" y="1676400"/>
            <a:ext cx="2590800" cy="18506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79E43C1-68BE-CEA3-85FE-63CA4E241145}"/>
              </a:ext>
            </a:extLst>
          </p:cNvPr>
          <p:cNvSpPr txBox="1"/>
          <p:nvPr/>
        </p:nvSpPr>
        <p:spPr>
          <a:xfrm>
            <a:off x="3581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 dirty="0">
                <a:solidFill>
                  <a:srgbClr val="0E9AA7"/>
                </a:solidFill>
                <a:latin typeface="Cambria" panose="02040503050406030204" pitchFamily="18" charset="0"/>
              </a:rPr>
              <a:t>2 Decisão humana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0516912-78D7-0D12-0AFF-B0A596B8A1FE}"/>
              </a:ext>
            </a:extLst>
          </p:cNvPr>
          <p:cNvSpPr txBox="1"/>
          <p:nvPr/>
        </p:nvSpPr>
        <p:spPr>
          <a:xfrm>
            <a:off x="3581400" y="21336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limpar os dados, criar atributos, selecionar modelos, validar. Errar em qualquer um deles compromete o resultado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4129695-659F-C557-A095-443F917C5AF8}"/>
              </a:ext>
            </a:extLst>
          </p:cNvPr>
          <p:cNvSpPr/>
          <p:nvPr/>
        </p:nvSpPr>
        <p:spPr>
          <a:xfrm>
            <a:off x="6197600" y="1676400"/>
            <a:ext cx="2590800" cy="18506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D55FBC0-5311-6E88-D341-2B64B27629D1}"/>
              </a:ext>
            </a:extLst>
          </p:cNvPr>
          <p:cNvSpPr txBox="1"/>
          <p:nvPr/>
        </p:nvSpPr>
        <p:spPr>
          <a:xfrm>
            <a:off x="6375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 dirty="0">
                <a:solidFill>
                  <a:srgbClr val="0E9AA7"/>
                </a:solidFill>
                <a:latin typeface="Cambria" panose="02040503050406030204" pitchFamily="18" charset="0"/>
              </a:rPr>
              <a:t>3  Sucesso do ML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6BB6185-CE0A-CC4B-0290-F413B963AA57}"/>
              </a:ext>
            </a:extLst>
          </p:cNvPr>
          <p:cNvSpPr txBox="1"/>
          <p:nvPr/>
        </p:nvSpPr>
        <p:spPr>
          <a:xfrm>
            <a:off x="6375400" y="21336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Mais aplicações (saúde, finanças, indústria, 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telecom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) e mais técnicas, tornou a uma pessoa difícil de dominar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CB74CD8-68F7-7822-13B0-FD97DEB71D9D}"/>
              </a:ext>
            </a:extLst>
          </p:cNvPr>
          <p:cNvSpPr/>
          <p:nvPr/>
        </p:nvSpPr>
        <p:spPr>
          <a:xfrm>
            <a:off x="8991600" y="1676400"/>
            <a:ext cx="2590800" cy="1850628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C6992C8-CA8A-7AA8-1EC9-25D2DC9AD73F}"/>
              </a:ext>
            </a:extLst>
          </p:cNvPr>
          <p:cNvSpPr txBox="1"/>
          <p:nvPr/>
        </p:nvSpPr>
        <p:spPr>
          <a:xfrm>
            <a:off x="9169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 dirty="0">
                <a:solidFill>
                  <a:srgbClr val="0E9AA7"/>
                </a:solidFill>
                <a:latin typeface="Cambria" panose="02040503050406030204" pitchFamily="18" charset="0"/>
              </a:rPr>
              <a:t>4  Solução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56D95D1-DD03-8BF9-A0D6-8A7B6087FEB4}"/>
              </a:ext>
            </a:extLst>
          </p:cNvPr>
          <p:cNvSpPr txBox="1"/>
          <p:nvPr/>
        </p:nvSpPr>
        <p:spPr>
          <a:xfrm>
            <a:off x="9080500" y="2133600"/>
            <a:ext cx="2413000" cy="139342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AutoML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  recebe os dados, define como modelar e entrega um modelo pronto. O 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AutoGluon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 faz isso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C011F19-0376-6B08-C2E7-17E87E96C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43" y="3628628"/>
            <a:ext cx="6584914" cy="254000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EEBE220-5F4B-4E3B-EFFF-B0C33776D682}"/>
              </a:ext>
            </a:extLst>
          </p:cNvPr>
          <p:cNvSpPr txBox="1"/>
          <p:nvPr/>
        </p:nvSpPr>
        <p:spPr>
          <a:xfrm>
            <a:off x="609600" y="6168628"/>
            <a:ext cx="10972800" cy="2575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Etapas do pipeline de ML que o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AutoML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 se propõe a automatizar — da coleta de dados ao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deploy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584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D63F3B-398F-2DC9-C070-8358D85D95AD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01 · Introdução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E9BE53-6C7A-2EE4-32FC-B83614603B89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Dados tabulares: o formato mais comum e o mais heterogêneo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05AC81-45AD-D19A-A230-4D054F50F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" r="4159"/>
          <a:stretch/>
        </p:blipFill>
        <p:spPr>
          <a:xfrm>
            <a:off x="6096000" y="1670566"/>
            <a:ext cx="5290149" cy="432383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8505372-39A3-352E-44E0-3D161CE84D32}"/>
              </a:ext>
            </a:extLst>
          </p:cNvPr>
          <p:cNvSpPr txBox="1"/>
          <p:nvPr/>
        </p:nvSpPr>
        <p:spPr>
          <a:xfrm>
            <a:off x="6096000" y="5994400"/>
            <a:ext cx="5486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Uma tabela real: tipos de coluna misturados. Abaixo, as três linhas com que o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AutoGluon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 treina e prevê a partir dela.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D3EF2E4-96BE-F125-2B79-D85B3E680E1D}"/>
              </a:ext>
            </a:extLst>
          </p:cNvPr>
          <p:cNvSpPr txBox="1"/>
          <p:nvPr/>
        </p:nvSpPr>
        <p:spPr>
          <a:xfrm>
            <a:off x="805851" y="2086708"/>
            <a:ext cx="4775200" cy="7569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Linhas independentes; colunas numéricas, categóricas, texto, datas, </a:t>
            </a:r>
            <a:r>
              <a:rPr lang="pt-BR" dirty="0" err="1">
                <a:solidFill>
                  <a:srgbClr val="1F2933"/>
                </a:solidFill>
                <a:latin typeface="Calibri" panose="020F0502020204030204" pitchFamily="34" charset="0"/>
              </a:rPr>
              <a:t>IDs</a:t>
            </a:r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, valores ausentes — tudo na mesma tabela.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09CDC80-AD39-FD5B-3092-EC903CFF7523}"/>
              </a:ext>
            </a:extLst>
          </p:cNvPr>
          <p:cNvSpPr txBox="1"/>
          <p:nvPr/>
        </p:nvSpPr>
        <p:spPr>
          <a:xfrm>
            <a:off x="805851" y="3123614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Sem estrutura espacial ou sequencial: </a:t>
            </a:r>
            <a:r>
              <a:rPr lang="pt-BR" dirty="0" err="1">
                <a:solidFill>
                  <a:srgbClr val="1F2933"/>
                </a:solidFill>
                <a:latin typeface="Calibri" panose="020F0502020204030204" pitchFamily="34" charset="0"/>
              </a:rPr>
              <a:t>CNNs</a:t>
            </a:r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 e </a:t>
            </a:r>
            <a:r>
              <a:rPr lang="pt-BR" dirty="0" err="1">
                <a:solidFill>
                  <a:srgbClr val="1F2933"/>
                </a:solidFill>
                <a:latin typeface="Calibri" panose="020F0502020204030204" pitchFamily="34" charset="0"/>
              </a:rPr>
              <a:t>RNNs</a:t>
            </a:r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 não se aplicam; árvores dominam.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FD74F7F-4F2B-9A4E-D62C-CD54B536E2B2}"/>
              </a:ext>
            </a:extLst>
          </p:cNvPr>
          <p:cNvSpPr txBox="1"/>
          <p:nvPr/>
        </p:nvSpPr>
        <p:spPr>
          <a:xfrm>
            <a:off x="805851" y="3972224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Muitos frameworks exigem dados já limpos e numéricos — devolvem ao humano a parte mais tediosa.</a:t>
            </a:r>
          </a:p>
        </p:txBody>
      </p:sp>
    </p:spTree>
    <p:extLst>
      <p:ext uri="{BB962C8B-B14F-4D97-AF65-F5344CB8AC3E}">
        <p14:creationId xmlns:p14="http://schemas.microsoft.com/office/powerpoint/2010/main" val="3454650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94038AE-A513-FD3E-2062-43C0CAFE8E6A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01 · Introdução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8B0B8A-B3AA-E561-8EC8-085D08F39425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AutoML virou sinônimo de CASH — e isso é uma limitação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FF522C-CF62-0B4B-9AE0-CD3955FACDB9}"/>
              </a:ext>
            </a:extLst>
          </p:cNvPr>
          <p:cNvSpPr txBox="1"/>
          <p:nvPr/>
        </p:nvSpPr>
        <p:spPr>
          <a:xfrm>
            <a:off x="609600" y="6527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AutoGluon-Tabular  ·  TP558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5C3CF93-7C8F-6D93-C07D-B47E45476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197" y="3136900"/>
            <a:ext cx="6333606" cy="28321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2597753-EA4D-1374-85A8-70FB4CE5068A}"/>
              </a:ext>
            </a:extLst>
          </p:cNvPr>
          <p:cNvSpPr txBox="1"/>
          <p:nvPr/>
        </p:nvSpPr>
        <p:spPr>
          <a:xfrm>
            <a:off x="838200" y="2076088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CASH = escolher algoritmo +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hiperparâmetros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por busca (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Auto-WEKA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- bayesiana, TPOT- genética, aleatória).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CEA387D-2F3A-3188-7961-B10131F86CDF}"/>
              </a:ext>
            </a:extLst>
          </p:cNvPr>
          <p:cNvSpPr txBox="1"/>
          <p:nvPr/>
        </p:nvSpPr>
        <p:spPr>
          <a:xfrm>
            <a:off x="838200" y="2447798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Busca intratável: gasta horas em configurações que nenhum especialista testaria.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9BBC083-B554-96C3-0EF4-71CC1BE36BE4}"/>
              </a:ext>
            </a:extLst>
          </p:cNvPr>
          <p:cNvSpPr txBox="1"/>
          <p:nvPr/>
        </p:nvSpPr>
        <p:spPr>
          <a:xfrm>
            <a:off x="838200" y="2808311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Aposta do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AutoGluon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: CASH é só uma peça. O tempo rende mais em pré-processamento, modelos diversos e ensembles.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F66FC04-52D7-3FD3-9659-C993B95C886E}"/>
              </a:ext>
            </a:extLst>
          </p:cNvPr>
          <p:cNvSpPr txBox="1"/>
          <p:nvPr/>
        </p:nvSpPr>
        <p:spPr>
          <a:xfrm>
            <a:off x="609600" y="60452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O paradigma Auto-CASH: dados + algoritmos candidatos → busca do melhor algoritmo → otimização de hiperparâmetros.</a:t>
            </a:r>
          </a:p>
        </p:txBody>
      </p:sp>
      <p:sp>
        <p:nvSpPr>
          <p:cNvPr id="14" name="CaixaDeTexto 7">
            <a:extLst>
              <a:ext uri="{FF2B5EF4-FFF2-40B4-BE49-F238E27FC236}">
                <a16:creationId xmlns:a16="http://schemas.microsoft.com/office/drawing/2014/main" id="{E757EA61-2F63-420D-A5F2-EAF40D4244ED}"/>
              </a:ext>
            </a:extLst>
          </p:cNvPr>
          <p:cNvSpPr txBox="1"/>
          <p:nvPr/>
        </p:nvSpPr>
        <p:spPr>
          <a:xfrm>
            <a:off x="838200" y="1512621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AutoML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automatiza as etapas do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machine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learning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: preparação de dados, escolha de algoritmo, ajuste de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hiperparâmetros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e combinação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2567773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F1B42D-5C41-152A-891C-A860C8B15874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02 · Conceito base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727D83-D567-40E6-3C59-BE56B7EF28C8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O que é o AutoGluon-Tabular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725C887-E7B4-4F2E-64C2-982A0007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742" y="3429000"/>
            <a:ext cx="6129518" cy="299720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6B8C7026-7C5F-BD2F-9F79-2A3A92C06AE4}"/>
              </a:ext>
            </a:extLst>
          </p:cNvPr>
          <p:cNvSpPr/>
          <p:nvPr/>
        </p:nvSpPr>
        <p:spPr>
          <a:xfrm>
            <a:off x="609600" y="1689100"/>
            <a:ext cx="304800" cy="3048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284117-ACE4-B614-3D17-7096A16ABED0}"/>
              </a:ext>
            </a:extLst>
          </p:cNvPr>
          <p:cNvSpPr txBox="1"/>
          <p:nvPr/>
        </p:nvSpPr>
        <p:spPr>
          <a:xfrm>
            <a:off x="1066800" y="1676400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Biblioteca Python open-source (Amazon, 2020) para classificação e regressão em tabelas.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A0A7D08-BFCF-5ABA-4376-A34795B0F616}"/>
              </a:ext>
            </a:extLst>
          </p:cNvPr>
          <p:cNvSpPr/>
          <p:nvPr/>
        </p:nvSpPr>
        <p:spPr>
          <a:xfrm>
            <a:off x="609600" y="2133600"/>
            <a:ext cx="304800" cy="3048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2A9871-7EF7-CD33-6083-B17D0DC2DA2D}"/>
              </a:ext>
            </a:extLst>
          </p:cNvPr>
          <p:cNvSpPr txBox="1"/>
          <p:nvPr/>
        </p:nvSpPr>
        <p:spPr>
          <a:xfrm>
            <a:off x="1066800" y="2120900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Uma linha de código: CSV cru entra, preditor pronto sai; o tipo de problema é inferido.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B5702B1-37C8-108F-F160-C9BDF3FB3E3B}"/>
              </a:ext>
            </a:extLst>
          </p:cNvPr>
          <p:cNvSpPr/>
          <p:nvPr/>
        </p:nvSpPr>
        <p:spPr>
          <a:xfrm>
            <a:off x="609600" y="2578100"/>
            <a:ext cx="304800" cy="3048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6205CE-E44D-ADD4-EAA0-EB08295EAA9E}"/>
              </a:ext>
            </a:extLst>
          </p:cNvPr>
          <p:cNvSpPr txBox="1"/>
          <p:nvPr/>
        </p:nvSpPr>
        <p:spPr>
          <a:xfrm>
            <a:off x="1066800" y="2565400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Quatro princípios: simplicidade, robustez, tolerância a falhas e tempo previsível.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7D9ACF6-C2E5-DF36-5A22-36849FDB2EA4}"/>
              </a:ext>
            </a:extLst>
          </p:cNvPr>
          <p:cNvSpPr/>
          <p:nvPr/>
        </p:nvSpPr>
        <p:spPr>
          <a:xfrm>
            <a:off x="609600" y="3022600"/>
            <a:ext cx="304800" cy="3048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87D1278-09B0-0E79-7F24-31BD32D8E081}"/>
              </a:ext>
            </a:extLst>
          </p:cNvPr>
          <p:cNvSpPr txBox="1"/>
          <p:nvPr/>
        </p:nvSpPr>
        <p:spPr>
          <a:xfrm>
            <a:off x="1066800" y="3009900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Primeiro framework a codificar, em um só sistema, as práticas da comunidade Kaggle.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248A7AA-CABC-43A2-199C-4E9FD448C3EE}"/>
              </a:ext>
            </a:extLst>
          </p:cNvPr>
          <p:cNvSpPr txBox="1"/>
          <p:nvPr/>
        </p:nvSpPr>
        <p:spPr>
          <a:xfrm>
            <a:off x="434101" y="64262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O ciclo manual (definir, coletar,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pré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-processar, treinar, avaliar) colapsa em um único passo: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AutoML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858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5C9C276-B2CC-74FD-47C5-C74E28ACB921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02 · Conceito base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E71659-56DF-36A2-82DE-4DB31BE5E14C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Onde o AutoGluon se afasta dos outros frameworks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CB1F65F-8F6C-B3EF-655D-C2890D6E1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85223"/>
              </p:ext>
            </p:extLst>
          </p:nvPr>
        </p:nvGraphicFramePr>
        <p:xfrm>
          <a:off x="609600" y="1676400"/>
          <a:ext cx="10972800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13552699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28541613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225524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221123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Framework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Dados crus?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Estratégia CASH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Ensembling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72658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Auto-WEKA (2013)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Otimização bayesiana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Bagging, boosting, stacking, voto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5219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auto-sklearn (2015)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BayesOpt + meta-learning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Ensemble selection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8054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TPOT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Programação genética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Stacking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9164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H2O AutoML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Busca aleatória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Stacking + bagging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98275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GCP AutoML Tables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Não divulgada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Boosting (AdaNet)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5392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AutoGluon-Tabular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Nenhuma (padrões fixos)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Multi-layer stacking + repeated bagging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513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92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1E5F3D-6578-84FB-FFBD-04715EA3E698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2B7D82-C80C-8050-20D1-3D3B15C034D3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Pré-processamento automático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0E5F043-B44F-0F03-9179-24E2884DD465}"/>
              </a:ext>
            </a:extLst>
          </p:cNvPr>
          <p:cNvSpPr/>
          <p:nvPr/>
        </p:nvSpPr>
        <p:spPr>
          <a:xfrm>
            <a:off x="60960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Numérica</a:t>
            </a:r>
            <a:endParaRPr lang="pt-BR" sz="12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71C2BAB-D9EA-9065-C0AE-B1B502AF6B99}"/>
              </a:ext>
            </a:extLst>
          </p:cNvPr>
          <p:cNvSpPr/>
          <p:nvPr/>
        </p:nvSpPr>
        <p:spPr>
          <a:xfrm>
            <a:off x="283464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Categórica</a:t>
            </a:r>
            <a:endParaRPr lang="pt-BR" sz="12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FFD733F-2C45-3C7F-88FB-D0EA66F5A31C}"/>
              </a:ext>
            </a:extLst>
          </p:cNvPr>
          <p:cNvSpPr/>
          <p:nvPr/>
        </p:nvSpPr>
        <p:spPr>
          <a:xfrm>
            <a:off x="505968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Texto → n-gramas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110179F-2F53-F2E2-1D7F-5531B53398B7}"/>
              </a:ext>
            </a:extLst>
          </p:cNvPr>
          <p:cNvSpPr/>
          <p:nvPr/>
        </p:nvSpPr>
        <p:spPr>
          <a:xfrm>
            <a:off x="728472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Data → numérico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6138D53-367C-3A61-C11C-2A0758DFBDC4}"/>
              </a:ext>
            </a:extLst>
          </p:cNvPr>
          <p:cNvSpPr/>
          <p:nvPr/>
        </p:nvSpPr>
        <p:spPr>
          <a:xfrm>
            <a:off x="950976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ID único → descartada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0636ED7-BCE9-B5B7-14A0-8A2A3AC6A306}"/>
              </a:ext>
            </a:extLst>
          </p:cNvPr>
          <p:cNvSpPr txBox="1"/>
          <p:nvPr/>
        </p:nvSpPr>
        <p:spPr>
          <a:xfrm>
            <a:off x="609600" y="22098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Tipagem automática de cada coluna no estágio agnóstico ao modelo.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54CC18B-5685-B3DB-EA64-39C6D168D5B5}"/>
              </a:ext>
            </a:extLst>
          </p:cNvPr>
          <p:cNvSpPr txBox="1"/>
          <p:nvPr/>
        </p:nvSpPr>
        <p:spPr>
          <a:xfrm>
            <a:off x="1041400" y="26162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Tipo de problema inferido da coluna-alvo (texto → classificação; numérico → regressão).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F884468-B590-6BEF-32D4-1242E57EF237}"/>
              </a:ext>
            </a:extLst>
          </p:cNvPr>
          <p:cNvSpPr txBox="1"/>
          <p:nvPr/>
        </p:nvSpPr>
        <p:spPr>
          <a:xfrm>
            <a:off x="1041400" y="30226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Dois estágios: um agnóstico para todos os modelos, outro específico por modelo (árvores ≠ rede neural).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4AF8BE6-2404-748B-2071-1CF53E550324}"/>
              </a:ext>
            </a:extLst>
          </p:cNvPr>
          <p:cNvSpPr txBox="1"/>
          <p:nvPr/>
        </p:nvSpPr>
        <p:spPr>
          <a:xfrm>
            <a:off x="1041400" y="34290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Faltante categórico vira “Unknown”: não se imputa, porque a ausência carrega informação.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06F1B1E-B770-01AA-6950-276555FC1B6E}"/>
              </a:ext>
            </a:extLst>
          </p:cNvPr>
          <p:cNvSpPr txBox="1"/>
          <p:nvPr/>
        </p:nvSpPr>
        <p:spPr>
          <a:xfrm>
            <a:off x="1041400" y="38354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Categoria nunca vista no teste cai em “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Unknown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” — sem quebrar o modelo.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8862308-99D2-E45A-DB4D-0EF6FAFBC2E0}"/>
              </a:ext>
            </a:extLst>
          </p:cNvPr>
          <p:cNvSpPr/>
          <p:nvPr/>
        </p:nvSpPr>
        <p:spPr>
          <a:xfrm>
            <a:off x="609600" y="5740400"/>
            <a:ext cx="10972800" cy="533400"/>
          </a:xfrm>
          <a:prstGeom prst="roundRect">
            <a:avLst>
              <a:gd name="adj" fmla="val 15000"/>
            </a:avLst>
          </a:prstGeom>
          <a:solidFill>
            <a:srgbClr val="FFF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r>
              <a:rPr lang="pt-BR" sz="1300" b="1">
                <a:solidFill>
                  <a:srgbClr val="14213D"/>
                </a:solidFill>
                <a:latin typeface="Calibri" panose="020F0502020204030204" pitchFamily="34" charset="0"/>
              </a:rPr>
              <a:t>Por que importa: dados raramente faltam ao acaso — a ausência é evidência, e a categoria Unknown a preserva.</a:t>
            </a:r>
          </a:p>
        </p:txBody>
      </p:sp>
    </p:spTree>
    <p:extLst>
      <p:ext uri="{BB962C8B-B14F-4D97-AF65-F5344CB8AC3E}">
        <p14:creationId xmlns:p14="http://schemas.microsoft.com/office/powerpoint/2010/main" val="4178302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D3CF057-F100-1C14-9C1E-046CB4F8A2A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2C35D8-3706-7A13-62FE-5DAE2F05F675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Com os dados prontos, quais modelos o 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AutoGluon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 treina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50C2A77-B93F-1DF6-DDE3-48985C24A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6400"/>
            <a:ext cx="5486400" cy="337278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3E321B6-A3E8-ED88-4F3F-4E7860B12A70}"/>
              </a:ext>
            </a:extLst>
          </p:cNvPr>
          <p:cNvSpPr txBox="1"/>
          <p:nvPr/>
        </p:nvSpPr>
        <p:spPr>
          <a:xfrm>
            <a:off x="6096000" y="5125386"/>
            <a:ext cx="5486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Famílias de modelos base: árvores isoladas, florestas (bagging) e boosting (aqui XGBoost; o AutoGluon usa LightGBM e CatBoost).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591767-19BC-176A-757E-F9FBE43A7FD1}"/>
              </a:ext>
            </a:extLst>
          </p:cNvPr>
          <p:cNvSpPr txBox="1"/>
          <p:nvPr/>
        </p:nvSpPr>
        <p:spPr>
          <a:xfrm>
            <a:off x="1066800" y="1676400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Random Forest e Extra-Trees → LightGBM e CatBoost → rede neural própria → kNN.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E3768-2F55-61AC-A6D3-AC5BEC4405A5}"/>
              </a:ext>
            </a:extLst>
          </p:cNvPr>
          <p:cNvSpPr txBox="1"/>
          <p:nvPr/>
        </p:nvSpPr>
        <p:spPr>
          <a:xfrm>
            <a:off x="1066800" y="3071824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Ordem deliberada: confiáveis primeiro, caros e instáveis por último — resultado garantido com pouco tempo.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DC676F-FCDB-5977-0F77-32BA8860C8FC}"/>
              </a:ext>
            </a:extLst>
          </p:cNvPr>
          <p:cNvSpPr txBox="1"/>
          <p:nvPr/>
        </p:nvSpPr>
        <p:spPr>
          <a:xfrm>
            <a:off x="1066800" y="2301714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Diversidade é o objetivo: árvores (fronteiras nos eixos) + rede (fronteiras suaves) +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kNN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(local).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710C249-5E03-BD8A-A815-EBE883982119}"/>
              </a:ext>
            </a:extLst>
          </p:cNvPr>
          <p:cNvSpPr txBox="1"/>
          <p:nvPr/>
        </p:nvSpPr>
        <p:spPr>
          <a:xfrm>
            <a:off x="1066800" y="3786176"/>
            <a:ext cx="4775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Hiperparâmetros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padrão, definidos a priori. Sem busca.</a:t>
            </a:r>
          </a:p>
        </p:txBody>
      </p:sp>
    </p:spTree>
    <p:extLst>
      <p:ext uri="{BB962C8B-B14F-4D97-AF65-F5344CB8AC3E}">
        <p14:creationId xmlns:p14="http://schemas.microsoft.com/office/powerpoint/2010/main" val="17956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7C1D8D2-BDBC-FC9F-60B2-A713CA4DEA4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FF4867-06F5-1118-3757-1DE360C7FD46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A rede neural: embeddings por variável e um atalho linear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5FF4B9E-CCA8-FB85-EAC2-A083363EE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76400"/>
            <a:ext cx="5295900" cy="431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F26C7BA-8DB0-0B52-FBAD-E8ACDE181B61}"/>
              </a:ext>
            </a:extLst>
          </p:cNvPr>
          <p:cNvSpPr txBox="1"/>
          <p:nvPr/>
        </p:nvSpPr>
        <p:spPr>
          <a:xfrm>
            <a:off x="1066800" y="1676400"/>
            <a:ext cx="52197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Cada categórica (≥ 4 níveis) ganha um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embedding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próprio — vetor denso no lugar do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one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-hot.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8F14E44-5EAB-EFEF-E2CC-AE0D091E2BCA}"/>
              </a:ext>
            </a:extLst>
          </p:cNvPr>
          <p:cNvSpPr txBox="1"/>
          <p:nvPr/>
        </p:nvSpPr>
        <p:spPr>
          <a:xfrm>
            <a:off x="1066800" y="2303780"/>
            <a:ext cx="52197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Concatenação → 3 blocos densos (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Dense+ReLU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,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Dropout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,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BatchNorm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).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559DB80-15FA-5B2D-4CB2-D150EE86E6E4}"/>
              </a:ext>
            </a:extLst>
          </p:cNvPr>
          <p:cNvSpPr txBox="1"/>
          <p:nvPr/>
        </p:nvSpPr>
        <p:spPr>
          <a:xfrm>
            <a:off x="1066800" y="2931160"/>
            <a:ext cx="52197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Skip connection: atalho linear da concatenação direto à saída — melhor gradiente, melhores embeddings.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9CAF569-FECE-5846-BC3F-8A7FC683DF09}"/>
              </a:ext>
            </a:extLst>
          </p:cNvPr>
          <p:cNvSpPr txBox="1"/>
          <p:nvPr/>
        </p:nvSpPr>
        <p:spPr>
          <a:xfrm>
            <a:off x="1066800" y="3558540"/>
            <a:ext cx="52197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Raramente é o melhor modelo isolado; é o mais valioso para o ensemble.</a:t>
            </a:r>
          </a:p>
        </p:txBody>
      </p:sp>
    </p:spTree>
    <p:extLst>
      <p:ext uri="{BB962C8B-B14F-4D97-AF65-F5344CB8AC3E}">
        <p14:creationId xmlns:p14="http://schemas.microsoft.com/office/powerpoint/2010/main" val="3846085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1BBBC53-37A2-4A3D-2B8D-D2766F246DC6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7492E5-49D6-7100-E379-F8EB99C54081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Três formas de combinar modelos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9C9511E-4307-1A12-5C97-0952048125C8}"/>
              </a:ext>
            </a:extLst>
          </p:cNvPr>
          <p:cNvSpPr txBox="1"/>
          <p:nvPr/>
        </p:nvSpPr>
        <p:spPr>
          <a:xfrm>
            <a:off x="11074400" y="65278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11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9593AD-5321-B670-6477-38D077FF2D80}"/>
              </a:ext>
            </a:extLst>
          </p:cNvPr>
          <p:cNvSpPr/>
          <p:nvPr/>
        </p:nvSpPr>
        <p:spPr>
          <a:xfrm>
            <a:off x="609600" y="1676400"/>
            <a:ext cx="3454400" cy="154510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556B6B7-E0E5-39B9-D5A0-58A50327CA2C}"/>
              </a:ext>
            </a:extLst>
          </p:cNvPr>
          <p:cNvSpPr txBox="1"/>
          <p:nvPr/>
        </p:nvSpPr>
        <p:spPr>
          <a:xfrm>
            <a:off x="812800" y="1854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0E9AA7"/>
                </a:solidFill>
                <a:latin typeface="Cambria" panose="02040503050406030204" pitchFamily="18" charset="0"/>
              </a:rPr>
              <a:t>Bagging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4712A8-45B1-9C62-0910-E9B20F88D012}"/>
              </a:ext>
            </a:extLst>
          </p:cNvPr>
          <p:cNvSpPr txBox="1"/>
          <p:nvPr/>
        </p:nvSpPr>
        <p:spPr>
          <a:xfrm>
            <a:off x="812800" y="2260600"/>
            <a:ext cx="3048000" cy="7376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Vários subconjuntos, um modelo em cada, média das saídas. Reduz variância. Ex.: Random Forest.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2BD360B-190B-4039-5237-7621334CA2E9}"/>
              </a:ext>
            </a:extLst>
          </p:cNvPr>
          <p:cNvSpPr/>
          <p:nvPr/>
        </p:nvSpPr>
        <p:spPr>
          <a:xfrm>
            <a:off x="4368800" y="1676400"/>
            <a:ext cx="3454400" cy="154510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736182D-1314-3656-0C22-02CF9BC69C66}"/>
              </a:ext>
            </a:extLst>
          </p:cNvPr>
          <p:cNvSpPr txBox="1"/>
          <p:nvPr/>
        </p:nvSpPr>
        <p:spPr>
          <a:xfrm>
            <a:off x="4572000" y="1854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0E9AA7"/>
                </a:solidFill>
                <a:latin typeface="Cambria" panose="02040503050406030204" pitchFamily="18" charset="0"/>
              </a:rPr>
              <a:t>Boosting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D4C0C27-79FA-02B8-7CF9-F09FE20A8A9C}"/>
              </a:ext>
            </a:extLst>
          </p:cNvPr>
          <p:cNvSpPr txBox="1"/>
          <p:nvPr/>
        </p:nvSpPr>
        <p:spPr>
          <a:xfrm>
            <a:off x="4572000" y="2260600"/>
            <a:ext cx="3048000" cy="7376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Modelos em sequência; cada um corrige os erros do anterior. Reduz viés. Ex.: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LightGBM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,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CatBoost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E652A81-44E4-42CB-A118-4F5808D850D2}"/>
              </a:ext>
            </a:extLst>
          </p:cNvPr>
          <p:cNvSpPr/>
          <p:nvPr/>
        </p:nvSpPr>
        <p:spPr>
          <a:xfrm>
            <a:off x="8128000" y="1676400"/>
            <a:ext cx="3454400" cy="154510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8B3A92F-33DD-DD82-14F7-174EF9FC75EB}"/>
              </a:ext>
            </a:extLst>
          </p:cNvPr>
          <p:cNvSpPr txBox="1"/>
          <p:nvPr/>
        </p:nvSpPr>
        <p:spPr>
          <a:xfrm>
            <a:off x="8331200" y="1854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0E9AA7"/>
                </a:solidFill>
                <a:latin typeface="Cambria" panose="02040503050406030204" pitchFamily="18" charset="0"/>
              </a:rPr>
              <a:t>Stacking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8F12E3-145D-55AA-0E85-42E6CCA1A502}"/>
              </a:ext>
            </a:extLst>
          </p:cNvPr>
          <p:cNvSpPr txBox="1"/>
          <p:nvPr/>
        </p:nvSpPr>
        <p:spPr>
          <a:xfrm>
            <a:off x="8331200" y="2260600"/>
            <a:ext cx="3048000" cy="7376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Predições dos modelos base viram entradas de um meta-modelo que aprende a combiná-las.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3DA02D6-9C5E-0BBE-3935-DD3029B70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25" y="3541898"/>
            <a:ext cx="7663632" cy="22084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E2ECFF1-1289-2507-CA3B-35BA4419F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357" y="3570837"/>
            <a:ext cx="3997395" cy="217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74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FFB7843-556A-13A0-09DF-1EC8D458770A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3DACF2-CCC6-5027-06BF-89731ADF7B76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 dirty="0">
                <a:solidFill>
                  <a:srgbClr val="14213D"/>
                </a:solidFill>
                <a:latin typeface="Cambria" panose="02040503050406030204" pitchFamily="18" charset="0"/>
              </a:rPr>
              <a:t>A arquitetura de ensemble </a:t>
            </a:r>
            <a:r>
              <a:rPr lang="pt-BR" sz="24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Multi-layer</a:t>
            </a:r>
            <a:r>
              <a:rPr lang="pt-BR" sz="2400" b="1" dirty="0">
                <a:solidFill>
                  <a:srgbClr val="14213D"/>
                </a:solidFill>
                <a:latin typeface="Cambria" panose="02040503050406030204" pitchFamily="18" charset="0"/>
              </a:rPr>
              <a:t> </a:t>
            </a:r>
            <a:r>
              <a:rPr lang="pt-BR" sz="24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stacking</a:t>
            </a:r>
            <a:endParaRPr lang="pt-BR" sz="2400" b="1" dirty="0">
              <a:solidFill>
                <a:srgbClr val="14213D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211E3C1-C52C-BD64-4101-83D8D50D6396}"/>
              </a:ext>
            </a:extLst>
          </p:cNvPr>
          <p:cNvSpPr/>
          <p:nvPr/>
        </p:nvSpPr>
        <p:spPr>
          <a:xfrm>
            <a:off x="609600" y="1676400"/>
            <a:ext cx="5080000" cy="4318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Saída</a:t>
            </a:r>
            <a:endParaRPr lang="pt-BR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7C60E9A-968F-4F99-F86F-57313AC329FB}"/>
              </a:ext>
            </a:extLst>
          </p:cNvPr>
          <p:cNvCxnSpPr/>
          <p:nvPr/>
        </p:nvCxnSpPr>
        <p:spPr>
          <a:xfrm flipV="1">
            <a:off x="3149600" y="2133600"/>
            <a:ext cx="0" cy="20320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AC838CA-39E3-E624-7DC0-89B62C79A62D}"/>
              </a:ext>
            </a:extLst>
          </p:cNvPr>
          <p:cNvSpPr/>
          <p:nvPr/>
        </p:nvSpPr>
        <p:spPr>
          <a:xfrm>
            <a:off x="647700" y="2362200"/>
            <a:ext cx="5080000" cy="66040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14213D"/>
                </a:solidFill>
                <a:latin typeface="Calibri" panose="020F0502020204030204" pitchFamily="34" charset="0"/>
              </a:rPr>
              <a:t>Ensemble </a:t>
            </a:r>
            <a:r>
              <a:rPr lang="pt-BR" sz="1400" b="1" dirty="0" err="1">
                <a:solidFill>
                  <a:srgbClr val="14213D"/>
                </a:solidFill>
                <a:latin typeface="Calibri" panose="020F0502020204030204" pitchFamily="34" charset="0"/>
              </a:rPr>
              <a:t>selection</a:t>
            </a:r>
            <a:r>
              <a:rPr lang="pt-BR" sz="1400" b="1" dirty="0">
                <a:solidFill>
                  <a:srgbClr val="14213D"/>
                </a:solidFill>
                <a:latin typeface="Calibri" panose="020F0502020204030204" pitchFamily="34" charset="0"/>
              </a:rPr>
              <a:t> ponderado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D367DA8-863E-3B55-F1F7-7100D60C63D8}"/>
              </a:ext>
            </a:extLst>
          </p:cNvPr>
          <p:cNvCxnSpPr/>
          <p:nvPr/>
        </p:nvCxnSpPr>
        <p:spPr>
          <a:xfrm flipV="1">
            <a:off x="3149600" y="3048000"/>
            <a:ext cx="0" cy="20320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77FD1CE-3C97-705F-6743-821C9050F394}"/>
              </a:ext>
            </a:extLst>
          </p:cNvPr>
          <p:cNvSpPr/>
          <p:nvPr/>
        </p:nvSpPr>
        <p:spPr>
          <a:xfrm>
            <a:off x="609600" y="3276600"/>
            <a:ext cx="5080000" cy="6604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Camada 2 ·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stackers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(os mesmos modelos) — entrada: [dados originais ‖ predições da camada 1]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69BA226-17EA-84FF-060F-A543ECC3CD1E}"/>
              </a:ext>
            </a:extLst>
          </p:cNvPr>
          <p:cNvCxnSpPr/>
          <p:nvPr/>
        </p:nvCxnSpPr>
        <p:spPr>
          <a:xfrm flipV="1">
            <a:off x="3149600" y="3962400"/>
            <a:ext cx="0" cy="20320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0800C5E-AE11-08BF-E524-10E9EABE4C67}"/>
              </a:ext>
            </a:extLst>
          </p:cNvPr>
          <p:cNvSpPr/>
          <p:nvPr/>
        </p:nvSpPr>
        <p:spPr>
          <a:xfrm>
            <a:off x="609600" y="4191000"/>
            <a:ext cx="5080000" cy="6604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Camada 1 · modelos base — RF, ET,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LightGBM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,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CatBoost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, rede neural,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kNN</a:t>
            </a:r>
            <a:endParaRPr lang="pt-BR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E8036E86-767D-464C-7865-FD8DFA28CA64}"/>
              </a:ext>
            </a:extLst>
          </p:cNvPr>
          <p:cNvCxnSpPr/>
          <p:nvPr/>
        </p:nvCxnSpPr>
        <p:spPr>
          <a:xfrm flipV="1">
            <a:off x="3149600" y="4876800"/>
            <a:ext cx="0" cy="20320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515B108-CC62-0812-60FD-7782FBD46B05}"/>
              </a:ext>
            </a:extLst>
          </p:cNvPr>
          <p:cNvSpPr/>
          <p:nvPr/>
        </p:nvSpPr>
        <p:spPr>
          <a:xfrm>
            <a:off x="609600" y="5105400"/>
            <a:ext cx="5080000" cy="660400"/>
          </a:xfrm>
          <a:prstGeom prst="roundRect">
            <a:avLst>
              <a:gd name="adj" fmla="val 12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Entrada · dados </a:t>
            </a:r>
            <a:r>
              <a:rPr lang="pt-BR" sz="1400" dirty="0" err="1">
                <a:solidFill>
                  <a:srgbClr val="1F2933"/>
                </a:solidFill>
                <a:latin typeface="Calibri" panose="020F0502020204030204" pitchFamily="34" charset="0"/>
              </a:rPr>
              <a:t>pré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-processados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617D9783-898A-88C5-C45F-89D1335AAF1E}"/>
              </a:ext>
            </a:extLst>
          </p:cNvPr>
          <p:cNvCxnSpPr/>
          <p:nvPr/>
        </p:nvCxnSpPr>
        <p:spPr>
          <a:xfrm>
            <a:off x="5689600" y="5435600"/>
            <a:ext cx="304800" cy="0"/>
          </a:xfrm>
          <a:prstGeom prst="line">
            <a:avLst/>
          </a:prstGeom>
          <a:ln w="22225">
            <a:solidFill>
              <a:srgbClr val="F4A2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ABAF3BA-EAC3-9EDF-7B1C-63B7DADFDBDC}"/>
              </a:ext>
            </a:extLst>
          </p:cNvPr>
          <p:cNvCxnSpPr/>
          <p:nvPr/>
        </p:nvCxnSpPr>
        <p:spPr>
          <a:xfrm flipV="1">
            <a:off x="5994400" y="3606800"/>
            <a:ext cx="0" cy="1828800"/>
          </a:xfrm>
          <a:prstGeom prst="line">
            <a:avLst/>
          </a:prstGeom>
          <a:ln w="22225">
            <a:solidFill>
              <a:srgbClr val="F4A2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FDDDB109-E3F7-ACF7-9D29-2FC7A2945517}"/>
              </a:ext>
            </a:extLst>
          </p:cNvPr>
          <p:cNvCxnSpPr/>
          <p:nvPr/>
        </p:nvCxnSpPr>
        <p:spPr>
          <a:xfrm flipH="1">
            <a:off x="5715000" y="3606800"/>
            <a:ext cx="279400" cy="0"/>
          </a:xfrm>
          <a:prstGeom prst="line">
            <a:avLst/>
          </a:prstGeom>
          <a:ln w="22225">
            <a:solidFill>
              <a:srgbClr val="F4A26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D8D694A-993D-0F37-A211-5BBA96D29E26}"/>
              </a:ext>
            </a:extLst>
          </p:cNvPr>
          <p:cNvSpPr txBox="1"/>
          <p:nvPr/>
        </p:nvSpPr>
        <p:spPr>
          <a:xfrm rot="16200000">
            <a:off x="5219700" y="44323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F4A261"/>
                </a:solidFill>
                <a:latin typeface="Calibri" panose="020F0502020204030204" pitchFamily="34" charset="0"/>
              </a:rPr>
              <a:t>skip connection: dados originais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BFDB834-1F63-6D3A-089A-874BC20A064D}"/>
              </a:ext>
            </a:extLst>
          </p:cNvPr>
          <p:cNvSpPr txBox="1"/>
          <p:nvPr/>
        </p:nvSpPr>
        <p:spPr>
          <a:xfrm>
            <a:off x="6845300" y="1676400"/>
            <a:ext cx="4737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 err="1">
                <a:solidFill>
                  <a:srgbClr val="1F2933"/>
                </a:solidFill>
                <a:latin typeface="Calibri" panose="020F0502020204030204" pitchFamily="34" charset="0"/>
              </a:rPr>
              <a:t>Stackers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 = os mesmos tipos de modelo da base. Nenhum CASH novo na segunda camada.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7EBFA9D-83B4-E065-0051-2585757B6AAB}"/>
              </a:ext>
            </a:extLst>
          </p:cNvPr>
          <p:cNvSpPr txBox="1"/>
          <p:nvPr/>
        </p:nvSpPr>
        <p:spPr>
          <a:xfrm>
            <a:off x="6845300" y="2230120"/>
            <a:ext cx="4737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 err="1">
                <a:solidFill>
                  <a:srgbClr val="1F2933"/>
                </a:solidFill>
                <a:latin typeface="Calibri" panose="020F0502020204030204" pitchFamily="34" charset="0"/>
              </a:rPr>
              <a:t>Skip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 connection: o </a:t>
            </a:r>
            <a:r>
              <a:rPr lang="pt-BR" sz="1400" dirty="0" err="1">
                <a:solidFill>
                  <a:srgbClr val="1F2933"/>
                </a:solidFill>
                <a:latin typeface="Calibri" panose="020F0502020204030204" pitchFamily="34" charset="0"/>
              </a:rPr>
              <a:t>stacker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 recebe as predições e também os dados originais.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3010FBD-B735-A30D-47E5-316365577E3E}"/>
              </a:ext>
            </a:extLst>
          </p:cNvPr>
          <p:cNvSpPr txBox="1"/>
          <p:nvPr/>
        </p:nvSpPr>
        <p:spPr>
          <a:xfrm>
            <a:off x="6845300" y="2783840"/>
            <a:ext cx="4737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Camada final: ensemble selection — guloso, resistente a overfitting, pondera os stackers.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61C8A18-D6CC-C386-9892-F425EB5C6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60" y="1593850"/>
            <a:ext cx="5288881" cy="397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87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E8EBF01-E6D6-3EE6-65A5-8CDF4E24E005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DEF2F3-0806-A762-7972-3E6A632A2CF7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Predições out-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of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-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fold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: 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stacking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 sem vazamento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822728-E1E3-DDAB-11B5-D7B20CFD8D72}"/>
              </a:ext>
            </a:extLst>
          </p:cNvPr>
          <p:cNvSpPr txBox="1"/>
          <p:nvPr/>
        </p:nvSpPr>
        <p:spPr>
          <a:xfrm>
            <a:off x="13462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C835BB7-D948-6A94-EBEE-673B80A1C529}"/>
              </a:ext>
            </a:extLst>
          </p:cNvPr>
          <p:cNvSpPr txBox="1"/>
          <p:nvPr/>
        </p:nvSpPr>
        <p:spPr>
          <a:xfrm>
            <a:off x="19685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68D3CE9-DD10-6A77-6EBA-62CE83C863B3}"/>
              </a:ext>
            </a:extLst>
          </p:cNvPr>
          <p:cNvSpPr txBox="1"/>
          <p:nvPr/>
        </p:nvSpPr>
        <p:spPr>
          <a:xfrm>
            <a:off x="25908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132262E-890C-A437-8178-7AF3CE8FE9B6}"/>
              </a:ext>
            </a:extLst>
          </p:cNvPr>
          <p:cNvSpPr txBox="1"/>
          <p:nvPr/>
        </p:nvSpPr>
        <p:spPr>
          <a:xfrm>
            <a:off x="32131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4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E748304-B7C7-3F5A-ABD7-80435BBBEACF}"/>
              </a:ext>
            </a:extLst>
          </p:cNvPr>
          <p:cNvSpPr txBox="1"/>
          <p:nvPr/>
        </p:nvSpPr>
        <p:spPr>
          <a:xfrm>
            <a:off x="38354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CC4B14-3106-4AE4-1F0F-550ED173951A}"/>
              </a:ext>
            </a:extLst>
          </p:cNvPr>
          <p:cNvSpPr txBox="1"/>
          <p:nvPr/>
        </p:nvSpPr>
        <p:spPr>
          <a:xfrm>
            <a:off x="609600" y="21209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</a:t>
            </a:r>
            <a:r>
              <a:rPr lang="pt-BR" sz="900" b="1" dirty="0">
                <a:solidFill>
                  <a:srgbClr val="5B6770"/>
                </a:solidFill>
                <a:latin typeface="Calibri" panose="020F0502020204030204" pitchFamily="34" charset="0"/>
              </a:rPr>
              <a:t> </a:t>
            </a:r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1</a:t>
            </a:r>
            <a:endParaRPr lang="pt-BR" sz="900" b="1" dirty="0">
              <a:solidFill>
                <a:srgbClr val="5B677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80D03A8-22CD-3642-BED2-3B18F709F151}"/>
              </a:ext>
            </a:extLst>
          </p:cNvPr>
          <p:cNvSpPr/>
          <p:nvPr/>
        </p:nvSpPr>
        <p:spPr>
          <a:xfrm>
            <a:off x="13462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  <a:endParaRPr lang="pt-BR" sz="800" b="1" dirty="0">
              <a:solidFill>
                <a:srgbClr val="14213D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B8BBAE0-63D9-26D6-2655-E2502B2E62BF}"/>
              </a:ext>
            </a:extLst>
          </p:cNvPr>
          <p:cNvSpPr/>
          <p:nvPr/>
        </p:nvSpPr>
        <p:spPr>
          <a:xfrm>
            <a:off x="19685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  <a:endParaRPr lang="pt-BR" sz="8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4BA361C-8421-6933-EEB6-56887D85DFC3}"/>
              </a:ext>
            </a:extLst>
          </p:cNvPr>
          <p:cNvSpPr/>
          <p:nvPr/>
        </p:nvSpPr>
        <p:spPr>
          <a:xfrm>
            <a:off x="25908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D16B788-3662-6514-7053-09C62751CC7A}"/>
              </a:ext>
            </a:extLst>
          </p:cNvPr>
          <p:cNvSpPr/>
          <p:nvPr/>
        </p:nvSpPr>
        <p:spPr>
          <a:xfrm>
            <a:off x="32131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BDD8AF1-D4DE-97CF-BB1F-794C6B88240C}"/>
              </a:ext>
            </a:extLst>
          </p:cNvPr>
          <p:cNvSpPr/>
          <p:nvPr/>
        </p:nvSpPr>
        <p:spPr>
          <a:xfrm>
            <a:off x="38354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7110429-6A62-3CA3-270E-E41C73D6D6D2}"/>
              </a:ext>
            </a:extLst>
          </p:cNvPr>
          <p:cNvSpPr txBox="1"/>
          <p:nvPr/>
        </p:nvSpPr>
        <p:spPr>
          <a:xfrm>
            <a:off x="584200" y="2755384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 2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B9B5EAF-D469-2377-ACA7-1DB5D756C68C}"/>
              </a:ext>
            </a:extLst>
          </p:cNvPr>
          <p:cNvSpPr/>
          <p:nvPr/>
        </p:nvSpPr>
        <p:spPr>
          <a:xfrm>
            <a:off x="13462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68173B7-CE87-6ADD-0298-FF17091164A8}"/>
              </a:ext>
            </a:extLst>
          </p:cNvPr>
          <p:cNvSpPr/>
          <p:nvPr/>
        </p:nvSpPr>
        <p:spPr>
          <a:xfrm>
            <a:off x="19685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4D86942-5E30-AB93-2D26-6D09A8AD56B0}"/>
              </a:ext>
            </a:extLst>
          </p:cNvPr>
          <p:cNvSpPr/>
          <p:nvPr/>
        </p:nvSpPr>
        <p:spPr>
          <a:xfrm>
            <a:off x="25908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6BAA735-A40E-75A7-ED00-7E53550505AF}"/>
              </a:ext>
            </a:extLst>
          </p:cNvPr>
          <p:cNvSpPr/>
          <p:nvPr/>
        </p:nvSpPr>
        <p:spPr>
          <a:xfrm>
            <a:off x="32131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4337357-C905-D363-5247-9868DA4D117C}"/>
              </a:ext>
            </a:extLst>
          </p:cNvPr>
          <p:cNvSpPr/>
          <p:nvPr/>
        </p:nvSpPr>
        <p:spPr>
          <a:xfrm>
            <a:off x="38354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6415B37-61EA-4F10-3E12-4F44190FD5FB}"/>
              </a:ext>
            </a:extLst>
          </p:cNvPr>
          <p:cNvSpPr txBox="1"/>
          <p:nvPr/>
        </p:nvSpPr>
        <p:spPr>
          <a:xfrm>
            <a:off x="609600" y="3365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 3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6B732CA-6476-DE1D-BE0A-5C308D540026}"/>
              </a:ext>
            </a:extLst>
          </p:cNvPr>
          <p:cNvSpPr/>
          <p:nvPr/>
        </p:nvSpPr>
        <p:spPr>
          <a:xfrm>
            <a:off x="13462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B705F5D-5731-F729-F8A1-81FDAEADBFC6}"/>
              </a:ext>
            </a:extLst>
          </p:cNvPr>
          <p:cNvSpPr/>
          <p:nvPr/>
        </p:nvSpPr>
        <p:spPr>
          <a:xfrm>
            <a:off x="19685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6B6E555-E0B2-D3B2-4F24-8798CA6FE9AB}"/>
              </a:ext>
            </a:extLst>
          </p:cNvPr>
          <p:cNvSpPr/>
          <p:nvPr/>
        </p:nvSpPr>
        <p:spPr>
          <a:xfrm>
            <a:off x="25908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B0515783-0319-EE95-860F-6D3E25822DA2}"/>
              </a:ext>
            </a:extLst>
          </p:cNvPr>
          <p:cNvSpPr/>
          <p:nvPr/>
        </p:nvSpPr>
        <p:spPr>
          <a:xfrm>
            <a:off x="32131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C79C245-AAE3-A761-756A-03E00FC4E2D5}"/>
              </a:ext>
            </a:extLst>
          </p:cNvPr>
          <p:cNvSpPr/>
          <p:nvPr/>
        </p:nvSpPr>
        <p:spPr>
          <a:xfrm>
            <a:off x="38354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9D794E7-B991-620B-6CB1-5F90747B1AD0}"/>
              </a:ext>
            </a:extLst>
          </p:cNvPr>
          <p:cNvSpPr txBox="1"/>
          <p:nvPr/>
        </p:nvSpPr>
        <p:spPr>
          <a:xfrm>
            <a:off x="609600" y="3949700"/>
            <a:ext cx="685800" cy="4074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 4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F6D0359-E07C-6B29-0FBC-D66932A3581F}"/>
              </a:ext>
            </a:extLst>
          </p:cNvPr>
          <p:cNvSpPr/>
          <p:nvPr/>
        </p:nvSpPr>
        <p:spPr>
          <a:xfrm>
            <a:off x="13462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DFD3D3D-D31D-0D32-B314-FA4C6049E95F}"/>
              </a:ext>
            </a:extLst>
          </p:cNvPr>
          <p:cNvSpPr/>
          <p:nvPr/>
        </p:nvSpPr>
        <p:spPr>
          <a:xfrm>
            <a:off x="19685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9444C9F-2153-3EEE-85DE-ED06529E3CE3}"/>
              </a:ext>
            </a:extLst>
          </p:cNvPr>
          <p:cNvSpPr/>
          <p:nvPr/>
        </p:nvSpPr>
        <p:spPr>
          <a:xfrm>
            <a:off x="25908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E3C4AFE-4F8C-E343-3461-05F576DA9A30}"/>
              </a:ext>
            </a:extLst>
          </p:cNvPr>
          <p:cNvSpPr/>
          <p:nvPr/>
        </p:nvSpPr>
        <p:spPr>
          <a:xfrm>
            <a:off x="32131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  <a:endParaRPr lang="pt-BR" sz="800" b="1" dirty="0">
              <a:solidFill>
                <a:srgbClr val="14213D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338CC33-9FAB-CDFF-68E2-E402B8C15FDD}"/>
              </a:ext>
            </a:extLst>
          </p:cNvPr>
          <p:cNvSpPr/>
          <p:nvPr/>
        </p:nvSpPr>
        <p:spPr>
          <a:xfrm>
            <a:off x="38354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35086D-CAC6-5F0B-AB13-3DBE4327E5E4}"/>
              </a:ext>
            </a:extLst>
          </p:cNvPr>
          <p:cNvSpPr txBox="1"/>
          <p:nvPr/>
        </p:nvSpPr>
        <p:spPr>
          <a:xfrm>
            <a:off x="609600" y="46101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 5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45FF63DF-A13B-BDB3-1B1F-60ED8F04FB8B}"/>
              </a:ext>
            </a:extLst>
          </p:cNvPr>
          <p:cNvSpPr/>
          <p:nvPr/>
        </p:nvSpPr>
        <p:spPr>
          <a:xfrm>
            <a:off x="13462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BBA328C3-C353-5410-DFC2-BB5622F972A7}"/>
              </a:ext>
            </a:extLst>
          </p:cNvPr>
          <p:cNvSpPr/>
          <p:nvPr/>
        </p:nvSpPr>
        <p:spPr>
          <a:xfrm>
            <a:off x="19685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96C8D303-9BB5-EB7F-9A4C-EF4FEA1E1D92}"/>
              </a:ext>
            </a:extLst>
          </p:cNvPr>
          <p:cNvSpPr/>
          <p:nvPr/>
        </p:nvSpPr>
        <p:spPr>
          <a:xfrm>
            <a:off x="25908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4AA411B-AE11-ED80-94B2-6B7C3BF43F2E}"/>
              </a:ext>
            </a:extLst>
          </p:cNvPr>
          <p:cNvSpPr/>
          <p:nvPr/>
        </p:nvSpPr>
        <p:spPr>
          <a:xfrm>
            <a:off x="32131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A6ACA28-D391-854C-EE56-591CBAF6D6EA}"/>
              </a:ext>
            </a:extLst>
          </p:cNvPr>
          <p:cNvSpPr/>
          <p:nvPr/>
        </p:nvSpPr>
        <p:spPr>
          <a:xfrm>
            <a:off x="38354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ABE535A-6EA5-8253-BA2A-5C419E89DB70}"/>
              </a:ext>
            </a:extLst>
          </p:cNvPr>
          <p:cNvSpPr txBox="1"/>
          <p:nvPr/>
        </p:nvSpPr>
        <p:spPr>
          <a:xfrm>
            <a:off x="609600" y="5194300"/>
            <a:ext cx="3848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Cada cópia treina em 4 dobras e prevê a que não viu (laranja). Empilhando as células laranja, há uma predição OOF para 100% do treino.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E29E518-3B28-F535-AF4E-BDEDE2E0EE33}"/>
              </a:ext>
            </a:extLst>
          </p:cNvPr>
          <p:cNvSpPr txBox="1"/>
          <p:nvPr/>
        </p:nvSpPr>
        <p:spPr>
          <a:xfrm>
            <a:off x="5257800" y="1676400"/>
            <a:ext cx="63246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/>
              <a:t>O uso de predições sobre os próprios dados de treino torna o </a:t>
            </a:r>
            <a:r>
              <a:rPr lang="pt-BR" sz="1400" dirty="0" err="1"/>
              <a:t>stacker</a:t>
            </a:r>
            <a:r>
              <a:rPr lang="pt-BR" sz="1400" dirty="0"/>
              <a:t> excessivamente confiante e provoca vazamento de dados.</a:t>
            </a:r>
            <a:endParaRPr lang="pt-BR" sz="1400" dirty="0">
              <a:solidFill>
                <a:srgbClr val="1F2933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9F77FE-38F1-74F0-89BB-77F4A4F538CA}"/>
              </a:ext>
            </a:extLst>
          </p:cNvPr>
          <p:cNvSpPr txBox="1"/>
          <p:nvPr/>
        </p:nvSpPr>
        <p:spPr>
          <a:xfrm>
            <a:off x="5257800" y="2230120"/>
            <a:ext cx="6324600" cy="51966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/>
              <a:t>O </a:t>
            </a:r>
            <a:r>
              <a:rPr lang="pt-BR" sz="1400" dirty="0" err="1"/>
              <a:t>AutoGluon</a:t>
            </a:r>
            <a:r>
              <a:rPr lang="pt-BR" sz="1400" dirty="0"/>
              <a:t> aplica k-</a:t>
            </a:r>
            <a:r>
              <a:rPr lang="pt-BR" sz="1400" dirty="0" err="1"/>
              <a:t>fold</a:t>
            </a:r>
            <a:r>
              <a:rPr lang="pt-BR" sz="1400" dirty="0"/>
              <a:t> </a:t>
            </a:r>
            <a:r>
              <a:rPr lang="pt-BR" sz="1400" dirty="0" err="1"/>
              <a:t>bagging</a:t>
            </a:r>
            <a:r>
              <a:rPr lang="pt-BR" sz="1400" dirty="0"/>
              <a:t> para que cada cópia do modelo preveja apenas a dobra que não utilizou no treinamento.</a:t>
            </a:r>
            <a:endParaRPr lang="pt-BR" sz="14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338D51D-7496-05CE-C02A-1F9ACDD9A364}"/>
              </a:ext>
            </a:extLst>
          </p:cNvPr>
          <p:cNvSpPr txBox="1"/>
          <p:nvPr/>
        </p:nvSpPr>
        <p:spPr>
          <a:xfrm>
            <a:off x="5257800" y="2940050"/>
            <a:ext cx="63246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/>
              <a:t>As predições out-</a:t>
            </a:r>
            <a:r>
              <a:rPr lang="pt-BR" sz="1400" dirty="0" err="1"/>
              <a:t>of</a:t>
            </a:r>
            <a:r>
              <a:rPr lang="pt-BR" sz="1400" dirty="0"/>
              <a:t>-</a:t>
            </a:r>
            <a:r>
              <a:rPr lang="pt-BR" sz="1400" dirty="0" err="1"/>
              <a:t>fold</a:t>
            </a:r>
            <a:r>
              <a:rPr lang="pt-BR" sz="1400" dirty="0"/>
              <a:t> permitem que o </a:t>
            </a:r>
            <a:r>
              <a:rPr lang="pt-BR" sz="1400" dirty="0" err="1"/>
              <a:t>stacker</a:t>
            </a:r>
            <a:r>
              <a:rPr lang="pt-BR" sz="1400" dirty="0"/>
              <a:t> aprenda com predições honestas para 100% dos exemplos de treino.</a:t>
            </a:r>
            <a:endParaRPr lang="pt-BR" sz="14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A15DA61-8B86-BDC3-3A44-53008CCC2D84}"/>
              </a:ext>
            </a:extLst>
          </p:cNvPr>
          <p:cNvSpPr txBox="1"/>
          <p:nvPr/>
        </p:nvSpPr>
        <p:spPr>
          <a:xfrm>
            <a:off x="5257800" y="3698240"/>
            <a:ext cx="63246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/>
              <a:t>O treinamento de cada modelo </a:t>
            </a:r>
            <a:r>
              <a:rPr lang="pt-BR" sz="1400" dirty="0" err="1"/>
              <a:t>kk</a:t>
            </a:r>
            <a:r>
              <a:rPr lang="pt-BR" sz="1400" dirty="0"/>
              <a:t> vezes aumenta o custo computacional, mas permite empilhar várias camadas sem vazamento de dados.</a:t>
            </a:r>
            <a:endParaRPr lang="pt-BR" sz="14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12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2E380C-1158-2F15-E4B4-3529830DFB42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B31F22-D88F-61C3-0F01-ED68E17D6603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 dirty="0">
                <a:solidFill>
                  <a:srgbClr val="14213D"/>
                </a:solidFill>
                <a:latin typeface="Cambria" panose="02040503050406030204" pitchFamily="18" charset="0"/>
              </a:rPr>
              <a:t>O pipeline dentro de </a:t>
            </a:r>
            <a:r>
              <a:rPr lang="pt-BR" sz="24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fit</a:t>
            </a:r>
            <a:r>
              <a:rPr lang="pt-BR" sz="2400" b="1" dirty="0">
                <a:solidFill>
                  <a:srgbClr val="14213D"/>
                </a:solidFill>
                <a:latin typeface="Cambria" panose="02040503050406030204" pitchFamily="18" charset="0"/>
              </a:rPr>
              <a:t>(): camadas que geram predições honestas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0027C6C-1FAF-C9DD-3BE9-470711D9B34C}"/>
              </a:ext>
            </a:extLst>
          </p:cNvPr>
          <p:cNvSpPr/>
          <p:nvPr/>
        </p:nvSpPr>
        <p:spPr>
          <a:xfrm>
            <a:off x="2362199" y="1461532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Pré-processamento</a:t>
            </a:r>
            <a:endParaRPr lang="pt-BR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2C40489-C7F9-A4E1-62FA-FCE9D483ADF2}"/>
              </a:ext>
            </a:extLst>
          </p:cNvPr>
          <p:cNvSpPr/>
          <p:nvPr/>
        </p:nvSpPr>
        <p:spPr>
          <a:xfrm>
            <a:off x="1071033" y="2782333"/>
            <a:ext cx="1617134" cy="10160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Camada 1: modelos base com k-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fold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bagging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(×n)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8A01F1B-68EF-A3BE-310D-EDD832B4DE4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675952" y="3290333"/>
            <a:ext cx="829733" cy="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B8775AE-1ED4-E269-B937-8F699D6830A7}"/>
              </a:ext>
            </a:extLst>
          </p:cNvPr>
          <p:cNvSpPr/>
          <p:nvPr/>
        </p:nvSpPr>
        <p:spPr>
          <a:xfrm>
            <a:off x="3505685" y="2782333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Concat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[dados ‖ predições OOF]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BE6A8D3-F317-B606-9B60-F1D015EB19E9}"/>
              </a:ext>
            </a:extLst>
          </p:cNvPr>
          <p:cNvSpPr/>
          <p:nvPr/>
        </p:nvSpPr>
        <p:spPr>
          <a:xfrm>
            <a:off x="1058819" y="4108186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Camada 2: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stackers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(mesmos modelos)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98BC654-6F4B-4C17-DAF7-247EEA860340}"/>
              </a:ext>
            </a:extLst>
          </p:cNvPr>
          <p:cNvSpPr/>
          <p:nvPr/>
        </p:nvSpPr>
        <p:spPr>
          <a:xfrm>
            <a:off x="3577165" y="4108186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Ensemble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selection</a:t>
            </a:r>
            <a:endParaRPr lang="pt-BR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12E6A36-A4D2-A6F3-608A-B9E9E535F5A0}"/>
              </a:ext>
            </a:extLst>
          </p:cNvPr>
          <p:cNvSpPr/>
          <p:nvPr/>
        </p:nvSpPr>
        <p:spPr>
          <a:xfrm>
            <a:off x="2294466" y="5434039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Predição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58948C8-8945-BFFB-2C78-144646CF2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533" y="1555876"/>
            <a:ext cx="4729739" cy="4151867"/>
          </a:xfrm>
          <a:prstGeom prst="rect">
            <a:avLst/>
          </a:prstGeom>
        </p:spPr>
      </p:pic>
      <p:cxnSp>
        <p:nvCxnSpPr>
          <p:cNvPr id="25" name="Conector reto 8">
            <a:extLst>
              <a:ext uri="{FF2B5EF4-FFF2-40B4-BE49-F238E27FC236}">
                <a16:creationId xmlns:a16="http://schemas.microsoft.com/office/drawing/2014/main" id="{3F7884B2-F4C2-443A-8EDB-418B466FF3C8}"/>
              </a:ext>
            </a:extLst>
          </p:cNvPr>
          <p:cNvCxnSpPr>
            <a:cxnSpLocks/>
          </p:cNvCxnSpPr>
          <p:nvPr/>
        </p:nvCxnSpPr>
        <p:spPr>
          <a:xfrm>
            <a:off x="2688167" y="4518603"/>
            <a:ext cx="829733" cy="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648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F41AEAF-8392-998D-CB44-4E9DF3B7D7B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04 · Desempenho e comparativos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206FCF-A391-C4A8-9508-02FD1A574D20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Como o AutoGluon foi avaliado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0BF5BFB-5198-93F6-2228-4B41532F64E4}"/>
              </a:ext>
            </a:extLst>
          </p:cNvPr>
          <p:cNvSpPr/>
          <p:nvPr/>
        </p:nvSpPr>
        <p:spPr>
          <a:xfrm>
            <a:off x="609600" y="1676400"/>
            <a:ext cx="2590800" cy="1219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5019A8B-949C-9D6B-55E3-1F1E8DC1D303}"/>
              </a:ext>
            </a:extLst>
          </p:cNvPr>
          <p:cNvSpPr txBox="1"/>
          <p:nvPr/>
        </p:nvSpPr>
        <p:spPr>
          <a:xfrm>
            <a:off x="787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0E9AA7"/>
                </a:solidFill>
                <a:latin typeface="Cambria" panose="02040503050406030204" pitchFamily="18" charset="0"/>
              </a:rPr>
              <a:t>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D98EF1-5843-C6F2-2914-7B6EF765CEE4}"/>
              </a:ext>
            </a:extLst>
          </p:cNvPr>
          <p:cNvSpPr txBox="1"/>
          <p:nvPr/>
        </p:nvSpPr>
        <p:spPr>
          <a:xfrm>
            <a:off x="787400" y="240792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B6770"/>
                </a:solidFill>
                <a:latin typeface="Calibri" panose="020F0502020204030204" pitchFamily="34" charset="0"/>
              </a:rPr>
              <a:t>frameworks AutoML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C8C7877-CEDC-89B9-4EB8-5546D27224BE}"/>
              </a:ext>
            </a:extLst>
          </p:cNvPr>
          <p:cNvSpPr/>
          <p:nvPr/>
        </p:nvSpPr>
        <p:spPr>
          <a:xfrm>
            <a:off x="3403600" y="1676400"/>
            <a:ext cx="2590800" cy="1219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7344093-13D6-D89B-1A25-C89627FB6725}"/>
              </a:ext>
            </a:extLst>
          </p:cNvPr>
          <p:cNvSpPr txBox="1"/>
          <p:nvPr/>
        </p:nvSpPr>
        <p:spPr>
          <a:xfrm>
            <a:off x="3581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0E9AA7"/>
                </a:solidFill>
                <a:latin typeface="Cambria" panose="02040503050406030204" pitchFamily="18" charset="0"/>
              </a:rPr>
              <a:t>50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D81F257-56C4-D040-82B3-794E5C8497B3}"/>
              </a:ext>
            </a:extLst>
          </p:cNvPr>
          <p:cNvSpPr txBox="1"/>
          <p:nvPr/>
        </p:nvSpPr>
        <p:spPr>
          <a:xfrm>
            <a:off x="3581400" y="240792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B6770"/>
                </a:solidFill>
                <a:latin typeface="Calibri" panose="020F0502020204030204" pitchFamily="34" charset="0"/>
              </a:rPr>
              <a:t>datasets (39 OpenML + 11 Kaggle)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0AE28BD-226D-E81D-1AB8-B86A3002DD35}"/>
              </a:ext>
            </a:extLst>
          </p:cNvPr>
          <p:cNvSpPr/>
          <p:nvPr/>
        </p:nvSpPr>
        <p:spPr>
          <a:xfrm>
            <a:off x="6197600" y="1676400"/>
            <a:ext cx="2590800" cy="1219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4922FD-0FD7-5D9D-22CA-700628F46E06}"/>
              </a:ext>
            </a:extLst>
          </p:cNvPr>
          <p:cNvSpPr txBox="1"/>
          <p:nvPr/>
        </p:nvSpPr>
        <p:spPr>
          <a:xfrm>
            <a:off x="6375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0E9AA7"/>
                </a:solidFill>
                <a:latin typeface="Cambria" panose="02040503050406030204" pitchFamily="18" charset="0"/>
              </a:rPr>
              <a:t>1 h / 4 h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1A5381F-8BA9-49DB-D950-D9509C03248F}"/>
              </a:ext>
            </a:extLst>
          </p:cNvPr>
          <p:cNvSpPr txBox="1"/>
          <p:nvPr/>
        </p:nvSpPr>
        <p:spPr>
          <a:xfrm>
            <a:off x="6375400" y="240792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B6770"/>
                </a:solidFill>
                <a:latin typeface="Calibri" panose="020F0502020204030204" pitchFamily="34" charset="0"/>
              </a:rPr>
              <a:t>limites de tempo, mesma instância EC2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BC4E68B-8BA5-6F8A-8E0A-F30BE5227518}"/>
              </a:ext>
            </a:extLst>
          </p:cNvPr>
          <p:cNvSpPr/>
          <p:nvPr/>
        </p:nvSpPr>
        <p:spPr>
          <a:xfrm>
            <a:off x="8991600" y="1676400"/>
            <a:ext cx="2590800" cy="1219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40E2CD7-5FB3-8953-0DF3-A7A81D0C05EE}"/>
              </a:ext>
            </a:extLst>
          </p:cNvPr>
          <p:cNvSpPr txBox="1"/>
          <p:nvPr/>
        </p:nvSpPr>
        <p:spPr>
          <a:xfrm>
            <a:off x="9169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0E9AA7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E2A0953-E42D-9794-0A36-E65EE116544D}"/>
              </a:ext>
            </a:extLst>
          </p:cNvPr>
          <p:cNvSpPr txBox="1"/>
          <p:nvPr/>
        </p:nvSpPr>
        <p:spPr>
          <a:xfrm>
            <a:off x="9169400" y="240792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B6770"/>
                </a:solidFill>
                <a:latin typeface="Calibri" panose="020F0502020204030204" pitchFamily="34" charset="0"/>
              </a:rPr>
              <a:t>hiperparâmetros otimizados no AutoGluon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2A32A49-C8C9-278E-C785-13A58C40698C}"/>
              </a:ext>
            </a:extLst>
          </p:cNvPr>
          <p:cNvSpPr/>
          <p:nvPr/>
        </p:nvSpPr>
        <p:spPr>
          <a:xfrm>
            <a:off x="609600" y="323850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FF80174-3EED-7EEF-2F93-217B56FF6E39}"/>
              </a:ext>
            </a:extLst>
          </p:cNvPr>
          <p:cNvSpPr txBox="1"/>
          <p:nvPr/>
        </p:nvSpPr>
        <p:spPr>
          <a:xfrm>
            <a:off x="1041400" y="32258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OpenML: 39 datasets de classificação, 10 divisões cada; métricas 1−AUC e log-loss.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81C728D-6355-DA13-2514-389AAFE254C5}"/>
              </a:ext>
            </a:extLst>
          </p:cNvPr>
          <p:cNvSpPr/>
          <p:nvPr/>
        </p:nvSpPr>
        <p:spPr>
          <a:xfrm>
            <a:off x="609600" y="364490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5BF0A21-DF7F-AF5E-D565-4FCEDC653EC1}"/>
              </a:ext>
            </a:extLst>
          </p:cNvPr>
          <p:cNvSpPr txBox="1"/>
          <p:nvPr/>
        </p:nvSpPr>
        <p:spPr>
          <a:xfrm>
            <a:off x="1041400" y="36322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Kaggle: 11 competições reais; métrica = percentil no leaderboard (fração de equipes humanas superadas).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8B7F550-0CDD-E054-21A5-BEEB356AB4C5}"/>
              </a:ext>
            </a:extLst>
          </p:cNvPr>
          <p:cNvSpPr/>
          <p:nvPr/>
        </p:nvSpPr>
        <p:spPr>
          <a:xfrm>
            <a:off x="609600" y="405130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161C5F8-5F1F-CB01-B911-7360B5B67441}"/>
              </a:ext>
            </a:extLst>
          </p:cNvPr>
          <p:cNvSpPr txBox="1"/>
          <p:nvPr/>
        </p:nvSpPr>
        <p:spPr>
          <a:xfrm>
            <a:off x="1041400" y="40386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Todas as configurações foram padrão — reforçando que o 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AutoGluon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 rodou sem otimizar um único 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hiperparâmetro</a:t>
            </a:r>
            <a:endParaRPr lang="pt-BR" sz="15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20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80D374-B31F-214F-A529-63F0046FA065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04 · Desempenho e comparativos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A1A732-E9D6-D15E-C098-0D7572657983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14213D"/>
                </a:solidFill>
                <a:latin typeface="Cambria" panose="02040503050406030204" pitchFamily="18" charset="0"/>
              </a:rPr>
              <a:t>OpenML: campeão em 23 de 39 — mais que todos os outros somados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36FEEFE-23C1-8858-D5F8-0112BC32C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816658"/>
              </p:ext>
            </p:extLst>
          </p:nvPr>
        </p:nvGraphicFramePr>
        <p:xfrm>
          <a:off x="609600" y="1676400"/>
          <a:ext cx="10972800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57486857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6007841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32930415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63207615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87954114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3005103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Framework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Falhas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Campeão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Rank médio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Perda reescalada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Tempo (min)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35813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AutoGluon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1,84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0,139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201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03734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H2O AutoML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3,13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0,245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117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TPOT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3,38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0,203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235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6617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GCP-Tables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3,75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0,334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195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83816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auto-sklearn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3,81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0,320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01887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Auto-WEKA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5,09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0,800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244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293686"/>
                  </a:ext>
                </a:extLst>
              </a:tr>
            </a:tbl>
          </a:graphicData>
        </a:graphic>
      </p:graphicFrame>
      <p:sp>
        <p:nvSpPr>
          <p:cNvPr id="7" name="Elipse 6">
            <a:extLst>
              <a:ext uri="{FF2B5EF4-FFF2-40B4-BE49-F238E27FC236}">
                <a16:creationId xmlns:a16="http://schemas.microsoft.com/office/drawing/2014/main" id="{4C9640F6-CF78-DCFD-8FDC-8E0866056061}"/>
              </a:ext>
            </a:extLst>
          </p:cNvPr>
          <p:cNvSpPr/>
          <p:nvPr/>
        </p:nvSpPr>
        <p:spPr>
          <a:xfrm>
            <a:off x="609600" y="386334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039DA4-9603-AA64-0C07-6E07223B1C62}"/>
              </a:ext>
            </a:extLst>
          </p:cNvPr>
          <p:cNvSpPr txBox="1"/>
          <p:nvPr/>
        </p:nvSpPr>
        <p:spPr>
          <a:xfrm>
            <a:off x="1041400" y="385064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Único com rank médio abaixo de 2; perda quase metade do segundo colocado.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85EA7C1-0364-B2C1-A7BA-60DE5261381A}"/>
              </a:ext>
            </a:extLst>
          </p:cNvPr>
          <p:cNvSpPr/>
          <p:nvPr/>
        </p:nvSpPr>
        <p:spPr>
          <a:xfrm>
            <a:off x="609600" y="426974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8A57217-B7FB-DB5B-5D5E-7DF1FB932965}"/>
              </a:ext>
            </a:extLst>
          </p:cNvPr>
          <p:cNvSpPr txBox="1"/>
          <p:nvPr/>
        </p:nvSpPr>
        <p:spPr>
          <a:xfrm>
            <a:off x="1041400" y="425704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Uma falha contra 5 a 14 — e 201 min dentro do limite de 240, que vários rivais estouram.</a:t>
            </a:r>
          </a:p>
        </p:txBody>
      </p:sp>
    </p:spTree>
    <p:extLst>
      <p:ext uri="{BB962C8B-B14F-4D97-AF65-F5344CB8AC3E}">
        <p14:creationId xmlns:p14="http://schemas.microsoft.com/office/powerpoint/2010/main" val="3007832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1EED032-5939-49BF-39B0-34939C382EA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04 · Desempenho e comparativos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253D58-267B-CE63-68A5-DEBE1AB835BF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Kaggle: top 1% contra equipes humanas, a partir do CSV cru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99343B7-2033-DA70-8B4A-27E32C53B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507796"/>
              </p:ext>
            </p:extLst>
          </p:nvPr>
        </p:nvGraphicFramePr>
        <p:xfrm>
          <a:off x="609600" y="1676400"/>
          <a:ext cx="7493000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5909548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3742145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2112451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6792876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90086351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Framework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Falhas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Campeão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Rank médio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Percentil médio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63696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AutoGluon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1,71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0,704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10113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GCP-Tables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2,29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0,628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88692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H2O AutoML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3,43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0,513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78184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TPOT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3,71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0,471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3125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auto-sklearn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3,86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0,482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68325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Auto-WEKA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6,00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0,206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67192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5901B0FE-6A1D-B00D-9B44-EB8BFEB009DE}"/>
              </a:ext>
            </a:extLst>
          </p:cNvPr>
          <p:cNvSpPr txBox="1"/>
          <p:nvPr/>
        </p:nvSpPr>
        <p:spPr>
          <a:xfrm>
            <a:off x="609600" y="3698240"/>
            <a:ext cx="7493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Percentil = fração de equipes humanas superadas no leaderboard oficial (maior é melhor).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950C511-6048-8322-A129-210B23BD2054}"/>
              </a:ext>
            </a:extLst>
          </p:cNvPr>
          <p:cNvSpPr txBox="1"/>
          <p:nvPr/>
        </p:nvSpPr>
        <p:spPr>
          <a:xfrm>
            <a:off x="1028700" y="4104640"/>
            <a:ext cx="70739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O rival mais próximo (GCP) usa 92 servidores. Equipes humanas levam semanas; aqui, 4 h sem intervenção.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CB7180D-5CAD-E91B-4FA9-868764E5714D}"/>
              </a:ext>
            </a:extLst>
          </p:cNvPr>
          <p:cNvSpPr/>
          <p:nvPr/>
        </p:nvSpPr>
        <p:spPr>
          <a:xfrm>
            <a:off x="8382000" y="1676400"/>
            <a:ext cx="3200400" cy="1168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9AAA52-F6B9-110C-8084-9DCE748F60BE}"/>
              </a:ext>
            </a:extLst>
          </p:cNvPr>
          <p:cNvSpPr txBox="1"/>
          <p:nvPr/>
        </p:nvSpPr>
        <p:spPr>
          <a:xfrm>
            <a:off x="8559800" y="1803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0E9AA7"/>
                </a:solidFill>
                <a:latin typeface="Cambria" panose="02040503050406030204" pitchFamily="18" charset="0"/>
              </a:rPr>
              <a:t>7 / 11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305988-CEFD-B007-4489-B600B1D40E78}"/>
              </a:ext>
            </a:extLst>
          </p:cNvPr>
          <p:cNvSpPr txBox="1"/>
          <p:nvPr/>
        </p:nvSpPr>
        <p:spPr>
          <a:xfrm>
            <a:off x="8559800" y="237744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>
                <a:solidFill>
                  <a:srgbClr val="5B6770"/>
                </a:solidFill>
                <a:latin typeface="Calibri" panose="020F0502020204030204" pitchFamily="34" charset="0"/>
              </a:rPr>
              <a:t>competições em que foi campeão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5A07C48-35CA-172F-EBC5-15B8FB2EB672}"/>
              </a:ext>
            </a:extLst>
          </p:cNvPr>
          <p:cNvSpPr/>
          <p:nvPr/>
        </p:nvSpPr>
        <p:spPr>
          <a:xfrm>
            <a:off x="8382000" y="2997200"/>
            <a:ext cx="3200400" cy="1168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CB6496E-7C86-F93E-62F2-010C86D7AA5B}"/>
              </a:ext>
            </a:extLst>
          </p:cNvPr>
          <p:cNvSpPr txBox="1"/>
          <p:nvPr/>
        </p:nvSpPr>
        <p:spPr>
          <a:xfrm>
            <a:off x="8559800" y="31242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0E9AA7"/>
                </a:solidFill>
                <a:latin typeface="Cambria" panose="02040503050406030204" pitchFamily="18" charset="0"/>
              </a:rPr>
              <a:t>70 %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269B465-5EBD-5EF5-598A-19DDA237F266}"/>
              </a:ext>
            </a:extLst>
          </p:cNvPr>
          <p:cNvSpPr txBox="1"/>
          <p:nvPr/>
        </p:nvSpPr>
        <p:spPr>
          <a:xfrm>
            <a:off x="8559800" y="369824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>
                <a:solidFill>
                  <a:srgbClr val="5B6770"/>
                </a:solidFill>
                <a:latin typeface="Calibri" panose="020F0502020204030204" pitchFamily="34" charset="0"/>
              </a:rPr>
              <a:t>das equipes humanas superadas (4 h)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A49D0B0-CC9A-7E26-DF24-F549E9AC95FE}"/>
              </a:ext>
            </a:extLst>
          </p:cNvPr>
          <p:cNvSpPr/>
          <p:nvPr/>
        </p:nvSpPr>
        <p:spPr>
          <a:xfrm>
            <a:off x="8382000" y="4318000"/>
            <a:ext cx="3200400" cy="1168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ABCD5AA-C9B2-1E17-440C-4FC06E116EEB}"/>
              </a:ext>
            </a:extLst>
          </p:cNvPr>
          <p:cNvSpPr txBox="1"/>
          <p:nvPr/>
        </p:nvSpPr>
        <p:spPr>
          <a:xfrm>
            <a:off x="8559800" y="4445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0E9AA7"/>
                </a:solidFill>
                <a:latin typeface="Cambria" panose="02040503050406030204" pitchFamily="18" charset="0"/>
              </a:rPr>
              <a:t>99,3 %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EAFB120-EEB2-9417-1FEB-3AFD7C8CF945}"/>
              </a:ext>
            </a:extLst>
          </p:cNvPr>
          <p:cNvSpPr txBox="1"/>
          <p:nvPr/>
        </p:nvSpPr>
        <p:spPr>
          <a:xfrm>
            <a:off x="8559800" y="501904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>
                <a:solidFill>
                  <a:srgbClr val="5B6770"/>
                </a:solidFill>
                <a:latin typeface="Calibri" panose="020F0502020204030204" pitchFamily="34" charset="0"/>
              </a:rPr>
              <a:t>superadas com 24 h em </a:t>
            </a:r>
            <a:r>
              <a:rPr lang="pt-BR" sz="1400" dirty="0" err="1">
                <a:solidFill>
                  <a:srgbClr val="5B6770"/>
                </a:solidFill>
                <a:latin typeface="Calibri" panose="020F0502020204030204" pitchFamily="34" charset="0"/>
              </a:rPr>
              <a:t>otto</a:t>
            </a:r>
            <a:r>
              <a:rPr lang="pt-BR" sz="1400" dirty="0">
                <a:solidFill>
                  <a:srgbClr val="5B6770"/>
                </a:solidFill>
                <a:latin typeface="Calibri" panose="020F0502020204030204" pitchFamily="34" charset="0"/>
              </a:rPr>
              <a:t> (23º/3505)</a:t>
            </a:r>
          </a:p>
        </p:txBody>
      </p:sp>
    </p:spTree>
    <p:extLst>
      <p:ext uri="{BB962C8B-B14F-4D97-AF65-F5344CB8AC3E}">
        <p14:creationId xmlns:p14="http://schemas.microsoft.com/office/powerpoint/2010/main" val="4042621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AB4B506-AA54-C898-436E-FC5E27BD01CF}"/>
              </a:ext>
            </a:extLst>
          </p:cNvPr>
          <p:cNvSpPr/>
          <p:nvPr/>
        </p:nvSpPr>
        <p:spPr>
          <a:xfrm>
            <a:off x="6350000" y="1676400"/>
            <a:ext cx="5232400" cy="247396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0C98A7A-A535-E23A-4EEA-50ADFA9F8EFF}"/>
              </a:ext>
            </a:extLst>
          </p:cNvPr>
          <p:cNvSpPr/>
          <p:nvPr/>
        </p:nvSpPr>
        <p:spPr>
          <a:xfrm>
            <a:off x="609600" y="1676400"/>
            <a:ext cx="5232400" cy="24739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1277A3C-1EC8-5121-C56C-4F85406A5824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04 · Desempenho e comparativos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5BB95D-87E0-5095-1586-2378BC867B96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Robustez com mais tempo — e os custos que se pagam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1B1A6E-3FE0-D049-5564-C6F0EB7281C1}"/>
              </a:ext>
            </a:extLst>
          </p:cNvPr>
          <p:cNvSpPr txBox="1"/>
          <p:nvPr/>
        </p:nvSpPr>
        <p:spPr>
          <a:xfrm>
            <a:off x="838200" y="1854200"/>
            <a:ext cx="477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 b="1">
                <a:solidFill>
                  <a:srgbClr val="14213D"/>
                </a:solidFill>
                <a:latin typeface="Cambria" panose="02040503050406030204" pitchFamily="18" charset="0"/>
              </a:rPr>
              <a:t>Robustez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DD8CC3D-2A01-8BE7-5E3B-AB253A98743E}"/>
              </a:ext>
            </a:extLst>
          </p:cNvPr>
          <p:cNvSpPr/>
          <p:nvPr/>
        </p:nvSpPr>
        <p:spPr>
          <a:xfrm>
            <a:off x="838200" y="234950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F36C27-D229-1A36-47F6-6910508660C1}"/>
              </a:ext>
            </a:extLst>
          </p:cNvPr>
          <p:cNvSpPr txBox="1"/>
          <p:nvPr/>
        </p:nvSpPr>
        <p:spPr>
          <a:xfrm>
            <a:off x="1257300" y="233680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De 1 h para 4 h melhora em 30 dos 39 datasets; o auto-sklearn piora em 12 (overfitting).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CA01912-DB94-8876-82C5-EEE030E46237}"/>
              </a:ext>
            </a:extLst>
          </p:cNvPr>
          <p:cNvSpPr/>
          <p:nvPr/>
        </p:nvSpPr>
        <p:spPr>
          <a:xfrm>
            <a:off x="838200" y="290322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58DECF-29B0-5ABF-08CA-F137B09680BA}"/>
              </a:ext>
            </a:extLst>
          </p:cNvPr>
          <p:cNvSpPr txBox="1"/>
          <p:nvPr/>
        </p:nvSpPr>
        <p:spPr>
          <a:xfrm>
            <a:off x="1257300" y="289052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Falhas em 4 h: AutoGluon 1 · TPOT 5 · auto-sklearn 6 · Auto-WEKA 6 · H2O 8 · GCP 14.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DECEC35-D10D-0B3A-BD4B-8EC9E9D949EE}"/>
              </a:ext>
            </a:extLst>
          </p:cNvPr>
          <p:cNvSpPr txBox="1"/>
          <p:nvPr/>
        </p:nvSpPr>
        <p:spPr>
          <a:xfrm>
            <a:off x="6578600" y="1854200"/>
            <a:ext cx="477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 b="1">
                <a:solidFill>
                  <a:srgbClr val="14213D"/>
                </a:solidFill>
                <a:latin typeface="Cambria" panose="02040503050406030204" pitchFamily="18" charset="0"/>
              </a:rPr>
              <a:t>Limitações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5D39CE8-7ED4-3157-FD43-BB1379DCBB9C}"/>
              </a:ext>
            </a:extLst>
          </p:cNvPr>
          <p:cNvSpPr/>
          <p:nvPr/>
        </p:nvSpPr>
        <p:spPr>
          <a:xfrm>
            <a:off x="6578600" y="234950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138C8E5-5EDE-ABF6-0D5B-2FF4ABE5F516}"/>
              </a:ext>
            </a:extLst>
          </p:cNvPr>
          <p:cNvSpPr txBox="1"/>
          <p:nvPr/>
        </p:nvSpPr>
        <p:spPr>
          <a:xfrm>
            <a:off x="6997700" y="233680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Custo: mais tempo de treino e disco do que um modelo único bem ajustado.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8CEF5FB-29C4-81AC-1918-8563A6A963D1}"/>
              </a:ext>
            </a:extLst>
          </p:cNvPr>
          <p:cNvSpPr/>
          <p:nvPr/>
        </p:nvSpPr>
        <p:spPr>
          <a:xfrm>
            <a:off x="6578600" y="290322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802D8AD-DCEB-E250-5C65-767C274363B0}"/>
              </a:ext>
            </a:extLst>
          </p:cNvPr>
          <p:cNvSpPr txBox="1"/>
          <p:nvPr/>
        </p:nvSpPr>
        <p:spPr>
          <a:xfrm>
            <a:off x="6997700" y="289052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Caixa-preta: centenas de modelos; há importância de atributos, não explicação simples.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F858E17-7836-AE41-7B35-D09B163C4531}"/>
              </a:ext>
            </a:extLst>
          </p:cNvPr>
          <p:cNvSpPr/>
          <p:nvPr/>
        </p:nvSpPr>
        <p:spPr>
          <a:xfrm>
            <a:off x="6578600" y="345694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1471433-44A7-DBF7-53D4-9FD4F9D3B86F}"/>
              </a:ext>
            </a:extLst>
          </p:cNvPr>
          <p:cNvSpPr txBox="1"/>
          <p:nvPr/>
        </p:nvSpPr>
        <p:spPr>
          <a:xfrm>
            <a:off x="6997700" y="344424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Muitas classes: o stacking gera C atributos por modelo — Dionis (355 classes) estourou a memória.</a:t>
            </a:r>
          </a:p>
        </p:txBody>
      </p:sp>
    </p:spTree>
    <p:extLst>
      <p:ext uri="{BB962C8B-B14F-4D97-AF65-F5344CB8AC3E}">
        <p14:creationId xmlns:p14="http://schemas.microsoft.com/office/powerpoint/2010/main" val="1515154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B31E193-F26A-59BC-B01C-0E93D4FDFFA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 dirty="0">
                <a:solidFill>
                  <a:srgbClr val="0E9AA7"/>
                </a:solidFill>
                <a:latin typeface="Calibri" panose="020F0502020204030204" pitchFamily="34" charset="0"/>
              </a:rPr>
              <a:t>05 · Aplicação prática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6DBCE7-7367-540F-B5F2-0222C0233B48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Implementação: Teoria de nós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920300B-7E34-4200-A908-1E22BD85F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09132"/>
            <a:ext cx="4448796" cy="324847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B9A2BD3-A8C9-4AC0-82EF-17F2F64A8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662" y="2350605"/>
            <a:ext cx="6296904" cy="14194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6F3BA3B-66EF-4046-8E0E-A196833CC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634" y="928078"/>
            <a:ext cx="5144218" cy="129558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702E701-D207-4074-A60F-ECE9ACE025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634" y="4042972"/>
            <a:ext cx="5573809" cy="153051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6B06F55-2292-4404-B503-8434FC27001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8329"/>
          <a:stretch/>
        </p:blipFill>
        <p:spPr>
          <a:xfrm>
            <a:off x="5802634" y="5808783"/>
            <a:ext cx="5593936" cy="2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48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B31E193-F26A-59BC-B01C-0E93D4FDFFA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 dirty="0">
                <a:solidFill>
                  <a:srgbClr val="0E9AA7"/>
                </a:solidFill>
                <a:latin typeface="Calibri" panose="020F0502020204030204" pitchFamily="34" charset="0"/>
              </a:rPr>
              <a:t>05 · Aplicação prática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6DBCE7-7367-540F-B5F2-0222C0233B48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Resultados: o ensemble em números reais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4223F2B-6594-4594-9E66-CFA47C853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27" y="1863556"/>
            <a:ext cx="5306165" cy="214861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EE29D3C-214B-40EA-9633-4C01B31C5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709" y="1863556"/>
            <a:ext cx="4953691" cy="210531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176A4BA-7BDE-47FB-89E8-920F4A508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4400" y="1863556"/>
            <a:ext cx="666843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03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98BE749-8BAA-F7E9-0118-C2D96C6DD036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06 · Conclusão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136880-A9A2-C18B-1069-12B67B31EF6A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Conclusão: o que fica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10F39A-E03D-93EA-C744-77C46DDB2BBA}"/>
              </a:ext>
            </a:extLst>
          </p:cNvPr>
          <p:cNvSpPr txBox="1"/>
          <p:nvPr/>
        </p:nvSpPr>
        <p:spPr>
          <a:xfrm>
            <a:off x="1092200" y="167640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O AutoGluon-Tabular é um AutoML de ponta a ponta para dados tabulares: dados crus entram, predições saem, em uma linha de código.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967BF13-AF65-A0BA-5741-2E23A7C48FF1}"/>
              </a:ext>
            </a:extLst>
          </p:cNvPr>
          <p:cNvSpPr txBox="1"/>
          <p:nvPr/>
        </p:nvSpPr>
        <p:spPr>
          <a:xfrm>
            <a:off x="1092200" y="234696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Ele codifica as boas práticas da comunidade e as estende: stacking multicamadas com skip connections, repeated k-fold bagging e uma rede neural com embeddings e atalho linear.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644B3E-7DC7-42C1-C935-576E5E9593B7}"/>
              </a:ext>
            </a:extLst>
          </p:cNvPr>
          <p:cNvSpPr txBox="1"/>
          <p:nvPr/>
        </p:nvSpPr>
        <p:spPr>
          <a:xfrm>
            <a:off x="1092200" y="301752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Predições out-of-fold em todas as camadas permitem um stacking profundo sem vazamento e usando 100% dos dados de treino.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2FD5C43-CE4E-9027-4ADE-342EC5E0C76E}"/>
              </a:ext>
            </a:extLst>
          </p:cNvPr>
          <p:cNvSpPr txBox="1"/>
          <p:nvPr/>
        </p:nvSpPr>
        <p:spPr>
          <a:xfrm>
            <a:off x="1092200" y="368808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A engenharia — treino sequencial, checkpoints, orçamento de tempo por camada — é o que garante robustez e tempo previsível em produção.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CADED2D-F0F5-E8D9-8D36-13E858213C81}"/>
              </a:ext>
            </a:extLst>
          </p:cNvPr>
          <p:cNvSpPr txBox="1"/>
          <p:nvPr/>
        </p:nvSpPr>
        <p:spPr>
          <a:xfrm>
            <a:off x="1092200" y="435864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A evidência: campeão em 23 de 39 </a:t>
            </a:r>
            <a:r>
              <a:rPr lang="pt-BR" sz="1700" dirty="0" err="1">
                <a:solidFill>
                  <a:srgbClr val="1F2933"/>
                </a:solidFill>
                <a:latin typeface="Calibri" panose="020F0502020204030204" pitchFamily="34" charset="0"/>
              </a:rPr>
              <a:t>datasets</a:t>
            </a:r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 do </a:t>
            </a:r>
            <a:r>
              <a:rPr lang="pt-BR" sz="1700" dirty="0" err="1">
                <a:solidFill>
                  <a:srgbClr val="1F2933"/>
                </a:solidFill>
                <a:latin typeface="Calibri" panose="020F0502020204030204" pitchFamily="34" charset="0"/>
              </a:rPr>
              <a:t>OpenML</a:t>
            </a:r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 e em 7 de 11 competições </a:t>
            </a:r>
            <a:r>
              <a:rPr lang="pt-BR" sz="1700" dirty="0" err="1">
                <a:solidFill>
                  <a:srgbClr val="1F2933"/>
                </a:solidFill>
                <a:latin typeface="Calibri" panose="020F0502020204030204" pitchFamily="34" charset="0"/>
              </a:rPr>
              <a:t>Kaggle</a:t>
            </a:r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, superando 99% dos participantes em </a:t>
            </a:r>
            <a:r>
              <a:rPr lang="pt-BR" sz="1700" dirty="0" err="1">
                <a:solidFill>
                  <a:srgbClr val="1F2933"/>
                </a:solidFill>
                <a:latin typeface="Calibri" panose="020F0502020204030204" pitchFamily="34" charset="0"/>
              </a:rPr>
              <a:t>otto</a:t>
            </a:r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FC99824-1AE5-EF4E-5178-8849DC4CF6AE}"/>
              </a:ext>
            </a:extLst>
          </p:cNvPr>
          <p:cNvSpPr txBox="1"/>
          <p:nvPr/>
        </p:nvSpPr>
        <p:spPr>
          <a:xfrm>
            <a:off x="1092200" y="502920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A lição maior: AutoML não é sinônimo de CASH. Combinar bem muitos modelos vale mais do que buscar o melhor — ao custo de tempo, disco e interpretabilidade.</a:t>
            </a:r>
          </a:p>
        </p:txBody>
      </p:sp>
    </p:spTree>
    <p:extLst>
      <p:ext uri="{BB962C8B-B14F-4D97-AF65-F5344CB8AC3E}">
        <p14:creationId xmlns:p14="http://schemas.microsoft.com/office/powerpoint/2010/main" val="3346502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1F0A5E-9387-E2E9-6ECD-F993C556A6FB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080ED7-636F-7CF9-B006-F9C538984A8A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Referências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D1969C5-30F3-0808-A67D-C853F33A7DE9}"/>
              </a:ext>
            </a:extLst>
          </p:cNvPr>
          <p:cNvSpPr/>
          <p:nvPr/>
        </p:nvSpPr>
        <p:spPr>
          <a:xfrm>
            <a:off x="609600" y="168910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885DA0-59D3-4452-D0A1-243DF176F793}"/>
              </a:ext>
            </a:extLst>
          </p:cNvPr>
          <p:cNvSpPr txBox="1"/>
          <p:nvPr/>
        </p:nvSpPr>
        <p:spPr>
          <a:xfrm>
            <a:off x="1016000" y="1676400"/>
            <a:ext cx="10566400" cy="4216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F2933"/>
                </a:solidFill>
                <a:latin typeface="Calibri" panose="020F0502020204030204" pitchFamily="34" charset="0"/>
              </a:rPr>
              <a:t>Erickson, N., Mueller, J., Shirkov, A., Zhang, H., Larroy, P., Li, M., Smola, A. (2020). AutoGluon-Tabular: Robust and Accurate AutoML for Structured Data. arXiv:2003.06505.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1C3A59F-3B25-80DF-2C3D-96AA168AE213}"/>
              </a:ext>
            </a:extLst>
          </p:cNvPr>
          <p:cNvSpPr/>
          <p:nvPr/>
        </p:nvSpPr>
        <p:spPr>
          <a:xfrm>
            <a:off x="609600" y="21996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0D0091E-0322-1DA3-B4F5-061D5567943F}"/>
              </a:ext>
            </a:extLst>
          </p:cNvPr>
          <p:cNvSpPr txBox="1"/>
          <p:nvPr/>
        </p:nvSpPr>
        <p:spPr>
          <a:xfrm>
            <a:off x="1016000" y="21869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F2933"/>
                </a:solidFill>
                <a:latin typeface="Calibri" panose="020F0502020204030204" pitchFamily="34" charset="0"/>
              </a:rPr>
              <a:t>Caruana, R. et al. (2004). Ensemble selection from libraries of models. ICML.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44121ED-ACEB-BA28-3719-BAC65D5AE2DC}"/>
              </a:ext>
            </a:extLst>
          </p:cNvPr>
          <p:cNvSpPr/>
          <p:nvPr/>
        </p:nvSpPr>
        <p:spPr>
          <a:xfrm>
            <a:off x="609600" y="25679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69F850D-D43C-9261-BA43-E3CE94B6112B}"/>
              </a:ext>
            </a:extLst>
          </p:cNvPr>
          <p:cNvSpPr txBox="1"/>
          <p:nvPr/>
        </p:nvSpPr>
        <p:spPr>
          <a:xfrm>
            <a:off x="1016000" y="25552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933"/>
                </a:solidFill>
                <a:latin typeface="Calibri" panose="020F0502020204030204" pitchFamily="34" charset="0"/>
              </a:rPr>
              <a:t>Ting, K. M., Witten, I. H. (1997). Stacking bagged and dagged models. ICML.</a:t>
            </a:r>
            <a:endParaRPr lang="pt-BR" sz="13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353610E-CA76-CCC2-3357-220BCF0B146B}"/>
              </a:ext>
            </a:extLst>
          </p:cNvPr>
          <p:cNvSpPr/>
          <p:nvPr/>
        </p:nvSpPr>
        <p:spPr>
          <a:xfrm>
            <a:off x="609600" y="29362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163FA8F-EEC7-2832-1B0C-78C598871959}"/>
              </a:ext>
            </a:extLst>
          </p:cNvPr>
          <p:cNvSpPr txBox="1"/>
          <p:nvPr/>
        </p:nvSpPr>
        <p:spPr>
          <a:xfrm>
            <a:off x="1016000" y="29235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933"/>
                </a:solidFill>
                <a:latin typeface="Calibri" panose="020F0502020204030204" pitchFamily="34" charset="0"/>
              </a:rPr>
              <a:t>Guo, C., Berkhahn, F. (2016). Entity embeddings of categorical variables. arXiv:1604.06737.</a:t>
            </a:r>
            <a:endParaRPr lang="pt-BR" sz="13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C3C413D-CF28-0C69-F069-75A2E2D1394D}"/>
              </a:ext>
            </a:extLst>
          </p:cNvPr>
          <p:cNvSpPr/>
          <p:nvPr/>
        </p:nvSpPr>
        <p:spPr>
          <a:xfrm>
            <a:off x="609600" y="33045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00326FF-690D-B19A-6107-E7CC3682A6C3}"/>
              </a:ext>
            </a:extLst>
          </p:cNvPr>
          <p:cNvSpPr txBox="1"/>
          <p:nvPr/>
        </p:nvSpPr>
        <p:spPr>
          <a:xfrm>
            <a:off x="1016000" y="32918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F2933"/>
                </a:solidFill>
                <a:latin typeface="Calibri" panose="020F0502020204030204" pitchFamily="34" charset="0"/>
              </a:rPr>
              <a:t>Gijsbers, P. et al. (2019). An open source AutoML benchmark. arXiv:1907.00909.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11EFADB-91DC-A647-2F39-0E6B89F3A84F}"/>
              </a:ext>
            </a:extLst>
          </p:cNvPr>
          <p:cNvSpPr/>
          <p:nvPr/>
        </p:nvSpPr>
        <p:spPr>
          <a:xfrm>
            <a:off x="609600" y="36728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590F726-31EB-0584-B41F-FECAB292CF87}"/>
              </a:ext>
            </a:extLst>
          </p:cNvPr>
          <p:cNvSpPr txBox="1"/>
          <p:nvPr/>
        </p:nvSpPr>
        <p:spPr>
          <a:xfrm>
            <a:off x="1016000" y="36601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F2933"/>
                </a:solidFill>
                <a:latin typeface="Calibri" panose="020F0502020204030204" pitchFamily="34" charset="0"/>
              </a:rPr>
              <a:t>Documentação oficial: auto.gluon.ai — Tabular Quick Start. Benchmarks: github.com/Innixma/autogluon-benchmarking.</a:t>
            </a:r>
          </a:p>
        </p:txBody>
      </p:sp>
    </p:spTree>
    <p:extLst>
      <p:ext uri="{BB962C8B-B14F-4D97-AF65-F5344CB8AC3E}">
        <p14:creationId xmlns:p14="http://schemas.microsoft.com/office/powerpoint/2010/main" val="662738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3B7D809-8AF6-FE90-F32A-E4D22728E195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Quiz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F1A4A5-2C2F-30B8-8A74-9CA23B1371D2}"/>
              </a:ext>
            </a:extLst>
          </p:cNvPr>
          <p:cNvSpPr txBox="1"/>
          <p:nvPr/>
        </p:nvSpPr>
        <p:spPr>
          <a:xfrm>
            <a:off x="609600" y="6527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AutoGluon-Tabular  ·  TP558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17674D7-FEA9-FB51-C3BE-1F53C57B1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35" y="2159000"/>
            <a:ext cx="1868130" cy="2413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AE5017B-57FB-C6AD-2B56-D41299E2DA62}"/>
              </a:ext>
            </a:extLst>
          </p:cNvPr>
          <p:cNvSpPr txBox="1"/>
          <p:nvPr/>
        </p:nvSpPr>
        <p:spPr>
          <a:xfrm>
            <a:off x="609600" y="49530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2000" b="1" dirty="0">
                <a:solidFill>
                  <a:srgbClr val="0E9AA7"/>
                </a:solidFill>
                <a:latin typeface="Calibri" panose="020F0502020204030204" pitchFamily="34" charset="0"/>
              </a:rPr>
              <a:t>https://forms.gle/yXwaeATVarCn2Gq38</a:t>
            </a:r>
          </a:p>
        </p:txBody>
      </p:sp>
    </p:spTree>
    <p:extLst>
      <p:ext uri="{BB962C8B-B14F-4D97-AF65-F5344CB8AC3E}">
        <p14:creationId xmlns:p14="http://schemas.microsoft.com/office/powerpoint/2010/main" val="1118539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C193BA1-9691-DDFF-B580-C5CBFDDE210C}"/>
              </a:ext>
            </a:extLst>
          </p:cNvPr>
          <p:cNvSpPr txBox="1"/>
          <p:nvPr/>
        </p:nvSpPr>
        <p:spPr>
          <a:xfrm>
            <a:off x="609600" y="2413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5600" b="1">
                <a:solidFill>
                  <a:srgbClr val="FFFFFF"/>
                </a:solidFill>
                <a:latin typeface="Cambria" panose="02040503050406030204" pitchFamily="18" charset="0"/>
              </a:rPr>
              <a:t>Obrigado!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B91AB0-A73E-E614-7A1D-2B2420FEE7A1}"/>
              </a:ext>
            </a:extLst>
          </p:cNvPr>
          <p:cNvSpPr txBox="1"/>
          <p:nvPr/>
        </p:nvSpPr>
        <p:spPr>
          <a:xfrm>
            <a:off x="609600" y="34925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>
                <a:solidFill>
                  <a:srgbClr val="F4A261"/>
                </a:solidFill>
                <a:latin typeface="Calibri" panose="020F0502020204030204" pitchFamily="34" charset="0"/>
              </a:rPr>
              <a:t>Perguntas?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BBA8A55-A209-07D4-61A1-86E06DA87934}"/>
              </a:ext>
            </a:extLst>
          </p:cNvPr>
          <p:cNvSpPr txBox="1"/>
          <p:nvPr/>
        </p:nvSpPr>
        <p:spPr>
          <a:xfrm>
            <a:off x="609600" y="5842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>
                <a:solidFill>
                  <a:srgbClr val="C9D3E0"/>
                </a:solidFill>
                <a:latin typeface="Calibri" panose="020F0502020204030204" pitchFamily="34" charset="0"/>
              </a:rPr>
              <a:t>Bryan Fernando Sarango Rodriguez · bryan.rodriguez@dtel.inatel.br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F0A0725-FA53-9305-8BA5-E0BBB2A5D196}"/>
              </a:ext>
            </a:extLst>
          </p:cNvPr>
          <p:cNvSpPr/>
          <p:nvPr/>
        </p:nvSpPr>
        <p:spPr>
          <a:xfrm>
            <a:off x="9652000" y="-762000"/>
            <a:ext cx="3810000" cy="3810000"/>
          </a:xfrm>
          <a:prstGeom prst="ellipse">
            <a:avLst/>
          </a:prstGeom>
          <a:solidFill>
            <a:srgbClr val="1B2E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143E4EB-CD1F-FB05-260D-726B27CC3F83}"/>
              </a:ext>
            </a:extLst>
          </p:cNvPr>
          <p:cNvSpPr/>
          <p:nvPr/>
        </p:nvSpPr>
        <p:spPr>
          <a:xfrm>
            <a:off x="10541000" y="254000"/>
            <a:ext cx="2032000" cy="2032000"/>
          </a:xfrm>
          <a:prstGeom prst="ellipse">
            <a:avLst/>
          </a:prstGeom>
          <a:solidFill>
            <a:srgbClr val="223A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560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07B81A5-7964-2FE5-5976-F8AF9D107832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 dirty="0">
                <a:solidFill>
                  <a:srgbClr val="0E9AA7"/>
                </a:solidFill>
                <a:latin typeface="Calibri" panose="020F0502020204030204" pitchFamily="34" charset="0"/>
              </a:rPr>
              <a:t>05 · Aplicação prática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7F61DC-64DD-BC66-F3ED-9E401D09A68B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Como usar: TabularPredictor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CCA2ED9-4754-44EC-A137-92C5505266CF}"/>
              </a:ext>
            </a:extLst>
          </p:cNvPr>
          <p:cNvSpPr/>
          <p:nvPr/>
        </p:nvSpPr>
        <p:spPr>
          <a:xfrm>
            <a:off x="609600" y="1600200"/>
            <a:ext cx="10972800" cy="22352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789B43-EF41-B25C-D5B8-064F271B750C}"/>
              </a:ext>
            </a:extLst>
          </p:cNvPr>
          <p:cNvSpPr txBox="1"/>
          <p:nvPr/>
        </p:nvSpPr>
        <p:spPr>
          <a:xfrm>
            <a:off x="812800" y="1752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>
                <a:solidFill>
                  <a:srgbClr val="E6EDF3"/>
                </a:solidFill>
                <a:latin typeface="Courier New" panose="02070309020205020404" pitchFamily="49" charset="0"/>
              </a:rPr>
              <a:t>from autogluon.tabular import TabularDataset, TabularPredictor</a:t>
            </a:r>
          </a:p>
          <a:p>
            <a:endParaRPr lang="pt-BR" sz="1200">
              <a:solidFill>
                <a:srgbClr val="E6EDF3"/>
              </a:solidFill>
              <a:latin typeface="Courier New" panose="02070309020205020404" pitchFamily="49" charset="0"/>
            </a:endParaRPr>
          </a:p>
          <a:p>
            <a:r>
              <a:rPr lang="pt-BR" sz="1200">
                <a:solidFill>
                  <a:srgbClr val="E6EDF3"/>
                </a:solidFill>
                <a:latin typeface="Courier New" panose="02070309020205020404" pitchFamily="49" charset="0"/>
              </a:rPr>
              <a:t>train = TabularDataset("train.csv")</a:t>
            </a:r>
          </a:p>
          <a:p>
            <a:r>
              <a:rPr lang="pt-BR" sz="1200">
                <a:solidFill>
                  <a:srgbClr val="E6EDF3"/>
                </a:solidFill>
                <a:latin typeface="Courier New" panose="02070309020205020404" pitchFamily="49" charset="0"/>
              </a:rPr>
              <a:t>test  = TabularDataset("test.csv")</a:t>
            </a:r>
          </a:p>
          <a:p>
            <a:endParaRPr lang="pt-BR" sz="1200">
              <a:solidFill>
                <a:srgbClr val="E6EDF3"/>
              </a:solidFill>
              <a:latin typeface="Courier New" panose="02070309020205020404" pitchFamily="49" charset="0"/>
            </a:endParaRPr>
          </a:p>
          <a:p>
            <a:r>
              <a:rPr lang="pt-BR" sz="1200">
                <a:solidFill>
                  <a:srgbClr val="E6EDF3"/>
                </a:solidFill>
                <a:latin typeface="Courier New" panose="02070309020205020404" pitchFamily="49" charset="0"/>
              </a:rPr>
              <a:t>predictor = TabularPredictor(label="class", eval_metric="roc_auc") \</a:t>
            </a:r>
          </a:p>
          <a:p>
            <a:r>
              <a:rPr lang="pt-BR" sz="1200">
                <a:solidFill>
                  <a:srgbClr val="E6EDF3"/>
                </a:solidFill>
                <a:latin typeface="Courier New" panose="02070309020205020404" pitchFamily="49" charset="0"/>
              </a:rPr>
              <a:t>    .fit(train, time_limit=3600, presets="best_quality")</a:t>
            </a:r>
          </a:p>
          <a:p>
            <a:endParaRPr lang="pt-BR" sz="1200">
              <a:solidFill>
                <a:srgbClr val="E6EDF3"/>
              </a:solidFill>
              <a:latin typeface="Courier New" panose="02070309020205020404" pitchFamily="49" charset="0"/>
            </a:endParaRPr>
          </a:p>
          <a:p>
            <a:r>
              <a:rPr lang="pt-BR" sz="1200">
                <a:solidFill>
                  <a:srgbClr val="E6EDF3"/>
                </a:solidFill>
                <a:latin typeface="Courier New" panose="02070309020205020404" pitchFamily="49" charset="0"/>
              </a:rPr>
              <a:t>predictor.leaderboard(test)      # todos os modelos: _BAG_L1, _BAG_L2, WeightedEnsemble_L3</a:t>
            </a:r>
          </a:p>
          <a:p>
            <a:r>
              <a:rPr lang="pt-BR" sz="1200">
                <a:solidFill>
                  <a:srgbClr val="E6EDF3"/>
                </a:solidFill>
                <a:latin typeface="Courier New" panose="02070309020205020404" pitchFamily="49" charset="0"/>
              </a:rPr>
              <a:t>y_pred = predictor.predict(test)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DFC2E98-A7E0-0C96-ECDB-D7E62418EACC}"/>
              </a:ext>
            </a:extLst>
          </p:cNvPr>
          <p:cNvSpPr/>
          <p:nvPr/>
        </p:nvSpPr>
        <p:spPr>
          <a:xfrm>
            <a:off x="609600" y="407670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B39F5D-07E5-3FAE-8DA5-25D56590B359}"/>
              </a:ext>
            </a:extLst>
          </p:cNvPr>
          <p:cNvSpPr txBox="1"/>
          <p:nvPr/>
        </p:nvSpPr>
        <p:spPr>
          <a:xfrm>
            <a:off x="1028700" y="4064000"/>
            <a:ext cx="10553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label → alvo (problema inferido); eval_metric → o que o ensemble selection otimiza.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1C51645-23DC-FBDC-6344-31665686E8E2}"/>
              </a:ext>
            </a:extLst>
          </p:cNvPr>
          <p:cNvSpPr/>
          <p:nvPr/>
        </p:nvSpPr>
        <p:spPr>
          <a:xfrm>
            <a:off x="609600" y="447040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274C68A-4E90-C4B0-0B65-C24C2305121D}"/>
              </a:ext>
            </a:extLst>
          </p:cNvPr>
          <p:cNvSpPr txBox="1"/>
          <p:nvPr/>
        </p:nvSpPr>
        <p:spPr>
          <a:xfrm>
            <a:off x="1028700" y="4457700"/>
            <a:ext cx="10553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time_limit → tempo previsível; presets="best_quality" → bagging + stacking multicamadas (auto_stack do artigo).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C802F86-03DB-7D33-F465-C9BB45792AA4}"/>
              </a:ext>
            </a:extLst>
          </p:cNvPr>
          <p:cNvSpPr/>
          <p:nvPr/>
        </p:nvSpPr>
        <p:spPr>
          <a:xfrm>
            <a:off x="609600" y="486410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8DD06A1-2294-E99C-EAAA-F896594CB15F}"/>
              </a:ext>
            </a:extLst>
          </p:cNvPr>
          <p:cNvSpPr txBox="1"/>
          <p:nvPr/>
        </p:nvSpPr>
        <p:spPr>
          <a:xfrm>
            <a:off x="1028700" y="4851400"/>
            <a:ext cx="10553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O leaderboard imprime a Figura 2: sufixos _L1, _L2 e o WeightedEnsemble_L3 no topo.</a:t>
            </a:r>
          </a:p>
        </p:txBody>
      </p:sp>
    </p:spTree>
    <p:extLst>
      <p:ext uri="{BB962C8B-B14F-4D97-AF65-F5344CB8AC3E}">
        <p14:creationId xmlns:p14="http://schemas.microsoft.com/office/powerpoint/2010/main" val="1888698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BB8D86-A9D2-985F-7E9F-DC7380824B06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04 · Desempenho e comparativos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21EAB5-9C5A-548A-0582-3495A887FA86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14213D"/>
                </a:solidFill>
                <a:latin typeface="Cambria" panose="02040503050406030204" pitchFamily="18" charset="0"/>
              </a:rPr>
              <a:t>Ablação: cada componente importa — e nenhum é busca de hiperparâmetros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E9B2230-F301-9B7A-FA1C-AC4233D68098}"/>
              </a:ext>
            </a:extLst>
          </p:cNvPr>
          <p:cNvSpPr txBox="1"/>
          <p:nvPr/>
        </p:nvSpPr>
        <p:spPr>
          <a:xfrm>
            <a:off x="609600" y="6527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AutoGluon-Tabular  ·  TP558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A46C2A2-CF14-E1E2-FFA8-5EEEE552CE60}"/>
              </a:ext>
            </a:extLst>
          </p:cNvPr>
          <p:cNvSpPr txBox="1"/>
          <p:nvPr/>
        </p:nvSpPr>
        <p:spPr>
          <a:xfrm>
            <a:off x="11074400" y="65278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18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CACE75E-BE95-3C6D-69C5-CBE3C719E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96044"/>
              </p:ext>
            </p:extLst>
          </p:nvPr>
        </p:nvGraphicFramePr>
        <p:xfrm>
          <a:off x="609600" y="1676400"/>
          <a:ext cx="10972800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618362133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60025903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75232868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77561789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Variante (OpenML, 4 h)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 que foi removido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Rank médio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Perda reescalada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369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AutoGluon completo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1,93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0,166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83104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NoRepeat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Repetição do k-fold bagging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2,12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0,220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56892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NoMultiStack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Stacking multicamadas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2,85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0,524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3903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NoBag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Bagging / predições OOF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3,91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0,720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67128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NoNetwork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Rede neural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4,19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0,817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549247"/>
                  </a:ext>
                </a:extLst>
              </a:tr>
            </a:tbl>
          </a:graphicData>
        </a:graphic>
      </p:graphicFrame>
      <p:sp>
        <p:nvSpPr>
          <p:cNvPr id="7" name="Elipse 6">
            <a:extLst>
              <a:ext uri="{FF2B5EF4-FFF2-40B4-BE49-F238E27FC236}">
                <a16:creationId xmlns:a16="http://schemas.microsoft.com/office/drawing/2014/main" id="{F7B7FEEC-9D43-AD7E-A852-E9F1E06C4CDA}"/>
              </a:ext>
            </a:extLst>
          </p:cNvPr>
          <p:cNvSpPr/>
          <p:nvPr/>
        </p:nvSpPr>
        <p:spPr>
          <a:xfrm>
            <a:off x="609600" y="358902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EB0661-E0F5-422A-CCFA-06E9C2D6487A}"/>
              </a:ext>
            </a:extLst>
          </p:cNvPr>
          <p:cNvSpPr txBox="1"/>
          <p:nvPr/>
        </p:nvSpPr>
        <p:spPr>
          <a:xfrm>
            <a:off x="1041400" y="357632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NoMultiStack com 4 h não supera o AutoGluon completo com 1 h.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65E49BA-ECD1-B9EC-CE54-3C8DC874E520}"/>
              </a:ext>
            </a:extLst>
          </p:cNvPr>
          <p:cNvSpPr/>
          <p:nvPr/>
        </p:nvSpPr>
        <p:spPr>
          <a:xfrm>
            <a:off x="609600" y="399542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D83AD9-409A-094B-80AD-41FBC0B6D29A}"/>
              </a:ext>
            </a:extLst>
          </p:cNvPr>
          <p:cNvSpPr txBox="1"/>
          <p:nvPr/>
        </p:nvSpPr>
        <p:spPr>
          <a:xfrm>
            <a:off x="1041400" y="398272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Remover a rede neural é o corte mais danoso: diversidade vale mais que excelência individual.</a:t>
            </a:r>
          </a:p>
        </p:txBody>
      </p:sp>
    </p:spTree>
    <p:extLst>
      <p:ext uri="{BB962C8B-B14F-4D97-AF65-F5344CB8AC3E}">
        <p14:creationId xmlns:p14="http://schemas.microsoft.com/office/powerpoint/2010/main" val="2699294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5D6436D-05CF-23F8-32EC-9ED3F1C6E4D8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20223B-DBF0-342F-A551-A7B27CAF8867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Dois refinamentos: repetir o bagging e gerir o tempo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52C9A8A-CDE9-8E4C-F9AE-194BCC54DEAC}"/>
              </a:ext>
            </a:extLst>
          </p:cNvPr>
          <p:cNvSpPr txBox="1"/>
          <p:nvPr/>
        </p:nvSpPr>
        <p:spPr>
          <a:xfrm>
            <a:off x="609600" y="6527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AutoGluon-Tabular  ·  TP558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5E1CD5-83D0-5A79-C53C-7B03C500FA16}"/>
              </a:ext>
            </a:extLst>
          </p:cNvPr>
          <p:cNvSpPr txBox="1"/>
          <p:nvPr/>
        </p:nvSpPr>
        <p:spPr>
          <a:xfrm>
            <a:off x="11074400" y="65278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BCD86E8-B508-667B-BDF2-5B5E4D4B838E}"/>
              </a:ext>
            </a:extLst>
          </p:cNvPr>
          <p:cNvSpPr/>
          <p:nvPr/>
        </p:nvSpPr>
        <p:spPr>
          <a:xfrm>
            <a:off x="609600" y="1689100"/>
            <a:ext cx="330200" cy="3302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B77F63-536B-F026-3C0A-C115049FEE7A}"/>
              </a:ext>
            </a:extLst>
          </p:cNvPr>
          <p:cNvSpPr txBox="1"/>
          <p:nvPr/>
        </p:nvSpPr>
        <p:spPr>
          <a:xfrm>
            <a:off x="1092200" y="1676400"/>
            <a:ext cx="10490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Viés sutil: o early stopping de cada cópia olha a dobra retida → OOF levemente otimista, amplificado por camada.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E0F4FEF-12B3-F966-8FE3-14962FB50D24}"/>
              </a:ext>
            </a:extLst>
          </p:cNvPr>
          <p:cNvSpPr/>
          <p:nvPr/>
        </p:nvSpPr>
        <p:spPr>
          <a:xfrm>
            <a:off x="609600" y="2171700"/>
            <a:ext cx="330200" cy="3302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99F642-F51E-7580-A644-90B724FDE102}"/>
              </a:ext>
            </a:extLst>
          </p:cNvPr>
          <p:cNvSpPr txBox="1"/>
          <p:nvPr/>
        </p:nvSpPr>
        <p:spPr>
          <a:xfrm>
            <a:off x="1092200" y="2159000"/>
            <a:ext cx="10490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Correção: repetir o k-fold em n partições diferentes e promediar as OOF; n é escolhido pelo tempo restante.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8A0BBE1-7C80-1D06-B683-7B0A7BBAB1EE}"/>
              </a:ext>
            </a:extLst>
          </p:cNvPr>
          <p:cNvSpPr/>
          <p:nvPr/>
        </p:nvSpPr>
        <p:spPr>
          <a:xfrm>
            <a:off x="609600" y="2654300"/>
            <a:ext cx="330200" cy="3302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BDBDE3F-261C-7D49-2FD3-9DF227348A20}"/>
              </a:ext>
            </a:extLst>
          </p:cNvPr>
          <p:cNvSpPr txBox="1"/>
          <p:nvPr/>
        </p:nvSpPr>
        <p:spPr>
          <a:xfrm>
            <a:off x="1092200" y="2641600"/>
            <a:ext cx="10490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Treino sequencial (um modelo por vez, todos os núcleos): evita os erros de memória dos frameworks paralelos.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99D751B-FEA2-218F-BC81-30C1DEC6141A}"/>
              </a:ext>
            </a:extLst>
          </p:cNvPr>
          <p:cNvSpPr/>
          <p:nvPr/>
        </p:nvSpPr>
        <p:spPr>
          <a:xfrm>
            <a:off x="609600" y="3136900"/>
            <a:ext cx="330200" cy="3302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D432BCE-49D5-96FF-50F7-8BD9426ED520}"/>
              </a:ext>
            </a:extLst>
          </p:cNvPr>
          <p:cNvSpPr txBox="1"/>
          <p:nvPr/>
        </p:nvSpPr>
        <p:spPr>
          <a:xfrm>
            <a:off x="1092200" y="312420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Checkpoint em disco após cada modelo; modelo que falha é pulado — há predição se um modelo treinar em uma dobra.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47E1332-C103-43D9-BE41-57825353DB18}"/>
              </a:ext>
            </a:extLst>
          </p:cNvPr>
          <p:cNvSpPr/>
          <p:nvPr/>
        </p:nvSpPr>
        <p:spPr>
          <a:xfrm>
            <a:off x="609600" y="5740400"/>
            <a:ext cx="10972800" cy="533400"/>
          </a:xfrm>
          <a:prstGeom prst="roundRect">
            <a:avLst>
              <a:gd name="adj" fmla="val 15000"/>
            </a:avLst>
          </a:prstGeom>
          <a:solidFill>
            <a:srgbClr val="FFF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r>
              <a:rPr lang="pt-BR" sz="1300" b="1">
                <a:solidFill>
                  <a:srgbClr val="14213D"/>
                </a:solidFill>
                <a:latin typeface="Calibri" panose="020F0502020204030204" pitchFamily="34" charset="0"/>
              </a:rPr>
              <a:t>Nada disso melhora a acurácia diretamente — mas é o que aparece como 1 falha do AutoGluon contra até 14 dos concorrentes.</a:t>
            </a:r>
          </a:p>
        </p:txBody>
      </p:sp>
    </p:spTree>
    <p:extLst>
      <p:ext uri="{BB962C8B-B14F-4D97-AF65-F5344CB8AC3E}">
        <p14:creationId xmlns:p14="http://schemas.microsoft.com/office/powerpoint/2010/main" val="704994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26BF3B-5B86-CF41-EEFE-EA2E9D033FA0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05 · Aplicação prática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A4952BD-99FB-C481-A9EE-AF9F20092128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Onde usar — e três cuidados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61DF5AB-6F04-74A4-83E9-F9A33089128E}"/>
              </a:ext>
            </a:extLst>
          </p:cNvPr>
          <p:cNvSpPr txBox="1"/>
          <p:nvPr/>
        </p:nvSpPr>
        <p:spPr>
          <a:xfrm>
            <a:off x="609600" y="6527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AutoGluon-Tabular  ·  TP558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6069300-3137-AC95-25CC-61D5B7C7EAB6}"/>
              </a:ext>
            </a:extLst>
          </p:cNvPr>
          <p:cNvSpPr txBox="1"/>
          <p:nvPr/>
        </p:nvSpPr>
        <p:spPr>
          <a:xfrm>
            <a:off x="11074400" y="65278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21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99720EF-1F93-642A-5119-5050AA01D53B}"/>
              </a:ext>
            </a:extLst>
          </p:cNvPr>
          <p:cNvSpPr/>
          <p:nvPr/>
        </p:nvSpPr>
        <p:spPr>
          <a:xfrm>
            <a:off x="609600" y="1676400"/>
            <a:ext cx="3522133" cy="127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BF3BA4-8566-2F89-51C4-634F3D0D532E}"/>
              </a:ext>
            </a:extLst>
          </p:cNvPr>
          <p:cNvSpPr txBox="1"/>
          <p:nvPr/>
        </p:nvSpPr>
        <p:spPr>
          <a:xfrm>
            <a:off x="787400" y="1803400"/>
            <a:ext cx="3166533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0E9AA7"/>
                </a:solidFill>
                <a:latin typeface="Cambria" panose="02040503050406030204" pitchFamily="18" charset="0"/>
              </a:rPr>
              <a:t>Finanças e seguros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9CBFB9-90F4-C75B-ACF7-D213B71A902A}"/>
              </a:ext>
            </a:extLst>
          </p:cNvPr>
          <p:cNvSpPr txBox="1"/>
          <p:nvPr/>
        </p:nvSpPr>
        <p:spPr>
          <a:xfrm>
            <a:off x="787400" y="2133600"/>
            <a:ext cx="3166533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>
                <a:solidFill>
                  <a:srgbClr val="1F2933"/>
                </a:solidFill>
                <a:latin typeface="Calibri" panose="020F0502020204030204" pitchFamily="34" charset="0"/>
              </a:rPr>
              <a:t>Fraude, crédito, sinistros (ieee-fraud, santander, allstate, porto-seguro).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165A72D-335D-B926-B815-5DBC863943F3}"/>
              </a:ext>
            </a:extLst>
          </p:cNvPr>
          <p:cNvSpPr/>
          <p:nvPr/>
        </p:nvSpPr>
        <p:spPr>
          <a:xfrm>
            <a:off x="4334933" y="1676400"/>
            <a:ext cx="3522134" cy="127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8C486BE-CFB6-6F7A-F2EF-18DA9979656C}"/>
              </a:ext>
            </a:extLst>
          </p:cNvPr>
          <p:cNvSpPr txBox="1"/>
          <p:nvPr/>
        </p:nvSpPr>
        <p:spPr>
          <a:xfrm>
            <a:off x="4512733" y="1803400"/>
            <a:ext cx="3166533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0E9AA7"/>
                </a:solidFill>
                <a:latin typeface="Cambria" panose="02040503050406030204" pitchFamily="18" charset="0"/>
              </a:rPr>
              <a:t>Varejo e negócios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F557C7-714B-A8D2-A63E-B263F5A48AEC}"/>
              </a:ext>
            </a:extLst>
          </p:cNvPr>
          <p:cNvSpPr txBox="1"/>
          <p:nvPr/>
        </p:nvSpPr>
        <p:spPr>
          <a:xfrm>
            <a:off x="4512733" y="2133600"/>
            <a:ext cx="3166533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>
                <a:solidFill>
                  <a:srgbClr val="1F2933"/>
                </a:solidFill>
                <a:latin typeface="Calibri" panose="020F0502020204030204" pitchFamily="34" charset="0"/>
              </a:rPr>
              <a:t>Classificação de produtos, churn, propensão (otto, walmart).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581A2C9-38F7-4914-1D7D-193299E9539C}"/>
              </a:ext>
            </a:extLst>
          </p:cNvPr>
          <p:cNvSpPr/>
          <p:nvPr/>
        </p:nvSpPr>
        <p:spPr>
          <a:xfrm>
            <a:off x="8060267" y="1676400"/>
            <a:ext cx="3522133" cy="127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83F0C6-590E-8C35-9DB0-6B6CE1C1E955}"/>
              </a:ext>
            </a:extLst>
          </p:cNvPr>
          <p:cNvSpPr txBox="1"/>
          <p:nvPr/>
        </p:nvSpPr>
        <p:spPr>
          <a:xfrm>
            <a:off x="8238067" y="1803400"/>
            <a:ext cx="3166533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b="1">
                <a:solidFill>
                  <a:srgbClr val="0E9AA7"/>
                </a:solidFill>
                <a:latin typeface="Cambria" panose="02040503050406030204" pitchFamily="18" charset="0"/>
              </a:rPr>
              <a:t>Saúde, indústria, telecom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0499F7B-7717-1143-EBB2-D76EAB936527}"/>
              </a:ext>
            </a:extLst>
          </p:cNvPr>
          <p:cNvSpPr txBox="1"/>
          <p:nvPr/>
        </p:nvSpPr>
        <p:spPr>
          <a:xfrm>
            <a:off x="8238067" y="2133600"/>
            <a:ext cx="3166533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>
                <a:solidFill>
                  <a:srgbClr val="1F2933"/>
                </a:solidFill>
                <a:latin typeface="Calibri" panose="020F0502020204030204" pitchFamily="34" charset="0"/>
              </a:rPr>
              <a:t>Diagnóstico tabular, manutenção preditiva, falhas de rede, QoS.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6612D15-4902-E191-EC6D-10B24761A31D}"/>
              </a:ext>
            </a:extLst>
          </p:cNvPr>
          <p:cNvSpPr/>
          <p:nvPr/>
        </p:nvSpPr>
        <p:spPr>
          <a:xfrm>
            <a:off x="609600" y="326390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E1B923B-7A34-594B-64E3-E8C1612267EA}"/>
              </a:ext>
            </a:extLst>
          </p:cNvPr>
          <p:cNvSpPr txBox="1"/>
          <p:nvPr/>
        </p:nvSpPr>
        <p:spPr>
          <a:xfrm>
            <a:off x="1041400" y="32512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Defina a métrica do negócio e dê tempo suficiente (1 h → 4 h melhora em 30/39).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913ACEE-38C8-82FC-1473-7C7259540E4C}"/>
              </a:ext>
            </a:extLst>
          </p:cNvPr>
          <p:cNvSpPr/>
          <p:nvPr/>
        </p:nvSpPr>
        <p:spPr>
          <a:xfrm>
            <a:off x="609600" y="367030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657407-364E-AD23-9EE7-2B04D7F5B224}"/>
              </a:ext>
            </a:extLst>
          </p:cNvPr>
          <p:cNvSpPr txBox="1"/>
          <p:nvPr/>
        </p:nvSpPr>
        <p:spPr>
          <a:xfrm>
            <a:off x="1041400" y="36576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AutoML não detecta vazamento semântico nem dependência temporal — isso continua humano.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FFA8F2B-711C-F25C-71C8-4D89B61E928E}"/>
              </a:ext>
            </a:extLst>
          </p:cNvPr>
          <p:cNvSpPr/>
          <p:nvPr/>
        </p:nvSpPr>
        <p:spPr>
          <a:xfrm>
            <a:off x="609600" y="407670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C7DC7A0-9C2D-B004-C94D-E7686E232A39}"/>
              </a:ext>
            </a:extLst>
          </p:cNvPr>
          <p:cNvSpPr txBox="1"/>
          <p:nvPr/>
        </p:nvSpPr>
        <p:spPr>
          <a:xfrm>
            <a:off x="1041400" y="40640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Use como baseline obrigatório: 4 h de AutoGluon é o piso que qualquer modelo manual precisa superar.</a:t>
            </a:r>
          </a:p>
        </p:txBody>
      </p:sp>
    </p:spTree>
    <p:extLst>
      <p:ext uri="{BB962C8B-B14F-4D97-AF65-F5344CB8AC3E}">
        <p14:creationId xmlns:p14="http://schemas.microsoft.com/office/powerpoint/2010/main" val="26963404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</TotalTime>
  <Words>7851</Words>
  <Application>Microsoft Office PowerPoint</Application>
  <PresentationFormat>Panorámica</PresentationFormat>
  <Paragraphs>670</Paragraphs>
  <Slides>27</Slides>
  <Notes>27</Notes>
  <HiddenSlides>4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</vt:lpstr>
      <vt:lpstr>Courier New</vt:lpstr>
      <vt:lpstr>Tema do Office</vt:lpstr>
      <vt:lpstr>TP558 - Tópicos avançados em Machine Learning: AutoGluon-Tabular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TP558 - Tópicos avançados em Machine Learning: AutoGluon-Tabular</dc:title>
  <dc:creator>Bryan Fernando Sarango Rodriguez</dc:creator>
  <cp:lastModifiedBy>Bryan Fernando Sarango Rodriguez</cp:lastModifiedBy>
  <cp:revision>47</cp:revision>
  <dcterms:created xsi:type="dcterms:W3CDTF">2026-09-18T13:36:58Z</dcterms:created>
  <dcterms:modified xsi:type="dcterms:W3CDTF">2026-09-21T20:50:15Z</dcterms:modified>
</cp:coreProperties>
</file>